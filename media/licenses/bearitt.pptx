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2.xml" ContentType="application/vnd.openxmlformats-officedocument.presentationml.notesSlide+xml"/>
  <Override PartName="/ppt/tags/tag12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4"/>
  </p:notesMasterIdLst>
  <p:sldIdLst>
    <p:sldId id="256" r:id="rId3"/>
    <p:sldId id="269" r:id="rId4"/>
    <p:sldId id="258" r:id="rId5"/>
    <p:sldId id="1244" r:id="rId6"/>
    <p:sldId id="257" r:id="rId7"/>
    <p:sldId id="268" r:id="rId8"/>
    <p:sldId id="260" r:id="rId9"/>
    <p:sldId id="270" r:id="rId10"/>
    <p:sldId id="267" r:id="rId11"/>
    <p:sldId id="263" r:id="rId12"/>
    <p:sldId id="262" r:id="rId13"/>
    <p:sldId id="271" r:id="rId14"/>
    <p:sldId id="3511" r:id="rId15"/>
    <p:sldId id="3513" r:id="rId16"/>
    <p:sldId id="3512" r:id="rId17"/>
    <p:sldId id="3517" r:id="rId18"/>
    <p:sldId id="3514" r:id="rId19"/>
    <p:sldId id="3516" r:id="rId20"/>
    <p:sldId id="3510" r:id="rId21"/>
    <p:sldId id="261" r:id="rId22"/>
    <p:sldId id="3518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ngers" initials="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7:00:1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1849 1525 24575,'-1'-88'0,"3"-94"0,4 128 0,-2 29 0,0-36 0,-4 48 0,0 7 0,0 0 0,0 0 0,0 0 0,-1 0 0,0 0 0,-2-7 0,3 12 0,0 1 0,0-1 0,-1 1 0,1-1 0,0 1 0,-1-1 0,1 1 0,0-1 0,-1 1 0,1-1 0,0 1 0,-1 0 0,1-1 0,-1 1 0,1 0 0,-1-1 0,1 1 0,-1 0 0,1 0 0,-1-1 0,1 1 0,-1 0 0,1 0 0,-1 0 0,0 0 0,0-1 0,-1 2 0,0-1 0,0 1 0,0-1 0,1 1 0,-1 0 0,0 0 0,0-1 0,1 1 0,-1 0 0,1 1 0,-1-1 0,-2 2 0,-10 8 0,1 1 0,0 0 0,0 0 0,1 2 0,1-1 0,0 2 0,1-1 0,1 1 0,-14 29 0,3 3 0,5-11 0,-16 55 0,25-74 0,0-1 0,-1 0 0,0-1 0,-16 25 0,23-40 0,0 0 0,0 0 0,0 0 0,0 0 0,0 1 0,0-1 0,0 0 0,0 0 0,0 0 0,0 0 0,0 0 0,-1 0 0,1 1 0,0-1 0,0 0 0,0 0 0,0 0 0,0 0 0,0 0 0,0 0 0,0 0 0,-1 0 0,1 0 0,0 0 0,0 1 0,0-1 0,0 0 0,0 0 0,-1 0 0,1 0 0,0 0 0,0 0 0,0 0 0,0 0 0,0 0 0,-1 0 0,1 0 0,0 0 0,0 0 0,0 0 0,0 0 0,0 0 0,0-1 0,-1 1 0,1 0 0,0 0 0,0 0 0,0 0 0,0 0 0,0 0 0,0 0 0,-1 0 0,1-1 0,-3-10 0,0-14 0,1-87 0,-4-88 0,4 158 0,2 28 0,0-1 0,-1 1 0,-1 0 0,0 1 0,-1-1 0,-7-19 0,10 32 0,0 0 0,-1 0 0,1 0 0,0 1 0,-1-1 0,1 0 0,-1 0 0,1 1 0,-1-1 0,1 0 0,-1 0 0,1 1 0,-1-1 0,1 1 0,-1-1 0,0 1 0,0-1 0,1 1 0,-1-1 0,0 1 0,0 0 0,1-1 0,-1 1 0,0 0 0,0-1 0,0 1 0,0 0 0,-1 0 0,1 1 0,0-1 0,-1 1 0,1-1 0,0 1 0,0-1 0,0 1 0,-1 0 0,1 0 0,0 0 0,0-1 0,0 1 0,0 0 0,1 0 0,-2 2 0,-3 4 0,0 0 0,0 0 0,1 0 0,-3 10 0,-120 340 0,110-307 0,-16 64 0,32-182 0,-2 12 0,-1 0 0,-4 1 0,-1 0 0,-4 0 0,-34-97 0,5 53 0,42 99 0,-1-1 0,1 0 0,0 0 0,0 1 0,0-1 0,0 0 0,0 1 0,-1-1 0,1 0 0,0 1 0,0-1 0,-1 0 0,1 1 0,-1-1 0,1 1 0,-1-1 0,1 0 0,-1 1 0,1-1 0,-1 1 0,1 0 0,-1-1 0,1 1 0,-1-1 0,0 1 0,1 0 0,-1-1 0,0 1 0,1 0 0,-2 0 0,1 0 0,0 0 0,0 1 0,0 0 0,-1-1 0,1 1 0,0 0 0,0-1 0,0 1 0,1 0 0,-1 0 0,0 0 0,0 0 0,0 0 0,1 0 0,-2 1 0,-21 45 0,-13 71 0,-34 94 0,13-89 0,18-43 0,29-66 0,6-23 0,5-26 0,5-23 0,-3-1 0,-3 1 0,-8-64 0,-34-175 0,28 213 0,11 62 0,-1 0 0,-1 0 0,-1 1 0,-15-36 0,21 56 0,-1 1 0,1-1 0,0 0 0,0 1 0,-1-1 0,1 0 0,0 0 0,-1 1 0,1-1 0,-1 1 0,1-1 0,-1 0 0,1 1 0,-1-1 0,1 1 0,-1-1 0,0 1 0,1-1 0,-1 1 0,0 0 0,1-1 0,-1 1 0,0 0 0,0 0 0,1-1 0,-1 1 0,0 0 0,0 0 0,0 0 0,-1 0 0,1 1 0,0 0 0,0-1 0,0 1 0,0 0 0,0-1 0,0 1 0,0 0 0,0 0 0,0 0 0,1 0 0,-1 0 0,0 0 0,1 0 0,-2 2 0,-16 45 0,-2 16 0,-40 91 0,-12 37 0,-52 333 0,121-500 0,2-15 0,1-27 0,20-351 0,-2 55 0,2-590 0,-20 885 0,1 12 0,0 0 0,-1 0 0,0 0 0,0 0 0,-1 0 0,1 0 0,-1 0 0,0 0 0,-1 1 0,0-1 0,-4-10 0,6 16 0,-1-1 0,1 1 0,-1 0 0,1 0 0,0 0 0,-1-1 0,1 1 0,-1 0 0,1 0 0,-1 0 0,1 0 0,-1 0 0,1 0 0,0 0 0,-1 0 0,1 0 0,-1 0 0,1 0 0,-1 1 0,1-1 0,-1 0 0,1 0 0,0 0 0,-1 0 0,1 1 0,-1-1 0,1 0 0,0 0 0,-1 1 0,1-1 0,0 0 0,-1 1 0,1-1 0,0 0 0,0 1 0,-1-1 0,1 0 0,0 1 0,0-1 0,0 1 0,-1-1 0,1 1 0,0-1 0,0 0 0,0 1 0,0 0 0,-12 25 0,11-24 0,-40 119 0,9-22 0,-25 55 0,-129 372 0,142-382 0,-41 254 0,62-139 0,22-257 0,1 1 0,-1 0 0,0-1 0,1 1 0,-1-1 0,-1 1 0,1-1 0,0 1 0,-3 3 0,4-6 0,0 1 0,-1-1 0,1 0 0,0 0 0,0 0 0,0 1 0,-1-1 0,1 0 0,0 0 0,0 0 0,0 1 0,-1-1 0,1 0 0,0 0 0,0 0 0,-1 0 0,1 0 0,0 0 0,-1 0 0,1 0 0,0 0 0,0 0 0,-1 0 0,1 0 0,0 0 0,0 0 0,-1 0 0,1 0 0,0 0 0,-1 0 0,1 0 0,-1 0 0,-5-16 0,5 9-151,1 1-1,0 0 0,0-1 0,0 1 1,1-1-1,0 1 0,0 0 1,3-8-1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7:00:2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34C06-35F3-4762-9A90-5364DED9BC4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2CB92-B637-49EF-BF0F-F354866534B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2CB92-B637-49EF-BF0F-F354866534B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342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A2537-3EE0-4E98-9EF3-DEFAB0CB953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68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2" Type="http://schemas.openxmlformats.org/officeDocument/2006/relationships/tags" Target="../tags/tag17.xml"/><Relationship Id="rId16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42.xml"/><Relationship Id="rId9" Type="http://schemas.openxmlformats.org/officeDocument/2006/relationships/tags" Target="../tags/tag47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5" Type="http://schemas.openxmlformats.org/officeDocument/2006/relationships/tags" Target="../tags/tag70.xml"/><Relationship Id="rId10" Type="http://schemas.openxmlformats.org/officeDocument/2006/relationships/tags" Target="../tags/tag75.xml"/><Relationship Id="rId4" Type="http://schemas.openxmlformats.org/officeDocument/2006/relationships/tags" Target="../tags/tag69.xml"/><Relationship Id="rId9" Type="http://schemas.openxmlformats.org/officeDocument/2006/relationships/tags" Target="../tags/tag74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l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1971-E320-456C-8B67-8B88B9AF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665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3600" b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3718D-73D9-4361-9254-1A8D6C5B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86E3-F188-4180-8D43-CF184C61D618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D377D-5F9A-42F4-9A90-25B0CAD0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DE87-D0BB-4AB2-935A-2164B63B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0004" y="6356350"/>
            <a:ext cx="1023796" cy="365125"/>
          </a:xfrm>
        </p:spPr>
        <p:txBody>
          <a:bodyPr/>
          <a:lstStyle/>
          <a:p>
            <a:fld id="{0D66F9FF-6AF2-484B-8F9F-115FCAB9FADE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0800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3" name="椭圆 4"/>
          <p:cNvSpPr/>
          <p:nvPr userDrawn="1">
            <p:custDataLst>
              <p:tags r:id="rId2"/>
            </p:custDataLst>
          </p:nvPr>
        </p:nvSpPr>
        <p:spPr>
          <a:xfrm flipH="1">
            <a:off x="12700" y="-18415"/>
            <a:ext cx="3677285" cy="3043555"/>
          </a:xfrm>
          <a:custGeom>
            <a:avLst/>
            <a:gdLst>
              <a:gd name="connsiteX0" fmla="*/ 5791 w 5791"/>
              <a:gd name="connsiteY0" fmla="*/ 4793 h 4793"/>
              <a:gd name="connsiteX1" fmla="*/ 0 w 5791"/>
              <a:gd name="connsiteY1" fmla="*/ 0 h 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91" h="4793">
                <a:moveTo>
                  <a:pt x="5791" y="4793"/>
                </a:moveTo>
                <a:cubicBezTo>
                  <a:pt x="3491" y="4753"/>
                  <a:pt x="411" y="3773"/>
                  <a:pt x="0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6">
                    <a:alpha val="0"/>
                  </a:schemeClr>
                </a:gs>
              </a:gsLst>
              <a:lin ang="15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9" hasCustomPrompt="1"/>
            <p:custDataLst>
              <p:tags r:id="rId3"/>
            </p:custDataLst>
          </p:nvPr>
        </p:nvSpPr>
        <p:spPr>
          <a:xfrm>
            <a:off x="982800" y="4124815"/>
            <a:ext cx="5519420" cy="544836"/>
          </a:xfrm>
          <a:prstGeom prst="rect">
            <a:avLst/>
          </a:prstGeom>
          <a:solidFill>
            <a:schemeClr val="tx1">
              <a:alpha val="0"/>
            </a:schemeClr>
          </a:solidFill>
          <a:effectLst/>
        </p:spPr>
        <p:txBody>
          <a:bodyPr wrap="square" lIns="91440" tIns="45720" rIns="91440" bIns="45720" rtlCol="0" anchor="t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sym typeface="Microsoft YaHei" panose="020B0503020204020204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9" name="椭圆 2"/>
          <p:cNvSpPr/>
          <p:nvPr userDrawn="1">
            <p:custDataLst>
              <p:tags r:id="rId4"/>
            </p:custDataLst>
          </p:nvPr>
        </p:nvSpPr>
        <p:spPr>
          <a:xfrm flipH="1">
            <a:off x="7527290" y="2088893"/>
            <a:ext cx="4664710" cy="4769107"/>
          </a:xfrm>
          <a:custGeom>
            <a:avLst/>
            <a:gdLst>
              <a:gd name="adj" fmla="val 477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346" h="7510">
                <a:moveTo>
                  <a:pt x="0" y="0"/>
                </a:moveTo>
                <a:lnTo>
                  <a:pt x="2" y="0"/>
                </a:lnTo>
                <a:cubicBezTo>
                  <a:pt x="4067" y="51"/>
                  <a:pt x="7346" y="3363"/>
                  <a:pt x="7346" y="7439"/>
                </a:cubicBezTo>
                <a:lnTo>
                  <a:pt x="7346" y="7510"/>
                </a:lnTo>
                <a:lnTo>
                  <a:pt x="6635" y="7510"/>
                </a:lnTo>
                <a:lnTo>
                  <a:pt x="6635" y="7439"/>
                </a:lnTo>
                <a:cubicBezTo>
                  <a:pt x="6635" y="3781"/>
                  <a:pt x="3716" y="805"/>
                  <a:pt x="80" y="713"/>
                </a:cubicBezTo>
                <a:lnTo>
                  <a:pt x="0" y="7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50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17" name="椭圆 12"/>
          <p:cNvSpPr/>
          <p:nvPr userDrawn="1">
            <p:custDataLst>
              <p:tags r:id="rId5"/>
            </p:custDataLst>
          </p:nvPr>
        </p:nvSpPr>
        <p:spPr>
          <a:xfrm>
            <a:off x="9285605" y="878840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8" name="弧 9"/>
          <p:cNvSpPr/>
          <p:nvPr userDrawn="1">
            <p:custDataLst>
              <p:tags r:id="rId6"/>
            </p:custDataLst>
          </p:nvPr>
        </p:nvSpPr>
        <p:spPr>
          <a:xfrm rot="300000" flipH="1">
            <a:off x="5975985" y="915035"/>
            <a:ext cx="5842000" cy="5842000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1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9" name="弧 10"/>
          <p:cNvSpPr/>
          <p:nvPr userDrawn="1">
            <p:custDataLst>
              <p:tags r:id="rId7"/>
            </p:custDataLst>
          </p:nvPr>
        </p:nvSpPr>
        <p:spPr>
          <a:xfrm rot="21060000" flipH="1">
            <a:off x="7099300" y="2038350"/>
            <a:ext cx="3595370" cy="3595370"/>
          </a:xfrm>
          <a:prstGeom prst="arc">
            <a:avLst>
              <a:gd name="adj1" fmla="val 3916977"/>
              <a:gd name="adj2" fmla="val 18579731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3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20" name="bRQB5ljLEGlw4nI椭圆 15"/>
          <p:cNvSpPr/>
          <p:nvPr userDrawn="1">
            <p:custDataLst>
              <p:tags r:id="rId8"/>
            </p:custDataLst>
          </p:nvPr>
        </p:nvSpPr>
        <p:spPr>
          <a:xfrm flipH="1">
            <a:off x="8118157" y="3057208"/>
            <a:ext cx="1557655" cy="155765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99000">
                <a:schemeClr val="bg1">
                  <a:lumMod val="95000"/>
                </a:schemeClr>
              </a:gs>
            </a:gsLst>
            <a:lin ang="2700000" scaled="1"/>
            <a:tileRect/>
          </a:gradFill>
          <a:ln w="3175">
            <a:solidFill>
              <a:schemeClr val="accent1">
                <a:alpha val="40000"/>
              </a:schemeClr>
            </a:solidFill>
          </a:ln>
          <a:effectLst>
            <a:outerShdw blurRad="152400" dist="1524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21" name="椭圆 11"/>
          <p:cNvSpPr/>
          <p:nvPr userDrawn="1">
            <p:custDataLst>
              <p:tags r:id="rId9"/>
            </p:custDataLst>
          </p:nvPr>
        </p:nvSpPr>
        <p:spPr>
          <a:xfrm>
            <a:off x="7503160" y="2549525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957600" y="566964"/>
            <a:ext cx="6545560" cy="3411788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all" spc="0" normalizeH="0" baseline="0" noProof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101600" dir="5400000" algn="ctr" rotWithShape="0">
                    <a:schemeClr val="accent1">
                      <a:alpha val="12000"/>
                    </a:schemeClr>
                  </a:outerShdw>
                </a:effectLst>
                <a:uLnTx/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图形 3" descr="3b343532353530353bc8cfd6a4c9f3bacb"/>
          <p:cNvSpPr/>
          <p:nvPr userDrawn="1">
            <p:custDataLst>
              <p:tags r:id="rId14"/>
            </p:custDataLst>
          </p:nvPr>
        </p:nvSpPr>
        <p:spPr>
          <a:xfrm>
            <a:off x="8575213" y="3476035"/>
            <a:ext cx="643543" cy="720002"/>
          </a:xfrm>
          <a:custGeom>
            <a:avLst/>
            <a:gdLst>
              <a:gd name="connsiteX0" fmla="*/ 465883 w 643543"/>
              <a:gd name="connsiteY0" fmla="*/ 69728 h 720002"/>
              <a:gd name="connsiteX1" fmla="*/ 614430 w 643543"/>
              <a:gd name="connsiteY1" fmla="*/ 98492 h 720002"/>
              <a:gd name="connsiteX2" fmla="*/ 643543 w 643543"/>
              <a:gd name="connsiteY2" fmla="*/ 130709 h 720002"/>
              <a:gd name="connsiteX3" fmla="*/ 643543 w 643543"/>
              <a:gd name="connsiteY3" fmla="*/ 404866 h 720002"/>
              <a:gd name="connsiteX4" fmla="*/ 321385 w 643543"/>
              <a:gd name="connsiteY4" fmla="*/ 720001 h 720002"/>
              <a:gd name="connsiteX5" fmla="*/ 0 w 643543"/>
              <a:gd name="connsiteY5" fmla="*/ 404866 h 720002"/>
              <a:gd name="connsiteX6" fmla="*/ 0 w 643543"/>
              <a:gd name="connsiteY6" fmla="*/ 128793 h 720002"/>
              <a:gd name="connsiteX7" fmla="*/ 27542 w 643543"/>
              <a:gd name="connsiteY7" fmla="*/ 96701 h 720002"/>
              <a:gd name="connsiteX8" fmla="*/ 177619 w 643543"/>
              <a:gd name="connsiteY8" fmla="*/ 69728 h 720002"/>
              <a:gd name="connsiteX9" fmla="*/ 305840 w 643543"/>
              <a:gd name="connsiteY9" fmla="*/ 4704 h 720002"/>
              <a:gd name="connsiteX10" fmla="*/ 337707 w 643543"/>
              <a:gd name="connsiteY10" fmla="*/ 4701 h 720002"/>
              <a:gd name="connsiteX11" fmla="*/ 465883 w 643543"/>
              <a:gd name="connsiteY11" fmla="*/ 69728 h 720002"/>
              <a:gd name="connsiteX12" fmla="*/ 298562 w 643543"/>
              <a:gd name="connsiteY12" fmla="*/ 390266 h 720002"/>
              <a:gd name="connsiteX13" fmla="*/ 233556 w 643543"/>
              <a:gd name="connsiteY13" fmla="*/ 321839 h 720002"/>
              <a:gd name="connsiteX14" fmla="*/ 190216 w 643543"/>
              <a:gd name="connsiteY14" fmla="*/ 321839 h 720002"/>
              <a:gd name="connsiteX15" fmla="*/ 190216 w 643543"/>
              <a:gd name="connsiteY15" fmla="*/ 367459 h 720002"/>
              <a:gd name="connsiteX16" fmla="*/ 276892 w 643543"/>
              <a:gd name="connsiteY16" fmla="*/ 458697 h 720002"/>
              <a:gd name="connsiteX17" fmla="*/ 320232 w 643543"/>
              <a:gd name="connsiteY17" fmla="*/ 458697 h 720002"/>
              <a:gd name="connsiteX18" fmla="*/ 471916 w 643543"/>
              <a:gd name="connsiteY18" fmla="*/ 299029 h 720002"/>
              <a:gd name="connsiteX19" fmla="*/ 471916 w 643543"/>
              <a:gd name="connsiteY19" fmla="*/ 253408 h 720002"/>
              <a:gd name="connsiteX20" fmla="*/ 428577 w 643543"/>
              <a:gd name="connsiteY20" fmla="*/ 253408 h 720002"/>
              <a:gd name="connsiteX21" fmla="*/ 298562 w 643543"/>
              <a:gd name="connsiteY21" fmla="*/ 390266 h 72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3543" h="720002">
                <a:moveTo>
                  <a:pt x="465883" y="69728"/>
                </a:moveTo>
                <a:cubicBezTo>
                  <a:pt x="507928" y="85903"/>
                  <a:pt x="557442" y="95491"/>
                  <a:pt x="614430" y="98492"/>
                </a:cubicBezTo>
                <a:cubicBezTo>
                  <a:pt x="630737" y="99350"/>
                  <a:pt x="643543" y="113520"/>
                  <a:pt x="643543" y="130709"/>
                </a:cubicBezTo>
                <a:lnTo>
                  <a:pt x="643543" y="404866"/>
                </a:lnTo>
                <a:cubicBezTo>
                  <a:pt x="643156" y="558055"/>
                  <a:pt x="433920" y="720001"/>
                  <a:pt x="321385" y="720001"/>
                </a:cubicBezTo>
                <a:cubicBezTo>
                  <a:pt x="208852" y="720001"/>
                  <a:pt x="0" y="558055"/>
                  <a:pt x="0" y="404866"/>
                </a:cubicBezTo>
                <a:lnTo>
                  <a:pt x="0" y="128793"/>
                </a:lnTo>
                <a:cubicBezTo>
                  <a:pt x="0" y="112242"/>
                  <a:pt x="11899" y="98377"/>
                  <a:pt x="27542" y="96701"/>
                </a:cubicBezTo>
                <a:cubicBezTo>
                  <a:pt x="99727" y="88967"/>
                  <a:pt x="149753" y="79976"/>
                  <a:pt x="177619" y="69728"/>
                </a:cubicBezTo>
                <a:cubicBezTo>
                  <a:pt x="222172" y="52608"/>
                  <a:pt x="264914" y="30934"/>
                  <a:pt x="305840" y="4704"/>
                </a:cubicBezTo>
                <a:cubicBezTo>
                  <a:pt x="315627" y="-1569"/>
                  <a:pt x="327920" y="-1570"/>
                  <a:pt x="337707" y="4701"/>
                </a:cubicBezTo>
                <a:cubicBezTo>
                  <a:pt x="378652" y="30932"/>
                  <a:pt x="421379" y="52608"/>
                  <a:pt x="465883" y="69728"/>
                </a:cubicBezTo>
                <a:moveTo>
                  <a:pt x="298562" y="390266"/>
                </a:moveTo>
                <a:lnTo>
                  <a:pt x="233556" y="321839"/>
                </a:lnTo>
                <a:cubicBezTo>
                  <a:pt x="221586" y="309242"/>
                  <a:pt x="202184" y="309242"/>
                  <a:pt x="190216" y="321839"/>
                </a:cubicBezTo>
                <a:cubicBezTo>
                  <a:pt x="178249" y="334436"/>
                  <a:pt x="178249" y="354859"/>
                  <a:pt x="190216" y="367459"/>
                </a:cubicBezTo>
                <a:lnTo>
                  <a:pt x="276892" y="458697"/>
                </a:lnTo>
                <a:cubicBezTo>
                  <a:pt x="288859" y="471293"/>
                  <a:pt x="308265" y="471293"/>
                  <a:pt x="320232" y="458697"/>
                </a:cubicBezTo>
                <a:lnTo>
                  <a:pt x="471916" y="299029"/>
                </a:lnTo>
                <a:cubicBezTo>
                  <a:pt x="483883" y="286432"/>
                  <a:pt x="483883" y="266009"/>
                  <a:pt x="471916" y="253408"/>
                </a:cubicBezTo>
                <a:cubicBezTo>
                  <a:pt x="459949" y="240812"/>
                  <a:pt x="440544" y="240812"/>
                  <a:pt x="428577" y="253408"/>
                </a:cubicBezTo>
                <a:lnTo>
                  <a:pt x="298562" y="390266"/>
                </a:lnTo>
              </a:path>
            </a:pathLst>
          </a:custGeom>
          <a:solidFill>
            <a:schemeClr val="accent1"/>
          </a:solidFill>
          <a:ln w="37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2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062990" y="4813097"/>
            <a:ext cx="2975659" cy="690015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1186815" y="3015615"/>
            <a:ext cx="3695700" cy="646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8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 algn="ctr"/>
            <a:r>
              <a:rPr lang="en-US"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椭圆 6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rot="3180000">
            <a:off x="2370455" y="2711450"/>
            <a:ext cx="1296035" cy="1296035"/>
          </a:xfrm>
          <a:prstGeom prst="ellipse">
            <a:avLst/>
          </a:prstGeom>
          <a:noFill/>
          <a:ln>
            <a:solidFill>
              <a:schemeClr val="accent1">
                <a:lumMod val="75000"/>
                <a:alpha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弧 9"/>
          <p:cNvSpPr/>
          <p:nvPr>
            <p:custDataLst>
              <p:tags r:id="rId4"/>
            </p:custDataLst>
          </p:nvPr>
        </p:nvSpPr>
        <p:spPr>
          <a:xfrm rot="2040000" flipH="1">
            <a:off x="733425" y="1073785"/>
            <a:ext cx="4570095" cy="4570095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20000"/>
                  </a:srgbClr>
                </a:gs>
                <a:gs pos="80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7" name="椭圆 12"/>
          <p:cNvSpPr/>
          <p:nvPr>
            <p:custDataLst>
              <p:tags r:id="rId5"/>
            </p:custDataLst>
          </p:nvPr>
        </p:nvSpPr>
        <p:spPr>
          <a:xfrm rot="1740000">
            <a:off x="4400550" y="1534160"/>
            <a:ext cx="116205" cy="11620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36" name="椭圆 2"/>
          <p:cNvSpPr/>
          <p:nvPr>
            <p:custDataLst>
              <p:tags r:id="rId6"/>
            </p:custDataLst>
          </p:nvPr>
        </p:nvSpPr>
        <p:spPr>
          <a:xfrm rot="18540000" flipH="1">
            <a:off x="1268730" y="1609090"/>
            <a:ext cx="3500120" cy="3500120"/>
          </a:xfrm>
          <a:prstGeom prst="donut">
            <a:avLst>
              <a:gd name="adj" fmla="val 11124"/>
            </a:avLst>
          </a:prstGeom>
          <a:gradFill>
            <a:gsLst>
              <a:gs pos="0">
                <a:schemeClr val="accent2">
                  <a:alpha val="90000"/>
                </a:schemeClr>
              </a:gs>
              <a:gs pos="100000">
                <a:schemeClr val="accent4">
                  <a:alpha val="30000"/>
                </a:schemeClr>
              </a:gs>
            </a:gsLst>
            <a:lin ang="156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5" hasCustomPrompt="1"/>
            <p:custDataLst>
              <p:tags r:id="rId2"/>
            </p:custDataLst>
          </p:nvPr>
        </p:nvSpPr>
        <p:spPr>
          <a:xfrm>
            <a:off x="1089025" y="2258695"/>
            <a:ext cx="1838325" cy="18618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1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n-lt"/>
              </a:defRPr>
            </a:lvl1pPr>
          </a:lstStyle>
          <a:p>
            <a:pPr lvl="0" algn="r"/>
            <a:r>
              <a:rPr dirty="0">
                <a:sym typeface="+mn-ea"/>
              </a:rPr>
              <a:t>text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18815" y="2044700"/>
            <a:ext cx="7991475" cy="2274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50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lang="en-US"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5" name="任意多边形 14"/>
          <p:cNvSpPr/>
          <p:nvPr>
            <p:custDataLst>
              <p:tags r:id="rId4"/>
            </p:custDataLst>
          </p:nvPr>
        </p:nvSpPr>
        <p:spPr>
          <a:xfrm>
            <a:off x="-4445" y="5634587"/>
            <a:ext cx="12195810" cy="1232773"/>
          </a:xfrm>
          <a:custGeom>
            <a:avLst/>
            <a:gdLst>
              <a:gd name="connsiteX0" fmla="*/ 0 w 19206"/>
              <a:gd name="connsiteY0" fmla="*/ 283 h 1941"/>
              <a:gd name="connsiteX1" fmla="*/ 5107 w 19206"/>
              <a:gd name="connsiteY1" fmla="*/ 655 h 1941"/>
              <a:gd name="connsiteX2" fmla="*/ 19206 w 19206"/>
              <a:gd name="connsiteY2" fmla="*/ 1591 h 1941"/>
              <a:gd name="connsiteX3" fmla="*/ 19206 w 19206"/>
              <a:gd name="connsiteY3" fmla="*/ 1941 h 1941"/>
              <a:gd name="connsiteX4" fmla="*/ 7 w 19206"/>
              <a:gd name="connsiteY4" fmla="*/ 1941 h 1941"/>
              <a:gd name="connsiteX5" fmla="*/ 0 w 19206"/>
              <a:gd name="connsiteY5" fmla="*/ 283 h 1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941">
                <a:moveTo>
                  <a:pt x="0" y="283"/>
                </a:moveTo>
                <a:cubicBezTo>
                  <a:pt x="943" y="76"/>
                  <a:pt x="2511" y="-388"/>
                  <a:pt x="5107" y="655"/>
                </a:cubicBezTo>
                <a:cubicBezTo>
                  <a:pt x="7703" y="1697"/>
                  <a:pt x="10626" y="1762"/>
                  <a:pt x="19206" y="1591"/>
                </a:cubicBezTo>
                <a:lnTo>
                  <a:pt x="19206" y="1941"/>
                </a:lnTo>
                <a:lnTo>
                  <a:pt x="7" y="1941"/>
                </a:lnTo>
                <a:lnTo>
                  <a:pt x="0" y="283"/>
                </a:lnTo>
                <a:close/>
              </a:path>
            </a:pathLst>
          </a:custGeom>
          <a:gradFill>
            <a:gsLst>
              <a:gs pos="22000">
                <a:schemeClr val="accent1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Arial" panose="020B0604020202020204" pitchFamily="34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5"/>
            </p:custDataLst>
          </p:nvPr>
        </p:nvSpPr>
        <p:spPr>
          <a:xfrm flipH="1">
            <a:off x="-19685" y="5432425"/>
            <a:ext cx="12192000" cy="1427480"/>
          </a:xfrm>
          <a:custGeom>
            <a:avLst/>
            <a:gdLst>
              <a:gd name="connsiteX0" fmla="*/ 0 w 19200"/>
              <a:gd name="connsiteY0" fmla="*/ 747 h 2557"/>
              <a:gd name="connsiteX1" fmla="*/ 3975 w 19200"/>
              <a:gd name="connsiteY1" fmla="*/ 106 h 2557"/>
              <a:gd name="connsiteX2" fmla="*/ 19200 w 19200"/>
              <a:gd name="connsiteY2" fmla="*/ 2160 h 2557"/>
              <a:gd name="connsiteX3" fmla="*/ 19200 w 19200"/>
              <a:gd name="connsiteY3" fmla="*/ 2558 h 2557"/>
              <a:gd name="connsiteX4" fmla="*/ 1 w 19200"/>
              <a:gd name="connsiteY4" fmla="*/ 2558 h 2557"/>
              <a:gd name="connsiteX5" fmla="*/ 0 w 19200"/>
              <a:gd name="connsiteY5" fmla="*/ 747 h 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0" h="2558">
                <a:moveTo>
                  <a:pt x="0" y="747"/>
                </a:moveTo>
                <a:cubicBezTo>
                  <a:pt x="203" y="607"/>
                  <a:pt x="1793" y="-305"/>
                  <a:pt x="3975" y="106"/>
                </a:cubicBezTo>
                <a:cubicBezTo>
                  <a:pt x="6157" y="517"/>
                  <a:pt x="7452" y="2105"/>
                  <a:pt x="19200" y="2160"/>
                </a:cubicBezTo>
                <a:lnTo>
                  <a:pt x="19200" y="2558"/>
                </a:lnTo>
                <a:lnTo>
                  <a:pt x="1" y="2558"/>
                </a:lnTo>
                <a:lnTo>
                  <a:pt x="0" y="747"/>
                </a:lnTo>
                <a:close/>
              </a:path>
            </a:pathLst>
          </a:custGeom>
          <a:gradFill>
            <a:gsLst>
              <a:gs pos="32000">
                <a:schemeClr val="accent1">
                  <a:alpha val="20000"/>
                </a:schemeClr>
              </a:gs>
              <a:gs pos="90000">
                <a:schemeClr val="accent3">
                  <a:lumMod val="40000"/>
                  <a:lumOff val="60000"/>
                  <a:alpha val="64000"/>
                </a:scheme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Arial" panose="020B0604020202020204" pitchFamily="34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6"/>
            </p:custDataLst>
          </p:nvPr>
        </p:nvSpPr>
        <p:spPr>
          <a:xfrm flipH="1">
            <a:off x="-23495" y="5995035"/>
            <a:ext cx="12214860" cy="873125"/>
          </a:xfrm>
          <a:custGeom>
            <a:avLst/>
            <a:gdLst>
              <a:gd name="connsiteX0" fmla="*/ 0 w 19206"/>
              <a:gd name="connsiteY0" fmla="*/ 534 h 1465"/>
              <a:gd name="connsiteX1" fmla="*/ 5787 w 19206"/>
              <a:gd name="connsiteY1" fmla="*/ 384 h 1465"/>
              <a:gd name="connsiteX2" fmla="*/ 19206 w 19206"/>
              <a:gd name="connsiteY2" fmla="*/ 553 h 1465"/>
              <a:gd name="connsiteX3" fmla="*/ 19206 w 19206"/>
              <a:gd name="connsiteY3" fmla="*/ 1465 h 1465"/>
              <a:gd name="connsiteX4" fmla="*/ 7 w 19206"/>
              <a:gd name="connsiteY4" fmla="*/ 1465 h 1465"/>
              <a:gd name="connsiteX5" fmla="*/ 0 w 19206"/>
              <a:gd name="connsiteY5" fmla="*/ 534 h 1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465">
                <a:moveTo>
                  <a:pt x="0" y="534"/>
                </a:moveTo>
                <a:cubicBezTo>
                  <a:pt x="1073" y="-26"/>
                  <a:pt x="3196" y="-252"/>
                  <a:pt x="5787" y="384"/>
                </a:cubicBezTo>
                <a:cubicBezTo>
                  <a:pt x="8378" y="1020"/>
                  <a:pt x="15553" y="1551"/>
                  <a:pt x="19206" y="553"/>
                </a:cubicBezTo>
                <a:lnTo>
                  <a:pt x="19206" y="1465"/>
                </a:lnTo>
                <a:lnTo>
                  <a:pt x="7" y="1465"/>
                </a:lnTo>
                <a:lnTo>
                  <a:pt x="0" y="53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60000"/>
                </a:schemeClr>
              </a:gs>
              <a:gs pos="78000">
                <a:schemeClr val="accent3">
                  <a:lumMod val="20000"/>
                  <a:lumOff val="80000"/>
                  <a:alpha val="25000"/>
                </a:schemeClr>
              </a:gs>
            </a:gsLst>
            <a:lin ang="4200000" scaled="0"/>
          </a:gradFill>
          <a:ln>
            <a:noFill/>
          </a:ln>
          <a:effectLst>
            <a:outerShdw blurRad="177800" dist="508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dk1"/>
                </a:solidFill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9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6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5" name="正文"/>
          <p:cNvSpPr txBox="1">
            <a:spLocks noGrp="1"/>
          </p:cNvSpPr>
          <p:nvPr>
            <p:ph idx="7" hasCustomPrompt="1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14" name="标题"/>
          <p:cNvSpPr txBox="1">
            <a:spLocks noGrp="1"/>
          </p:cNvSpPr>
          <p:nvPr>
            <p:ph type="title" idx="6" hasCustomPrompt="1"/>
            <p:custDataLst>
              <p:tags r:id="rId3"/>
            </p:custDataLst>
          </p:nvPr>
        </p:nvSpPr>
        <p:spPr>
          <a:xfrm>
            <a:off x="6235200" y="1419070"/>
            <a:ext cx="5342400" cy="420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3" name="正文"/>
          <p:cNvSpPr txBox="1">
            <a:spLocks noGrp="1"/>
          </p:cNvSpPr>
          <p:nvPr>
            <p:ph idx="5" hasCustomPrompt="1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12" name="标题"/>
          <p:cNvSpPr txBox="1">
            <a:spLocks noGrp="1"/>
          </p:cNvSpPr>
          <p:nvPr>
            <p:ph type="title" idx="4" hasCustomPrompt="1"/>
            <p:custDataLst>
              <p:tags r:id="rId5"/>
            </p:custDataLst>
          </p:nvPr>
        </p:nvSpPr>
        <p:spPr>
          <a:xfrm>
            <a:off x="608400" y="1419070"/>
            <a:ext cx="5342400" cy="420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8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4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2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4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4" hasCustomPrompt="1"/>
            <p:custDataLst>
              <p:tags r:id="rId2"/>
            </p:custDataLst>
          </p:nvPr>
        </p:nvSpPr>
        <p:spPr>
          <a:xfrm>
            <a:off x="695960" y="1301750"/>
            <a:ext cx="10799088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1">
                  <a:alpha val="10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cs typeface="Arial" panose="020B0604020202020204" pitchFamily="34" charset="0"/>
              <a:sym typeface="+mn-lt"/>
            </a:endParaRPr>
          </a:p>
        </p:txBody>
      </p:sp>
      <p:sp>
        <p:nvSpPr>
          <p:cNvPr id="14" name="椭圆 4"/>
          <p:cNvSpPr/>
          <p:nvPr userDrawn="1">
            <p:custDataLst>
              <p:tags r:id="rId2"/>
            </p:custDataLst>
          </p:nvPr>
        </p:nvSpPr>
        <p:spPr>
          <a:xfrm flipH="1">
            <a:off x="12700" y="-18415"/>
            <a:ext cx="3677285" cy="3043555"/>
          </a:xfrm>
          <a:custGeom>
            <a:avLst/>
            <a:gdLst>
              <a:gd name="connsiteX0" fmla="*/ 5791 w 5791"/>
              <a:gd name="connsiteY0" fmla="*/ 4793 h 4793"/>
              <a:gd name="connsiteX1" fmla="*/ 0 w 5791"/>
              <a:gd name="connsiteY1" fmla="*/ 0 h 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91" h="4793">
                <a:moveTo>
                  <a:pt x="5791" y="4793"/>
                </a:moveTo>
                <a:cubicBezTo>
                  <a:pt x="3491" y="4753"/>
                  <a:pt x="411" y="3773"/>
                  <a:pt x="0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6">
                    <a:alpha val="0"/>
                  </a:schemeClr>
                </a:gs>
              </a:gsLst>
              <a:lin ang="15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椭圆 2"/>
          <p:cNvSpPr/>
          <p:nvPr userDrawn="1">
            <p:custDataLst>
              <p:tags r:id="rId3"/>
            </p:custDataLst>
          </p:nvPr>
        </p:nvSpPr>
        <p:spPr>
          <a:xfrm flipH="1">
            <a:off x="7527290" y="2088893"/>
            <a:ext cx="4664710" cy="4769107"/>
          </a:xfrm>
          <a:custGeom>
            <a:avLst/>
            <a:gdLst>
              <a:gd name="adj" fmla="val 477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346" h="7510">
                <a:moveTo>
                  <a:pt x="0" y="0"/>
                </a:moveTo>
                <a:lnTo>
                  <a:pt x="2" y="0"/>
                </a:lnTo>
                <a:cubicBezTo>
                  <a:pt x="4067" y="51"/>
                  <a:pt x="7346" y="3363"/>
                  <a:pt x="7346" y="7439"/>
                </a:cubicBezTo>
                <a:lnTo>
                  <a:pt x="7346" y="7510"/>
                </a:lnTo>
                <a:lnTo>
                  <a:pt x="6635" y="7510"/>
                </a:lnTo>
                <a:lnTo>
                  <a:pt x="6635" y="7439"/>
                </a:lnTo>
                <a:cubicBezTo>
                  <a:pt x="6635" y="3781"/>
                  <a:pt x="3716" y="805"/>
                  <a:pt x="80" y="713"/>
                </a:cubicBezTo>
                <a:lnTo>
                  <a:pt x="0" y="7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50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8" hasCustomPrompt="1"/>
            <p:custDataLst>
              <p:tags r:id="rId4"/>
            </p:custDataLst>
          </p:nvPr>
        </p:nvSpPr>
        <p:spPr>
          <a:xfrm>
            <a:off x="1163955" y="1460361"/>
            <a:ext cx="5520055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all" spc="0" normalizeH="0" baseline="0" noProof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101600" dir="5400000" algn="ctr" rotWithShape="0">
                    <a:schemeClr val="accent1">
                      <a:alpha val="12000"/>
                    </a:schemeClr>
                  </a:outerShdw>
                </a:effectLst>
                <a:uLnTx/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Click to add title</a:t>
            </a:r>
          </a:p>
        </p:txBody>
      </p:sp>
      <p:sp>
        <p:nvSpPr>
          <p:cNvPr id="10" name="椭圆 12"/>
          <p:cNvSpPr/>
          <p:nvPr userDrawn="1">
            <p:custDataLst>
              <p:tags r:id="rId5"/>
            </p:custDataLst>
          </p:nvPr>
        </p:nvSpPr>
        <p:spPr>
          <a:xfrm>
            <a:off x="9285605" y="878840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1" name="弧 9"/>
          <p:cNvSpPr/>
          <p:nvPr userDrawn="1">
            <p:custDataLst>
              <p:tags r:id="rId6"/>
            </p:custDataLst>
          </p:nvPr>
        </p:nvSpPr>
        <p:spPr>
          <a:xfrm rot="300000" flipH="1">
            <a:off x="5975985" y="915035"/>
            <a:ext cx="5842000" cy="5842000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1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2" name="弧 10"/>
          <p:cNvSpPr/>
          <p:nvPr userDrawn="1">
            <p:custDataLst>
              <p:tags r:id="rId7"/>
            </p:custDataLst>
          </p:nvPr>
        </p:nvSpPr>
        <p:spPr>
          <a:xfrm rot="21060000" flipH="1">
            <a:off x="7099300" y="2038350"/>
            <a:ext cx="3595370" cy="3595370"/>
          </a:xfrm>
          <a:prstGeom prst="arc">
            <a:avLst>
              <a:gd name="adj1" fmla="val 3916977"/>
              <a:gd name="adj2" fmla="val 18579731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3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bRQB5ljLEGlw4nI椭圆 15"/>
          <p:cNvSpPr/>
          <p:nvPr userDrawn="1">
            <p:custDataLst>
              <p:tags r:id="rId8"/>
            </p:custDataLst>
          </p:nvPr>
        </p:nvSpPr>
        <p:spPr>
          <a:xfrm flipH="1">
            <a:off x="8118157" y="3057208"/>
            <a:ext cx="1557655" cy="155765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99000">
                <a:schemeClr val="bg1">
                  <a:lumMod val="95000"/>
                </a:schemeClr>
              </a:gs>
            </a:gsLst>
            <a:lin ang="2700000" scaled="1"/>
            <a:tileRect/>
          </a:gradFill>
          <a:ln w="3175">
            <a:solidFill>
              <a:schemeClr val="accent1">
                <a:alpha val="40000"/>
              </a:schemeClr>
            </a:solidFill>
          </a:ln>
          <a:effectLst>
            <a:outerShdw blurRad="152400" dist="1524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21" name="椭圆 11"/>
          <p:cNvSpPr/>
          <p:nvPr userDrawn="1">
            <p:custDataLst>
              <p:tags r:id="rId9"/>
            </p:custDataLst>
          </p:nvPr>
        </p:nvSpPr>
        <p:spPr>
          <a:xfrm>
            <a:off x="7503160" y="2549525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图形 3" descr="3b343532353530353bc8cfd6a4c9f3bacb"/>
          <p:cNvSpPr/>
          <p:nvPr userDrawn="1">
            <p:custDataLst>
              <p:tags r:id="rId13"/>
            </p:custDataLst>
          </p:nvPr>
        </p:nvSpPr>
        <p:spPr>
          <a:xfrm>
            <a:off x="8575213" y="3476035"/>
            <a:ext cx="643543" cy="720002"/>
          </a:xfrm>
          <a:custGeom>
            <a:avLst/>
            <a:gdLst>
              <a:gd name="connsiteX0" fmla="*/ 465883 w 643543"/>
              <a:gd name="connsiteY0" fmla="*/ 69728 h 720002"/>
              <a:gd name="connsiteX1" fmla="*/ 614430 w 643543"/>
              <a:gd name="connsiteY1" fmla="*/ 98492 h 720002"/>
              <a:gd name="connsiteX2" fmla="*/ 643543 w 643543"/>
              <a:gd name="connsiteY2" fmla="*/ 130709 h 720002"/>
              <a:gd name="connsiteX3" fmla="*/ 643543 w 643543"/>
              <a:gd name="connsiteY3" fmla="*/ 404866 h 720002"/>
              <a:gd name="connsiteX4" fmla="*/ 321385 w 643543"/>
              <a:gd name="connsiteY4" fmla="*/ 720001 h 720002"/>
              <a:gd name="connsiteX5" fmla="*/ 0 w 643543"/>
              <a:gd name="connsiteY5" fmla="*/ 404866 h 720002"/>
              <a:gd name="connsiteX6" fmla="*/ 0 w 643543"/>
              <a:gd name="connsiteY6" fmla="*/ 128793 h 720002"/>
              <a:gd name="connsiteX7" fmla="*/ 27542 w 643543"/>
              <a:gd name="connsiteY7" fmla="*/ 96701 h 720002"/>
              <a:gd name="connsiteX8" fmla="*/ 177619 w 643543"/>
              <a:gd name="connsiteY8" fmla="*/ 69728 h 720002"/>
              <a:gd name="connsiteX9" fmla="*/ 305840 w 643543"/>
              <a:gd name="connsiteY9" fmla="*/ 4704 h 720002"/>
              <a:gd name="connsiteX10" fmla="*/ 337707 w 643543"/>
              <a:gd name="connsiteY10" fmla="*/ 4701 h 720002"/>
              <a:gd name="connsiteX11" fmla="*/ 465883 w 643543"/>
              <a:gd name="connsiteY11" fmla="*/ 69728 h 720002"/>
              <a:gd name="connsiteX12" fmla="*/ 298562 w 643543"/>
              <a:gd name="connsiteY12" fmla="*/ 390266 h 720002"/>
              <a:gd name="connsiteX13" fmla="*/ 233556 w 643543"/>
              <a:gd name="connsiteY13" fmla="*/ 321839 h 720002"/>
              <a:gd name="connsiteX14" fmla="*/ 190216 w 643543"/>
              <a:gd name="connsiteY14" fmla="*/ 321839 h 720002"/>
              <a:gd name="connsiteX15" fmla="*/ 190216 w 643543"/>
              <a:gd name="connsiteY15" fmla="*/ 367459 h 720002"/>
              <a:gd name="connsiteX16" fmla="*/ 276892 w 643543"/>
              <a:gd name="connsiteY16" fmla="*/ 458697 h 720002"/>
              <a:gd name="connsiteX17" fmla="*/ 320232 w 643543"/>
              <a:gd name="connsiteY17" fmla="*/ 458697 h 720002"/>
              <a:gd name="connsiteX18" fmla="*/ 471916 w 643543"/>
              <a:gd name="connsiteY18" fmla="*/ 299029 h 720002"/>
              <a:gd name="connsiteX19" fmla="*/ 471916 w 643543"/>
              <a:gd name="connsiteY19" fmla="*/ 253408 h 720002"/>
              <a:gd name="connsiteX20" fmla="*/ 428577 w 643543"/>
              <a:gd name="connsiteY20" fmla="*/ 253408 h 720002"/>
              <a:gd name="connsiteX21" fmla="*/ 298562 w 643543"/>
              <a:gd name="connsiteY21" fmla="*/ 390266 h 72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3543" h="720002">
                <a:moveTo>
                  <a:pt x="465883" y="69728"/>
                </a:moveTo>
                <a:cubicBezTo>
                  <a:pt x="507928" y="85903"/>
                  <a:pt x="557442" y="95491"/>
                  <a:pt x="614430" y="98492"/>
                </a:cubicBezTo>
                <a:cubicBezTo>
                  <a:pt x="630737" y="99350"/>
                  <a:pt x="643543" y="113520"/>
                  <a:pt x="643543" y="130709"/>
                </a:cubicBezTo>
                <a:lnTo>
                  <a:pt x="643543" y="404866"/>
                </a:lnTo>
                <a:cubicBezTo>
                  <a:pt x="643156" y="558055"/>
                  <a:pt x="433920" y="720001"/>
                  <a:pt x="321385" y="720001"/>
                </a:cubicBezTo>
                <a:cubicBezTo>
                  <a:pt x="208852" y="720001"/>
                  <a:pt x="0" y="558055"/>
                  <a:pt x="0" y="404866"/>
                </a:cubicBezTo>
                <a:lnTo>
                  <a:pt x="0" y="128793"/>
                </a:lnTo>
                <a:cubicBezTo>
                  <a:pt x="0" y="112242"/>
                  <a:pt x="11899" y="98377"/>
                  <a:pt x="27542" y="96701"/>
                </a:cubicBezTo>
                <a:cubicBezTo>
                  <a:pt x="99727" y="88967"/>
                  <a:pt x="149753" y="79976"/>
                  <a:pt x="177619" y="69728"/>
                </a:cubicBezTo>
                <a:cubicBezTo>
                  <a:pt x="222172" y="52608"/>
                  <a:pt x="264914" y="30934"/>
                  <a:pt x="305840" y="4704"/>
                </a:cubicBezTo>
                <a:cubicBezTo>
                  <a:pt x="315627" y="-1569"/>
                  <a:pt x="327920" y="-1570"/>
                  <a:pt x="337707" y="4701"/>
                </a:cubicBezTo>
                <a:cubicBezTo>
                  <a:pt x="378652" y="30932"/>
                  <a:pt x="421379" y="52608"/>
                  <a:pt x="465883" y="69728"/>
                </a:cubicBezTo>
                <a:moveTo>
                  <a:pt x="298562" y="390266"/>
                </a:moveTo>
                <a:lnTo>
                  <a:pt x="233556" y="321839"/>
                </a:lnTo>
                <a:cubicBezTo>
                  <a:pt x="221586" y="309242"/>
                  <a:pt x="202184" y="309242"/>
                  <a:pt x="190216" y="321839"/>
                </a:cubicBezTo>
                <a:cubicBezTo>
                  <a:pt x="178249" y="334436"/>
                  <a:pt x="178249" y="354859"/>
                  <a:pt x="190216" y="367459"/>
                </a:cubicBezTo>
                <a:lnTo>
                  <a:pt x="276892" y="458697"/>
                </a:lnTo>
                <a:cubicBezTo>
                  <a:pt x="288859" y="471293"/>
                  <a:pt x="308265" y="471293"/>
                  <a:pt x="320232" y="458697"/>
                </a:cubicBezTo>
                <a:lnTo>
                  <a:pt x="471916" y="299029"/>
                </a:lnTo>
                <a:cubicBezTo>
                  <a:pt x="483883" y="286432"/>
                  <a:pt x="483883" y="266009"/>
                  <a:pt x="471916" y="253408"/>
                </a:cubicBezTo>
                <a:cubicBezTo>
                  <a:pt x="459949" y="240812"/>
                  <a:pt x="440544" y="240812"/>
                  <a:pt x="428577" y="253408"/>
                </a:cubicBezTo>
                <a:lnTo>
                  <a:pt x="298562" y="390266"/>
                </a:lnTo>
              </a:path>
            </a:pathLst>
          </a:custGeom>
          <a:solidFill>
            <a:schemeClr val="accent1"/>
          </a:solidFill>
          <a:ln w="37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署名占位符 10"/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1257885" y="3729990"/>
            <a:ext cx="2975659" cy="612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ags" Target="../tags/tag7.xml"/><Relationship Id="rId18" Type="http://schemas.openxmlformats.org/officeDocument/2006/relationships/tags" Target="../tags/tag12.xml"/><Relationship Id="rId3" Type="http://schemas.openxmlformats.org/officeDocument/2006/relationships/slideLayout" Target="../slideLayouts/slideLayout16.xml"/><Relationship Id="rId21" Type="http://schemas.openxmlformats.org/officeDocument/2006/relationships/tags" Target="../tags/tag15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tags" Target="../tags/tag11.xml"/><Relationship Id="rId2" Type="http://schemas.openxmlformats.org/officeDocument/2006/relationships/slideLayout" Target="../slideLayouts/slideLayout15.xml"/><Relationship Id="rId16" Type="http://schemas.openxmlformats.org/officeDocument/2006/relationships/tags" Target="../tags/tag10.xml"/><Relationship Id="rId20" Type="http://schemas.openxmlformats.org/officeDocument/2006/relationships/tags" Target="../tags/tag1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ags" Target="../tags/tag9.xml"/><Relationship Id="rId10" Type="http://schemas.openxmlformats.org/officeDocument/2006/relationships/slideLayout" Target="../slideLayouts/slideLayout23.xml"/><Relationship Id="rId19" Type="http://schemas.openxmlformats.org/officeDocument/2006/relationships/tags" Target="../tags/tag1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BB6DC41-3D67-4D3A-9423-3032EE7C26AC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CEDAEA6-2B78-4F67-8F37-EC87B35D7B29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smtClean="0">
          <a:ln>
            <a:noFill/>
            <a:prstDash val="sysDot"/>
          </a:ln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4800000" scaled="0"/>
          </a:gra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slideLayout" Target="../slideLayouts/slideLayout16.xml"/><Relationship Id="rId5" Type="http://schemas.openxmlformats.org/officeDocument/2006/relationships/tags" Target="../tags/tag123.xml"/><Relationship Id="rId10" Type="http://schemas.openxmlformats.org/officeDocument/2006/relationships/tags" Target="../tags/tag128.xml"/><Relationship Id="rId4" Type="http://schemas.openxmlformats.org/officeDocument/2006/relationships/tags" Target="../tags/tag122.xml"/><Relationship Id="rId9" Type="http://schemas.openxmlformats.org/officeDocument/2006/relationships/tags" Target="../tags/tag12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microsoft.com/office/2007/relationships/hdphoto" Target="../media/hdphoto1.wdp"/><Relationship Id="rId7" Type="http://schemas.openxmlformats.org/officeDocument/2006/relationships/image" Target="../media/image41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2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7" Type="http://schemas.openxmlformats.org/officeDocument/2006/relationships/image" Target="../media/image64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g"/><Relationship Id="rId5" Type="http://schemas.openxmlformats.org/officeDocument/2006/relationships/image" Target="../media/image62.jpeg"/><Relationship Id="rId4" Type="http://schemas.openxmlformats.org/officeDocument/2006/relationships/image" Target="../media/image6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10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it woman training indoo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8" r="9089" b="7587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9" name="Rectangle 10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/>
              <p14:cNvContentPartPr/>
              <p14:nvPr/>
            </p14:nvContentPartPr>
            <p14:xfrm>
              <a:off x="477440" y="253800"/>
              <a:ext cx="671400" cy="637920"/>
            </p14:xfrm>
          </p:contentPart>
        </mc:Choice>
        <mc:Fallback xmlns="">
          <p:pic>
            <p:nvPicPr>
              <p:cNvPr id="9" name="Ink 8"/>
            </p:nvPicPr>
            <p:blipFill>
              <a:blip r:embed="rId4"/>
            </p:blipFill>
            <p:spPr>
              <a:xfrm>
                <a:off x="477440" y="253800"/>
                <a:ext cx="671400" cy="637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1533920" y="2336720"/>
              <a:ext cx="360" cy="360"/>
            </p14:xfrm>
          </p:contentPart>
        </mc:Choice>
        <mc:Fallback xmlns="">
          <p:pic>
            <p:nvPicPr>
              <p:cNvPr id="10" name="Ink 9"/>
            </p:nvPicPr>
            <p:blipFill>
              <a:blip r:embed="rId6"/>
            </p:blipFill>
            <p:spPr>
              <a:xfrm>
                <a:off x="1533920" y="2336720"/>
                <a:ext cx="360" cy="360"/>
              </a:xfrm>
              <a:prstGeom prst="rect"/>
            </p:spPr>
          </p:pic>
        </mc:Fallback>
      </mc:AlternateContent>
      <p:pic>
        <p:nvPicPr>
          <p:cNvPr id="12" name="Picture 11" descr="A white text on a black background&#10;&#10;Description automatically generated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040" y="-284480"/>
            <a:ext cx="6858000" cy="6858000"/>
          </a:xfrm>
          <a:prstGeom prst="rect">
            <a:avLst/>
          </a:prstGeom>
        </p:spPr>
      </p:pic>
      <p:pic>
        <p:nvPicPr>
          <p:cNvPr id="14" name="Picture 13" descr="An orange and black logo&#10;&#10;Description automatically generated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828" y="1182241"/>
            <a:ext cx="2924749" cy="29247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08729" y="3429000"/>
            <a:ext cx="4174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YOUR FITNESS, ANYTIME, ANYWHERE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B60E-9B07-A174-67B0-DB546DD4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0" y="217154"/>
            <a:ext cx="4345182" cy="77220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1"/>
                </a:solidFill>
                <a:latin typeface="Agency FB" panose="020B0503020202020204" pitchFamily="34" charset="0"/>
              </a:rPr>
              <a:t>Introduction to BEARITT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3DCB0D9-6B6D-0939-5F1C-ADF951C526D9}"/>
              </a:ext>
            </a:extLst>
          </p:cNvPr>
          <p:cNvGrpSpPr/>
          <p:nvPr/>
        </p:nvGrpSpPr>
        <p:grpSpPr>
          <a:xfrm>
            <a:off x="581422" y="1233537"/>
            <a:ext cx="11029156" cy="4911026"/>
            <a:chOff x="550862" y="985963"/>
            <a:chExt cx="11029156" cy="4911026"/>
          </a:xfrm>
        </p:grpSpPr>
        <p:sp>
          <p:nvSpPr>
            <p:cNvPr id="42" name="Right Triangle 41">
              <a:extLst>
                <a:ext uri="{FF2B5EF4-FFF2-40B4-BE49-F238E27FC236}">
                  <a16:creationId xmlns:a16="http://schemas.microsoft.com/office/drawing/2014/main" id="{F45E3DB8-A13A-558A-7633-8634F22F49F6}"/>
                </a:ext>
              </a:extLst>
            </p:cNvPr>
            <p:cNvSpPr/>
            <p:nvPr/>
          </p:nvSpPr>
          <p:spPr>
            <a:xfrm rot="16200000">
              <a:off x="1437040" y="1373753"/>
              <a:ext cx="169547" cy="175511"/>
            </a:xfrm>
            <a:prstGeom prst="rtTriangle">
              <a:avLst/>
            </a:prstGeom>
            <a:solidFill>
              <a:schemeClr val="accent6">
                <a:lumMod val="50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3" name="Right Triangle 42">
              <a:extLst>
                <a:ext uri="{FF2B5EF4-FFF2-40B4-BE49-F238E27FC236}">
                  <a16:creationId xmlns:a16="http://schemas.microsoft.com/office/drawing/2014/main" id="{01F9CB95-C5D9-BB42-60EA-AAF9C0138178}"/>
                </a:ext>
              </a:extLst>
            </p:cNvPr>
            <p:cNvSpPr/>
            <p:nvPr/>
          </p:nvSpPr>
          <p:spPr>
            <a:xfrm rot="16200000">
              <a:off x="588192" y="2211924"/>
              <a:ext cx="169547" cy="175511"/>
            </a:xfrm>
            <a:prstGeom prst="rtTriangle">
              <a:avLst/>
            </a:prstGeom>
            <a:solidFill>
              <a:schemeClr val="accent6">
                <a:lumMod val="50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23711300-322D-FB07-9AF3-5D9C3E1A7BB7}"/>
                </a:ext>
              </a:extLst>
            </p:cNvPr>
            <p:cNvSpPr/>
            <p:nvPr/>
          </p:nvSpPr>
          <p:spPr>
            <a:xfrm flipH="1">
              <a:off x="772596" y="1541507"/>
              <a:ext cx="3126304" cy="4355482"/>
            </a:xfrm>
            <a:prstGeom prst="roundRect">
              <a:avLst>
                <a:gd name="adj" fmla="val 10985"/>
              </a:avLst>
            </a:prstGeom>
            <a:noFill/>
            <a:ln w="38100" cap="flat" cmpd="sng" algn="ctr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DE9217B-5E89-181B-E012-3782F63D47B6}"/>
                </a:ext>
              </a:extLst>
            </p:cNvPr>
            <p:cNvSpPr/>
            <p:nvPr/>
          </p:nvSpPr>
          <p:spPr>
            <a:xfrm rot="2444770">
              <a:off x="550862" y="985963"/>
              <a:ext cx="675772" cy="1424322"/>
            </a:xfrm>
            <a:custGeom>
              <a:avLst/>
              <a:gdLst>
                <a:gd name="connsiteX0" fmla="*/ 45129 w 449250"/>
                <a:gd name="connsiteY0" fmla="*/ 346136 h 946882"/>
                <a:gd name="connsiteX1" fmla="*/ 55969 w 449250"/>
                <a:gd name="connsiteY1" fmla="*/ 338828 h 946882"/>
                <a:gd name="connsiteX2" fmla="*/ 449250 w 449250"/>
                <a:gd name="connsiteY2" fmla="*/ 0 h 946882"/>
                <a:gd name="connsiteX3" fmla="*/ 376568 w 449250"/>
                <a:gd name="connsiteY3" fmla="*/ 946882 h 946882"/>
                <a:gd name="connsiteX4" fmla="*/ 48956 w 449250"/>
                <a:gd name="connsiteY4" fmla="*/ 566618 h 946882"/>
                <a:gd name="connsiteX5" fmla="*/ 45129 w 449250"/>
                <a:gd name="connsiteY5" fmla="*/ 564038 h 946882"/>
                <a:gd name="connsiteX6" fmla="*/ 42596 w 449250"/>
                <a:gd name="connsiteY6" fmla="*/ 560281 h 946882"/>
                <a:gd name="connsiteX7" fmla="*/ 42504 w 449250"/>
                <a:gd name="connsiteY7" fmla="*/ 562778 h 946882"/>
                <a:gd name="connsiteX8" fmla="*/ 42524 w 449250"/>
                <a:gd name="connsiteY8" fmla="*/ 560174 h 946882"/>
                <a:gd name="connsiteX9" fmla="*/ 12108 w 449250"/>
                <a:gd name="connsiteY9" fmla="*/ 515062 h 946882"/>
                <a:gd name="connsiteX10" fmla="*/ 0 w 449250"/>
                <a:gd name="connsiteY10" fmla="*/ 455087 h 946882"/>
                <a:gd name="connsiteX11" fmla="*/ 45129 w 449250"/>
                <a:gd name="connsiteY11" fmla="*/ 346136 h 94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9250" h="946882">
                  <a:moveTo>
                    <a:pt x="45129" y="346136"/>
                  </a:moveTo>
                  <a:lnTo>
                    <a:pt x="55969" y="338828"/>
                  </a:lnTo>
                  <a:lnTo>
                    <a:pt x="449250" y="0"/>
                  </a:lnTo>
                  <a:lnTo>
                    <a:pt x="376568" y="946882"/>
                  </a:lnTo>
                  <a:lnTo>
                    <a:pt x="48956" y="566618"/>
                  </a:lnTo>
                  <a:lnTo>
                    <a:pt x="45129" y="564038"/>
                  </a:lnTo>
                  <a:lnTo>
                    <a:pt x="42596" y="560281"/>
                  </a:lnTo>
                  <a:lnTo>
                    <a:pt x="42504" y="562778"/>
                  </a:lnTo>
                  <a:lnTo>
                    <a:pt x="42524" y="560174"/>
                  </a:lnTo>
                  <a:lnTo>
                    <a:pt x="12108" y="515062"/>
                  </a:lnTo>
                  <a:cubicBezTo>
                    <a:pt x="4311" y="496628"/>
                    <a:pt x="0" y="476361"/>
                    <a:pt x="0" y="455087"/>
                  </a:cubicBezTo>
                  <a:cubicBezTo>
                    <a:pt x="0" y="412539"/>
                    <a:pt x="17246" y="374019"/>
                    <a:pt x="45129" y="346136"/>
                  </a:cubicBezTo>
                  <a:close/>
                </a:path>
              </a:pathLst>
            </a:custGeom>
            <a:solidFill>
              <a:schemeClr val="accent6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A6C6065-2FE7-6272-A99C-8EA45C2FD692}"/>
                </a:ext>
              </a:extLst>
            </p:cNvPr>
            <p:cNvCxnSpPr/>
            <p:nvPr/>
          </p:nvCxnSpPr>
          <p:spPr>
            <a:xfrm>
              <a:off x="1098919" y="2432580"/>
              <a:ext cx="2473659" cy="0"/>
            </a:xfrm>
            <a:prstGeom prst="line">
              <a:avLst/>
            </a:prstGeom>
            <a:noFill/>
            <a:ln w="9525" cap="flat" cmpd="sng" algn="ctr">
              <a:solidFill>
                <a:schemeClr val="accent6"/>
              </a:solidFill>
              <a:prstDash val="dash"/>
              <a:miter lim="800000"/>
              <a:headEnd type="diamond" w="med" len="med"/>
              <a:tailEnd type="diamond" w="med" len="med"/>
            </a:ln>
            <a:effectLst/>
          </p:spPr>
        </p:cxnSp>
        <p:sp>
          <p:nvSpPr>
            <p:cNvPr id="47" name="TextBox 153">
              <a:extLst>
                <a:ext uri="{FF2B5EF4-FFF2-40B4-BE49-F238E27FC236}">
                  <a16:creationId xmlns:a16="http://schemas.microsoft.com/office/drawing/2014/main" id="{5A6664AC-2205-9362-BACA-B1F19C65453E}"/>
                </a:ext>
              </a:extLst>
            </p:cNvPr>
            <p:cNvSpPr txBox="1"/>
            <p:nvPr/>
          </p:nvSpPr>
          <p:spPr>
            <a:xfrm>
              <a:off x="640789" y="1525978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>
                  <a:solidFill>
                    <a:srgbClr val="FFFFFF"/>
                  </a:solidFill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48" name="Right Triangle 47">
              <a:extLst>
                <a:ext uri="{FF2B5EF4-FFF2-40B4-BE49-F238E27FC236}">
                  <a16:creationId xmlns:a16="http://schemas.microsoft.com/office/drawing/2014/main" id="{909F5DF4-A167-B38F-7F79-8CAC823259D2}"/>
                </a:ext>
              </a:extLst>
            </p:cNvPr>
            <p:cNvSpPr/>
            <p:nvPr/>
          </p:nvSpPr>
          <p:spPr>
            <a:xfrm rot="16200000">
              <a:off x="9118158" y="1373753"/>
              <a:ext cx="169547" cy="175511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9" name="Right Triangle 48">
              <a:extLst>
                <a:ext uri="{FF2B5EF4-FFF2-40B4-BE49-F238E27FC236}">
                  <a16:creationId xmlns:a16="http://schemas.microsoft.com/office/drawing/2014/main" id="{5CFC7479-0946-1737-1E88-DEFDD94C8261}"/>
                </a:ext>
              </a:extLst>
            </p:cNvPr>
            <p:cNvSpPr/>
            <p:nvPr/>
          </p:nvSpPr>
          <p:spPr>
            <a:xfrm rot="16200000">
              <a:off x="8269310" y="2211924"/>
              <a:ext cx="169547" cy="175511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2C56E393-2AAF-7A7C-E802-D7C49D11CF08}"/>
                </a:ext>
              </a:extLst>
            </p:cNvPr>
            <p:cNvSpPr/>
            <p:nvPr/>
          </p:nvSpPr>
          <p:spPr>
            <a:xfrm flipH="1">
              <a:off x="8453714" y="1541507"/>
              <a:ext cx="3126304" cy="4355482"/>
            </a:xfrm>
            <a:prstGeom prst="roundRect">
              <a:avLst>
                <a:gd name="adj" fmla="val 10985"/>
              </a:avLst>
            </a:prstGeom>
            <a:noFill/>
            <a:ln w="38100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EEA4B1C-22B5-CBDC-A361-2CBC8B98DE49}"/>
                </a:ext>
              </a:extLst>
            </p:cNvPr>
            <p:cNvSpPr/>
            <p:nvPr/>
          </p:nvSpPr>
          <p:spPr>
            <a:xfrm rot="2444770">
              <a:off x="8231980" y="985963"/>
              <a:ext cx="675772" cy="1424322"/>
            </a:xfrm>
            <a:custGeom>
              <a:avLst/>
              <a:gdLst>
                <a:gd name="connsiteX0" fmla="*/ 45129 w 449250"/>
                <a:gd name="connsiteY0" fmla="*/ 346136 h 946882"/>
                <a:gd name="connsiteX1" fmla="*/ 55969 w 449250"/>
                <a:gd name="connsiteY1" fmla="*/ 338828 h 946882"/>
                <a:gd name="connsiteX2" fmla="*/ 449250 w 449250"/>
                <a:gd name="connsiteY2" fmla="*/ 0 h 946882"/>
                <a:gd name="connsiteX3" fmla="*/ 376568 w 449250"/>
                <a:gd name="connsiteY3" fmla="*/ 946882 h 946882"/>
                <a:gd name="connsiteX4" fmla="*/ 48956 w 449250"/>
                <a:gd name="connsiteY4" fmla="*/ 566618 h 946882"/>
                <a:gd name="connsiteX5" fmla="*/ 45129 w 449250"/>
                <a:gd name="connsiteY5" fmla="*/ 564038 h 946882"/>
                <a:gd name="connsiteX6" fmla="*/ 42596 w 449250"/>
                <a:gd name="connsiteY6" fmla="*/ 560281 h 946882"/>
                <a:gd name="connsiteX7" fmla="*/ 42504 w 449250"/>
                <a:gd name="connsiteY7" fmla="*/ 562778 h 946882"/>
                <a:gd name="connsiteX8" fmla="*/ 42524 w 449250"/>
                <a:gd name="connsiteY8" fmla="*/ 560174 h 946882"/>
                <a:gd name="connsiteX9" fmla="*/ 12108 w 449250"/>
                <a:gd name="connsiteY9" fmla="*/ 515062 h 946882"/>
                <a:gd name="connsiteX10" fmla="*/ 0 w 449250"/>
                <a:gd name="connsiteY10" fmla="*/ 455087 h 946882"/>
                <a:gd name="connsiteX11" fmla="*/ 45129 w 449250"/>
                <a:gd name="connsiteY11" fmla="*/ 346136 h 94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9250" h="946882">
                  <a:moveTo>
                    <a:pt x="45129" y="346136"/>
                  </a:moveTo>
                  <a:lnTo>
                    <a:pt x="55969" y="338828"/>
                  </a:lnTo>
                  <a:lnTo>
                    <a:pt x="449250" y="0"/>
                  </a:lnTo>
                  <a:lnTo>
                    <a:pt x="376568" y="946882"/>
                  </a:lnTo>
                  <a:lnTo>
                    <a:pt x="48956" y="566618"/>
                  </a:lnTo>
                  <a:lnTo>
                    <a:pt x="45129" y="564038"/>
                  </a:lnTo>
                  <a:lnTo>
                    <a:pt x="42596" y="560281"/>
                  </a:lnTo>
                  <a:lnTo>
                    <a:pt x="42504" y="562778"/>
                  </a:lnTo>
                  <a:lnTo>
                    <a:pt x="42524" y="560174"/>
                  </a:lnTo>
                  <a:lnTo>
                    <a:pt x="12108" y="515062"/>
                  </a:lnTo>
                  <a:cubicBezTo>
                    <a:pt x="4311" y="496628"/>
                    <a:pt x="0" y="476361"/>
                    <a:pt x="0" y="455087"/>
                  </a:cubicBezTo>
                  <a:cubicBezTo>
                    <a:pt x="0" y="412539"/>
                    <a:pt x="17246" y="374019"/>
                    <a:pt x="45129" y="346136"/>
                  </a:cubicBezTo>
                  <a:close/>
                </a:path>
              </a:pathLst>
            </a:custGeom>
            <a:solidFill>
              <a:schemeClr val="accent3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7AC96E7-AF2B-37C6-E39E-745B80C49CEC}"/>
                </a:ext>
              </a:extLst>
            </p:cNvPr>
            <p:cNvCxnSpPr/>
            <p:nvPr/>
          </p:nvCxnSpPr>
          <p:spPr>
            <a:xfrm>
              <a:off x="8780037" y="2432580"/>
              <a:ext cx="2473659" cy="0"/>
            </a:xfrm>
            <a:prstGeom prst="line">
              <a:avLst/>
            </a:prstGeom>
            <a:noFill/>
            <a:ln w="9525" cap="flat" cmpd="sng" algn="ctr">
              <a:solidFill>
                <a:schemeClr val="accent3"/>
              </a:solidFill>
              <a:prstDash val="dash"/>
              <a:miter lim="800000"/>
              <a:headEnd type="diamond" w="med" len="med"/>
              <a:tailEnd type="diamond" w="med" len="med"/>
            </a:ln>
            <a:effectLst/>
          </p:spPr>
        </p:cxnSp>
        <p:sp>
          <p:nvSpPr>
            <p:cNvPr id="53" name="TextBox 161">
              <a:extLst>
                <a:ext uri="{FF2B5EF4-FFF2-40B4-BE49-F238E27FC236}">
                  <a16:creationId xmlns:a16="http://schemas.microsoft.com/office/drawing/2014/main" id="{C4327DBD-DD44-7A2B-3461-4C78C6493426}"/>
                </a:ext>
              </a:extLst>
            </p:cNvPr>
            <p:cNvSpPr txBox="1"/>
            <p:nvPr/>
          </p:nvSpPr>
          <p:spPr>
            <a:xfrm>
              <a:off x="8350419" y="1525978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>
                  <a:solidFill>
                    <a:srgbClr val="FFFFFF"/>
                  </a:solidFill>
                  <a:cs typeface="Arial" panose="020B0604020202020204" pitchFamily="34" charset="0"/>
                </a:rPr>
                <a:t>03</a:t>
              </a:r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C66A8760-9EAB-4C0D-1EEB-F3B0EE39EB2E}"/>
                </a:ext>
              </a:extLst>
            </p:cNvPr>
            <p:cNvSpPr/>
            <p:nvPr/>
          </p:nvSpPr>
          <p:spPr>
            <a:xfrm rot="16200000">
              <a:off x="5277599" y="1373753"/>
              <a:ext cx="169547" cy="175511"/>
            </a:xfrm>
            <a:prstGeom prst="rtTriangle">
              <a:avLst/>
            </a:prstGeom>
            <a:solidFill>
              <a:schemeClr val="accent4">
                <a:lumMod val="75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" name="Right Triangle 54">
              <a:extLst>
                <a:ext uri="{FF2B5EF4-FFF2-40B4-BE49-F238E27FC236}">
                  <a16:creationId xmlns:a16="http://schemas.microsoft.com/office/drawing/2014/main" id="{F26BA99D-9B6A-038A-16EB-226B535481E8}"/>
                </a:ext>
              </a:extLst>
            </p:cNvPr>
            <p:cNvSpPr/>
            <p:nvPr/>
          </p:nvSpPr>
          <p:spPr>
            <a:xfrm rot="16200000">
              <a:off x="4440626" y="2200049"/>
              <a:ext cx="169547" cy="175511"/>
            </a:xfrm>
            <a:prstGeom prst="rtTriangle">
              <a:avLst/>
            </a:prstGeom>
            <a:solidFill>
              <a:schemeClr val="accent4">
                <a:lumMod val="75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41DA2F1-3E14-77CB-C927-9659EB2B4BC1}"/>
                </a:ext>
              </a:extLst>
            </p:cNvPr>
            <p:cNvSpPr/>
            <p:nvPr/>
          </p:nvSpPr>
          <p:spPr>
            <a:xfrm flipH="1">
              <a:off x="4613155" y="1541507"/>
              <a:ext cx="3126304" cy="4355482"/>
            </a:xfrm>
            <a:prstGeom prst="roundRect">
              <a:avLst>
                <a:gd name="adj" fmla="val 10985"/>
              </a:avLst>
            </a:prstGeom>
            <a:noFill/>
            <a:ln w="285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FF8F394-38D4-9166-FA81-ADE348C677AB}"/>
                </a:ext>
              </a:extLst>
            </p:cNvPr>
            <p:cNvSpPr/>
            <p:nvPr/>
          </p:nvSpPr>
          <p:spPr>
            <a:xfrm rot="2444770">
              <a:off x="4391421" y="985963"/>
              <a:ext cx="675772" cy="1424322"/>
            </a:xfrm>
            <a:custGeom>
              <a:avLst/>
              <a:gdLst>
                <a:gd name="connsiteX0" fmla="*/ 45129 w 449250"/>
                <a:gd name="connsiteY0" fmla="*/ 346136 h 946882"/>
                <a:gd name="connsiteX1" fmla="*/ 55969 w 449250"/>
                <a:gd name="connsiteY1" fmla="*/ 338828 h 946882"/>
                <a:gd name="connsiteX2" fmla="*/ 449250 w 449250"/>
                <a:gd name="connsiteY2" fmla="*/ 0 h 946882"/>
                <a:gd name="connsiteX3" fmla="*/ 376568 w 449250"/>
                <a:gd name="connsiteY3" fmla="*/ 946882 h 946882"/>
                <a:gd name="connsiteX4" fmla="*/ 48956 w 449250"/>
                <a:gd name="connsiteY4" fmla="*/ 566618 h 946882"/>
                <a:gd name="connsiteX5" fmla="*/ 45129 w 449250"/>
                <a:gd name="connsiteY5" fmla="*/ 564038 h 946882"/>
                <a:gd name="connsiteX6" fmla="*/ 42596 w 449250"/>
                <a:gd name="connsiteY6" fmla="*/ 560281 h 946882"/>
                <a:gd name="connsiteX7" fmla="*/ 42504 w 449250"/>
                <a:gd name="connsiteY7" fmla="*/ 562778 h 946882"/>
                <a:gd name="connsiteX8" fmla="*/ 42524 w 449250"/>
                <a:gd name="connsiteY8" fmla="*/ 560174 h 946882"/>
                <a:gd name="connsiteX9" fmla="*/ 12108 w 449250"/>
                <a:gd name="connsiteY9" fmla="*/ 515062 h 946882"/>
                <a:gd name="connsiteX10" fmla="*/ 0 w 449250"/>
                <a:gd name="connsiteY10" fmla="*/ 455087 h 946882"/>
                <a:gd name="connsiteX11" fmla="*/ 45129 w 449250"/>
                <a:gd name="connsiteY11" fmla="*/ 346136 h 94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9250" h="946882">
                  <a:moveTo>
                    <a:pt x="45129" y="346136"/>
                  </a:moveTo>
                  <a:lnTo>
                    <a:pt x="55969" y="338828"/>
                  </a:lnTo>
                  <a:lnTo>
                    <a:pt x="449250" y="0"/>
                  </a:lnTo>
                  <a:lnTo>
                    <a:pt x="376568" y="946882"/>
                  </a:lnTo>
                  <a:lnTo>
                    <a:pt x="48956" y="566618"/>
                  </a:lnTo>
                  <a:lnTo>
                    <a:pt x="45129" y="564038"/>
                  </a:lnTo>
                  <a:lnTo>
                    <a:pt x="42596" y="560281"/>
                  </a:lnTo>
                  <a:lnTo>
                    <a:pt x="42504" y="562778"/>
                  </a:lnTo>
                  <a:lnTo>
                    <a:pt x="42524" y="560174"/>
                  </a:lnTo>
                  <a:lnTo>
                    <a:pt x="12108" y="515062"/>
                  </a:lnTo>
                  <a:cubicBezTo>
                    <a:pt x="4311" y="496628"/>
                    <a:pt x="0" y="476361"/>
                    <a:pt x="0" y="455087"/>
                  </a:cubicBezTo>
                  <a:cubicBezTo>
                    <a:pt x="0" y="412539"/>
                    <a:pt x="17246" y="374019"/>
                    <a:pt x="45129" y="346136"/>
                  </a:cubicBezTo>
                  <a:close/>
                </a:path>
              </a:pathLst>
            </a:custGeom>
            <a:solidFill>
              <a:schemeClr val="accent4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55CFEC3-A56A-60D8-0977-FD89E872BF6B}"/>
                </a:ext>
              </a:extLst>
            </p:cNvPr>
            <p:cNvCxnSpPr/>
            <p:nvPr/>
          </p:nvCxnSpPr>
          <p:spPr>
            <a:xfrm>
              <a:off x="4939478" y="2432580"/>
              <a:ext cx="2473659" cy="0"/>
            </a:xfrm>
            <a:prstGeom prst="line">
              <a:avLst/>
            </a:prstGeom>
            <a:noFill/>
            <a:ln w="9525" cap="flat" cmpd="sng" algn="ctr">
              <a:solidFill>
                <a:schemeClr val="accent4"/>
              </a:solidFill>
              <a:prstDash val="dash"/>
              <a:miter lim="800000"/>
              <a:headEnd type="diamond" w="med" len="med"/>
              <a:tailEnd type="diamond" w="med" len="med"/>
            </a:ln>
            <a:effectLst/>
          </p:spPr>
        </p:cxnSp>
        <p:sp>
          <p:nvSpPr>
            <p:cNvPr id="59" name="TextBox 169">
              <a:extLst>
                <a:ext uri="{FF2B5EF4-FFF2-40B4-BE49-F238E27FC236}">
                  <a16:creationId xmlns:a16="http://schemas.microsoft.com/office/drawing/2014/main" id="{3CA677FB-B2D9-9EED-4615-3FD6612C1AD3}"/>
                </a:ext>
              </a:extLst>
            </p:cNvPr>
            <p:cNvSpPr txBox="1"/>
            <p:nvPr/>
          </p:nvSpPr>
          <p:spPr>
            <a:xfrm>
              <a:off x="4504413" y="1525978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>
                  <a:solidFill>
                    <a:srgbClr val="FFFFFF"/>
                  </a:solidFill>
                  <a:cs typeface="Arial" panose="020B0604020202020204" pitchFamily="34" charset="0"/>
                </a:rPr>
                <a:t>02</a:t>
              </a:r>
            </a:p>
          </p:txBody>
        </p:sp>
        <p:sp>
          <p:nvSpPr>
            <p:cNvPr id="60" name="TextBox 1">
              <a:extLst>
                <a:ext uri="{FF2B5EF4-FFF2-40B4-BE49-F238E27FC236}">
                  <a16:creationId xmlns:a16="http://schemas.microsoft.com/office/drawing/2014/main" id="{29AC4112-C35F-32E5-7657-D2DF7F6E4B51}"/>
                </a:ext>
              </a:extLst>
            </p:cNvPr>
            <p:cNvSpPr txBox="1"/>
            <p:nvPr/>
          </p:nvSpPr>
          <p:spPr>
            <a:xfrm>
              <a:off x="946139" y="2884828"/>
              <a:ext cx="2663041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✅ BEARITT is a </a:t>
              </a:r>
              <a:r>
                <a:rPr lang="en-US" sz="1400" b="1" dirty="0">
                  <a:solidFill>
                    <a:srgbClr val="FF0000"/>
                  </a:solidFill>
                </a:rPr>
                <a:t>pay-as-you-go fitness platform</a:t>
              </a:r>
              <a:r>
                <a:rPr lang="en-US" sz="1400" dirty="0">
                  <a:solidFill>
                    <a:schemeClr val="bg1"/>
                  </a:solidFill>
                </a:rPr>
                <a:t> that offers </a:t>
              </a:r>
              <a:r>
                <a:rPr lang="en-US" sz="1400" b="1" dirty="0">
                  <a:solidFill>
                    <a:srgbClr val="FF0000"/>
                  </a:solidFill>
                </a:rPr>
                <a:t>multi-location gym access</a:t>
              </a:r>
              <a:r>
                <a:rPr lang="en-US" sz="1400" dirty="0">
                  <a:solidFill>
                    <a:srgbClr val="FF0000"/>
                  </a:solidFill>
                </a:rPr>
                <a:t> </a:t>
              </a:r>
              <a:r>
                <a:rPr lang="en-US" sz="1400" dirty="0">
                  <a:solidFill>
                    <a:schemeClr val="bg1"/>
                  </a:solidFill>
                </a:rPr>
                <a:t>without long-term commitments.</a:t>
              </a:r>
            </a:p>
            <a:p>
              <a:pPr algn="ctr">
                <a:spcBef>
                  <a:spcPts val="600"/>
                </a:spcBef>
              </a:pPr>
              <a:endParaRPr lang="en-US" sz="1400" dirty="0">
                <a:solidFill>
                  <a:schemeClr val="bg1"/>
                </a:solidFill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✅ It provides </a:t>
              </a:r>
              <a:r>
                <a:rPr lang="en-US" sz="1400" b="1" dirty="0">
                  <a:solidFill>
                    <a:srgbClr val="FF0000"/>
                  </a:solidFill>
                </a:rPr>
                <a:t>personalized fitness plans, expert guidance, and community-driven challenges</a:t>
              </a:r>
              <a:r>
                <a:rPr lang="en-US" sz="1400" dirty="0">
                  <a:solidFill>
                    <a:srgbClr val="FF0000"/>
                  </a:solidFill>
                </a:rPr>
                <a:t> </a:t>
              </a:r>
              <a:r>
                <a:rPr lang="en-US" sz="1400" dirty="0">
                  <a:solidFill>
                    <a:schemeClr val="bg1"/>
                  </a:solidFill>
                </a:rPr>
                <a:t>to keep users engaged.</a:t>
              </a:r>
              <a:endParaRPr lang="en-US" sz="1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1" name="TextBox 2">
              <a:extLst>
                <a:ext uri="{FF2B5EF4-FFF2-40B4-BE49-F238E27FC236}">
                  <a16:creationId xmlns:a16="http://schemas.microsoft.com/office/drawing/2014/main" id="{72849F1C-7E8E-5AB1-71C8-07DF8F756830}"/>
                </a:ext>
              </a:extLst>
            </p:cNvPr>
            <p:cNvSpPr txBox="1"/>
            <p:nvPr/>
          </p:nvSpPr>
          <p:spPr>
            <a:xfrm>
              <a:off x="4729307" y="2669385"/>
              <a:ext cx="2814452" cy="24622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</a:rPr>
                <a:t> ✅ Users </a:t>
              </a:r>
              <a:r>
                <a:rPr lang="en-US" sz="1200" b="1" dirty="0">
                  <a:solidFill>
                    <a:srgbClr val="FF0000"/>
                  </a:solidFill>
                </a:rPr>
                <a:t>purchase coins</a:t>
              </a:r>
              <a:r>
                <a:rPr lang="en-US" sz="1200" dirty="0">
                  <a:solidFill>
                    <a:srgbClr val="FF0000"/>
                  </a:solidFill>
                </a:rPr>
                <a:t> </a:t>
              </a:r>
              <a:r>
                <a:rPr lang="en-US" sz="1200" dirty="0">
                  <a:solidFill>
                    <a:schemeClr val="bg1"/>
                  </a:solidFill>
                </a:rPr>
                <a:t>instead of fixed memberships, allowing them to </a:t>
              </a:r>
              <a:r>
                <a:rPr lang="en-US" sz="1200" b="1" dirty="0">
                  <a:solidFill>
                    <a:srgbClr val="FF0000"/>
                  </a:solidFill>
                </a:rPr>
                <a:t>pay per visit</a:t>
              </a:r>
              <a:r>
                <a:rPr lang="en-US" sz="1200" dirty="0">
                  <a:solidFill>
                    <a:srgbClr val="FF0000"/>
                  </a:solidFill>
                </a:rPr>
                <a:t> </a:t>
              </a:r>
              <a:r>
                <a:rPr lang="en-US" sz="1200" dirty="0">
                  <a:solidFill>
                    <a:schemeClr val="bg1"/>
                  </a:solidFill>
                </a:rPr>
                <a:t>at partnered gyms.</a:t>
              </a:r>
            </a:p>
            <a:p>
              <a:pPr algn="ctr">
                <a:spcBef>
                  <a:spcPts val="600"/>
                </a:spcBef>
              </a:pPr>
              <a:br>
                <a:rPr lang="en-US" sz="1200" dirty="0">
                  <a:solidFill>
                    <a:schemeClr val="bg1"/>
                  </a:solidFill>
                </a:rPr>
              </a:br>
              <a:r>
                <a:rPr lang="en-US" sz="1200" dirty="0">
                  <a:solidFill>
                    <a:schemeClr val="bg1"/>
                  </a:solidFill>
                </a:rPr>
                <a:t>✅ They </a:t>
              </a:r>
              <a:r>
                <a:rPr lang="en-US" sz="1200" b="1" dirty="0">
                  <a:solidFill>
                    <a:srgbClr val="FF0000"/>
                  </a:solidFill>
                </a:rPr>
                <a:t>scan QR codes</a:t>
              </a:r>
              <a:r>
                <a:rPr lang="en-US" sz="1200" dirty="0">
                  <a:solidFill>
                    <a:srgbClr val="FF0000"/>
                  </a:solidFill>
                </a:rPr>
                <a:t> </a:t>
              </a:r>
              <a:r>
                <a:rPr lang="en-US" sz="1200" dirty="0">
                  <a:solidFill>
                    <a:schemeClr val="bg1"/>
                  </a:solidFill>
                </a:rPr>
                <a:t>at the gym entrance for easy check-ins and automatic coin deduction.</a:t>
              </a:r>
            </a:p>
            <a:p>
              <a:pPr algn="ctr">
                <a:spcBef>
                  <a:spcPts val="600"/>
                </a:spcBef>
              </a:pPr>
              <a:br>
                <a:rPr lang="en-US" sz="1200" dirty="0">
                  <a:solidFill>
                    <a:schemeClr val="bg1"/>
                  </a:solidFill>
                </a:rPr>
              </a:br>
              <a:r>
                <a:rPr lang="en-US" sz="1200" dirty="0">
                  <a:solidFill>
                    <a:schemeClr val="bg1"/>
                  </a:solidFill>
                </a:rPr>
                <a:t>✅ The platform includes </a:t>
              </a:r>
              <a:r>
                <a:rPr lang="en-US" sz="1200" b="1" dirty="0">
                  <a:solidFill>
                    <a:srgbClr val="FF0000"/>
                  </a:solidFill>
                </a:rPr>
                <a:t>AI-powered fitness tracking, expert consultations, and a reward system</a:t>
              </a:r>
              <a:r>
                <a:rPr lang="en-US" sz="1200" dirty="0">
                  <a:solidFill>
                    <a:schemeClr val="bg1"/>
                  </a:solidFill>
                </a:rPr>
                <a:t> to enhance user experience.</a:t>
              </a:r>
              <a:r>
                <a:rPr lang="en-US" sz="1200" b="0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</a:t>
              </a:r>
              <a:endParaRPr lang="en-US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2" name="TextBox 3">
              <a:extLst>
                <a:ext uri="{FF2B5EF4-FFF2-40B4-BE49-F238E27FC236}">
                  <a16:creationId xmlns:a16="http://schemas.microsoft.com/office/drawing/2014/main" id="{AE5B4E9C-CD3B-8326-0CB5-D9284174109C}"/>
                </a:ext>
              </a:extLst>
            </p:cNvPr>
            <p:cNvSpPr txBox="1"/>
            <p:nvPr/>
          </p:nvSpPr>
          <p:spPr>
            <a:xfrm>
              <a:off x="8607263" y="2646301"/>
              <a:ext cx="2819205" cy="3093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</a:rPr>
                <a:t>✅ Solves the problem of </a:t>
              </a:r>
              <a:r>
                <a:rPr lang="en-US" sz="1200" b="1" dirty="0">
                  <a:solidFill>
                    <a:srgbClr val="FF0000"/>
                  </a:solidFill>
                </a:rPr>
                <a:t>wasted gym memberships and rigid contracts</a:t>
              </a:r>
              <a:r>
                <a:rPr lang="en-US" sz="1200" dirty="0">
                  <a:solidFill>
                    <a:schemeClr val="bg1"/>
                  </a:solidFill>
                </a:rPr>
                <a:t>.</a:t>
              </a:r>
            </a:p>
            <a:p>
              <a:pPr algn="ctr">
                <a:spcBef>
                  <a:spcPts val="600"/>
                </a:spcBef>
              </a:pPr>
              <a:br>
                <a:rPr lang="en-US" sz="1200" dirty="0">
                  <a:solidFill>
                    <a:schemeClr val="bg1"/>
                  </a:solidFill>
                </a:rPr>
              </a:br>
              <a:r>
                <a:rPr lang="en-US" sz="1200" dirty="0">
                  <a:solidFill>
                    <a:schemeClr val="bg1"/>
                  </a:solidFill>
                </a:rPr>
                <a:t>✅ Makes fitness </a:t>
              </a:r>
              <a:r>
                <a:rPr lang="en-US" sz="1200" b="1" dirty="0">
                  <a:solidFill>
                    <a:srgbClr val="FF0000"/>
                  </a:solidFill>
                </a:rPr>
                <a:t>affordable, flexible, and accessible</a:t>
              </a:r>
              <a:r>
                <a:rPr lang="en-US" sz="1200" dirty="0">
                  <a:solidFill>
                    <a:srgbClr val="FF0000"/>
                  </a:solidFill>
                </a:rPr>
                <a:t> </a:t>
              </a:r>
              <a:r>
                <a:rPr lang="en-US" sz="1200" dirty="0">
                  <a:solidFill>
                    <a:schemeClr val="bg1"/>
                  </a:solidFill>
                </a:rPr>
                <a:t>for travelers, students, and professionals.</a:t>
              </a:r>
            </a:p>
            <a:p>
              <a:pPr algn="ctr">
                <a:spcBef>
                  <a:spcPts val="600"/>
                </a:spcBef>
              </a:pPr>
              <a:br>
                <a:rPr lang="en-US" sz="1200" dirty="0">
                  <a:solidFill>
                    <a:schemeClr val="bg1"/>
                  </a:solidFill>
                </a:rPr>
              </a:br>
              <a:r>
                <a:rPr lang="en-US" sz="1200" dirty="0">
                  <a:solidFill>
                    <a:schemeClr val="bg1"/>
                  </a:solidFill>
                </a:rPr>
                <a:t>✅ </a:t>
              </a:r>
              <a:r>
                <a:rPr lang="en-US" sz="1200" b="1" dirty="0">
                  <a:solidFill>
                    <a:srgbClr val="FF0000"/>
                  </a:solidFill>
                </a:rPr>
                <a:t>Encourages consistency</a:t>
              </a:r>
              <a:r>
                <a:rPr lang="en-US" sz="1200" dirty="0">
                  <a:solidFill>
                    <a:srgbClr val="FF0000"/>
                  </a:solidFill>
                </a:rPr>
                <a:t> </a:t>
              </a:r>
              <a:r>
                <a:rPr lang="en-US" sz="1200" dirty="0">
                  <a:solidFill>
                    <a:schemeClr val="bg1"/>
                  </a:solidFill>
                </a:rPr>
                <a:t>with progress tracking, rewards, and community challenges.</a:t>
              </a:r>
            </a:p>
            <a:p>
              <a:pPr algn="ctr">
                <a:spcBef>
                  <a:spcPts val="600"/>
                </a:spcBef>
              </a:pPr>
              <a:br>
                <a:rPr lang="en-US" sz="1200" dirty="0">
                  <a:solidFill>
                    <a:schemeClr val="bg1"/>
                  </a:solidFill>
                </a:rPr>
              </a:br>
              <a:r>
                <a:rPr lang="en-US" sz="1200" dirty="0">
                  <a:solidFill>
                    <a:schemeClr val="bg1"/>
                  </a:solidFill>
                </a:rPr>
                <a:t>✅ Helps </a:t>
              </a:r>
              <a:r>
                <a:rPr lang="en-US" sz="1200" b="1" dirty="0">
                  <a:solidFill>
                    <a:srgbClr val="FF0000"/>
                  </a:solidFill>
                </a:rPr>
                <a:t>gyms attract more customers</a:t>
              </a:r>
              <a:r>
                <a:rPr lang="en-US" sz="1200" dirty="0">
                  <a:solidFill>
                    <a:srgbClr val="FF0000"/>
                  </a:solidFill>
                </a:rPr>
                <a:t> and </a:t>
              </a:r>
              <a:r>
                <a:rPr lang="en-US" sz="1200" b="1" dirty="0">
                  <a:solidFill>
                    <a:srgbClr val="FF0000"/>
                  </a:solidFill>
                </a:rPr>
                <a:t>increase revenue</a:t>
              </a:r>
              <a:r>
                <a:rPr lang="en-US" sz="1200" dirty="0">
                  <a:solidFill>
                    <a:srgbClr val="FF0000"/>
                  </a:solidFill>
                </a:rPr>
                <a:t> </a:t>
              </a:r>
              <a:r>
                <a:rPr lang="en-US" sz="1200" dirty="0">
                  <a:solidFill>
                    <a:schemeClr val="bg1"/>
                  </a:solidFill>
                </a:rPr>
                <a:t>without depending solely on long-term memberships.</a:t>
              </a:r>
              <a:endParaRPr lang="en-US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3" name="TextBox 5">
              <a:extLst>
                <a:ext uri="{FF2B5EF4-FFF2-40B4-BE49-F238E27FC236}">
                  <a16:creationId xmlns:a16="http://schemas.microsoft.com/office/drawing/2014/main" id="{60ED4F38-9074-F42A-E783-FD0F9FE5D0FB}"/>
                </a:ext>
              </a:extLst>
            </p:cNvPr>
            <p:cNvSpPr txBox="1"/>
            <p:nvPr/>
          </p:nvSpPr>
          <p:spPr>
            <a:xfrm>
              <a:off x="1415215" y="1922331"/>
              <a:ext cx="17248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US" sz="1800" i="0" dirty="0">
                  <a:solidFill>
                    <a:schemeClr val="bg1"/>
                  </a:solidFill>
                  <a:effectLst/>
                  <a:latin typeface="Agency FB" panose="020B0503020202020204" pitchFamily="34" charset="0"/>
                </a:rPr>
                <a:t> </a:t>
              </a:r>
              <a:r>
                <a:rPr lang="en-IN" b="1" dirty="0">
                  <a:solidFill>
                    <a:schemeClr val="bg1"/>
                  </a:solidFill>
                  <a:latin typeface="Agency FB" panose="020B0503020202020204" pitchFamily="34" charset="0"/>
                </a:rPr>
                <a:t>What is BEARITT?</a:t>
              </a:r>
              <a:endParaRPr lang="en-US" sz="1800" b="1" i="0" dirty="0">
                <a:solidFill>
                  <a:schemeClr val="bg1"/>
                </a:solidFill>
                <a:effectLst/>
                <a:latin typeface="Agency FB" panose="020B0503020202020204" pitchFamily="34" charset="0"/>
              </a:endParaRPr>
            </a:p>
          </p:txBody>
        </p:sp>
        <p:sp>
          <p:nvSpPr>
            <p:cNvPr id="64" name="TextBox 7">
              <a:extLst>
                <a:ext uri="{FF2B5EF4-FFF2-40B4-BE49-F238E27FC236}">
                  <a16:creationId xmlns:a16="http://schemas.microsoft.com/office/drawing/2014/main" id="{23DC3766-3710-B7F3-9CF4-281E56757E4A}"/>
                </a:ext>
              </a:extLst>
            </p:cNvPr>
            <p:cNvSpPr txBox="1"/>
            <p:nvPr/>
          </p:nvSpPr>
          <p:spPr>
            <a:xfrm>
              <a:off x="4929009" y="1936488"/>
              <a:ext cx="25858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IN" b="1" dirty="0">
                  <a:solidFill>
                    <a:schemeClr val="bg1"/>
                  </a:solidFill>
                  <a:latin typeface="Agency FB" panose="020B0503020202020204" pitchFamily="34" charset="0"/>
                </a:rPr>
                <a:t>How does it work?</a:t>
              </a:r>
              <a:r>
                <a:rPr lang="en-US" sz="1800" b="1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Montserrat" panose="00000500000000000000" pitchFamily="2" charset="0"/>
                </a:rPr>
                <a:t> </a:t>
              </a:r>
              <a:endPara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65" name="TextBox 9">
              <a:extLst>
                <a:ext uri="{FF2B5EF4-FFF2-40B4-BE49-F238E27FC236}">
                  <a16:creationId xmlns:a16="http://schemas.microsoft.com/office/drawing/2014/main" id="{6DC36142-9C35-49D2-9B9E-1A6A0B1E2D11}"/>
                </a:ext>
              </a:extLst>
            </p:cNvPr>
            <p:cNvSpPr txBox="1"/>
            <p:nvPr/>
          </p:nvSpPr>
          <p:spPr>
            <a:xfrm>
              <a:off x="9156094" y="1891740"/>
              <a:ext cx="198117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IN" b="1" dirty="0">
                  <a:solidFill>
                    <a:schemeClr val="bg1"/>
                  </a:solidFill>
                  <a:latin typeface="Agency FB" panose="020B0503020202020204" pitchFamily="34" charset="0"/>
                </a:rPr>
                <a:t>Why does it matter?</a:t>
              </a:r>
              <a:r>
                <a:rPr lang="en-US" sz="1800" b="1" i="0" dirty="0">
                  <a:solidFill>
                    <a:schemeClr val="bg1"/>
                  </a:solidFill>
                  <a:effectLst/>
                  <a:latin typeface="Agency FB" panose="020B0503020202020204" pitchFamily="34" charset="0"/>
                </a:rPr>
                <a:t> </a:t>
              </a:r>
              <a:r>
                <a:rPr lang="en-US" sz="1800" b="1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Montserrat" panose="00000500000000000000" pitchFamily="2" charset="0"/>
                </a:rPr>
                <a:t>Training</a:t>
              </a:r>
              <a:endPara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350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52490" y="84931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gency FB" panose="020B0503020202020204" pitchFamily="34" charset="0"/>
              </a:rPr>
              <a:t>problems</a:t>
            </a:r>
          </a:p>
        </p:txBody>
      </p:sp>
      <p:pic>
        <p:nvPicPr>
          <p:cNvPr id="6" name="Picture 4" descr="Person suffering from pts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" r="53621"/>
          <a:stretch>
            <a:fillRect/>
          </a:stretch>
        </p:blipFill>
        <p:spPr bwMode="auto">
          <a:xfrm>
            <a:off x="7668829" y="-1"/>
            <a:ext cx="4543953" cy="6858002"/>
          </a:xfrm>
          <a:custGeom>
            <a:avLst/>
            <a:gdLst/>
            <a:ahLst/>
            <a:cxnLst/>
            <a:rect l="l" t="t" r="r" b="b"/>
            <a:pathLst>
              <a:path w="4543953" h="6858002"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cubicBezTo>
                  <a:pt x="348200" y="2870416"/>
                  <a:pt x="356392" y="2892181"/>
                  <a:pt x="361441" y="2914328"/>
                </a:cubicBez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6"/>
                </a:ln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14887" y="4134256"/>
                </a:lnTo>
                <a:cubicBezTo>
                  <a:pt x="413045" y="4144498"/>
                  <a:pt x="409973" y="4154857"/>
                  <a:pt x="405543" y="4165383"/>
                </a:cubicBez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1638" y="4192388"/>
                </a:lnTo>
                <a:lnTo>
                  <a:pt x="401733" y="4221391"/>
                </a:ln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395828" y="4846490"/>
                  <a:pt x="384397" y="4866958"/>
                  <a:pt x="382691" y="4889275"/>
                </a:cubicBez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81039" y="4952673"/>
                </a:lnTo>
                <a:cubicBezTo>
                  <a:pt x="376253" y="4964604"/>
                  <a:pt x="368680" y="4975511"/>
                  <a:pt x="360964" y="4987037"/>
                </a:cubicBezTo>
                <a:cubicBezTo>
                  <a:pt x="349725" y="5003801"/>
                  <a:pt x="335627" y="5022852"/>
                  <a:pt x="334485" y="5041521"/>
                </a:cubicBezTo>
                <a:cubicBezTo>
                  <a:pt x="332628" y="5073241"/>
                  <a:pt x="310088" y="5101639"/>
                  <a:pt x="308337" y="5133224"/>
                </a:cubicBezTo>
                <a:lnTo>
                  <a:pt x="308337" y="5133225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cubicBezTo>
                  <a:pt x="350964" y="5289657"/>
                  <a:pt x="359489" y="5307422"/>
                  <a:pt x="362870" y="5326163"/>
                </a:cubicBez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5103" y="5507668"/>
                </a:lnTo>
                <a:cubicBezTo>
                  <a:pt x="335056" y="5516503"/>
                  <a:pt x="337532" y="5524837"/>
                  <a:pt x="345723" y="5531694"/>
                </a:cubicBez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cubicBezTo>
                  <a:pt x="164171" y="5900323"/>
                  <a:pt x="156361" y="5918042"/>
                  <a:pt x="154075" y="5935949"/>
                </a:cubicBezTo>
                <a:lnTo>
                  <a:pt x="154075" y="5935950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62457" y="6361540"/>
                </a:lnTo>
                <a:lnTo>
                  <a:pt x="162684" y="6365557"/>
                </a:lnTo>
                <a:lnTo>
                  <a:pt x="163946" y="6387910"/>
                </a:lnTo>
                <a:lnTo>
                  <a:pt x="166047" y="6392243"/>
                </a:lnTo>
                <a:lnTo>
                  <a:pt x="173364" y="6407333"/>
                </a:lnTo>
                <a:lnTo>
                  <a:pt x="173364" y="6407332"/>
                </a:lnTo>
                <a:lnTo>
                  <a:pt x="166047" y="6392243"/>
                </a:lnTo>
                <a:lnTo>
                  <a:pt x="163946" y="6387910"/>
                </a:lnTo>
                <a:lnTo>
                  <a:pt x="162684" y="6365557"/>
                </a:ln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5"/>
                </a:ln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60957" y="5909351"/>
                </a:lnTo>
                <a:cubicBezTo>
                  <a:pt x="164171" y="5900611"/>
                  <a:pt x="168076" y="5892038"/>
                  <a:pt x="171981" y="5883752"/>
                </a:cubicBez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cubicBezTo>
                  <a:pt x="341628" y="5528265"/>
                  <a:pt x="338961" y="5524467"/>
                  <a:pt x="337324" y="5520422"/>
                </a:cubicBez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4317" y="5355014"/>
                </a:lnTo>
                <a:cubicBezTo>
                  <a:pt x="366264" y="5325412"/>
                  <a:pt x="358727" y="5298086"/>
                  <a:pt x="335437" y="5272796"/>
                </a:cubicBez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4"/>
                </a:lnTo>
                <a:lnTo>
                  <a:pt x="315052" y="5166113"/>
                </a:lnTo>
                <a:lnTo>
                  <a:pt x="308337" y="5133225"/>
                </a:lnTo>
                <a:lnTo>
                  <a:pt x="315482" y="5102461"/>
                </a:lnTo>
                <a:cubicBezTo>
                  <a:pt x="322817" y="5082339"/>
                  <a:pt x="333247" y="5062669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72538" y="4969748"/>
                  <a:pt x="383790" y="4953853"/>
                  <a:pt x="385799" y="4933805"/>
                </a:cubicBezTo>
                <a:lnTo>
                  <a:pt x="385799" y="4933805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87469" y="4867614"/>
                </a:lnTo>
                <a:cubicBezTo>
                  <a:pt x="392589" y="4853636"/>
                  <a:pt x="401352" y="4840633"/>
                  <a:pt x="412401" y="4828917"/>
                </a:cubicBez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lnTo>
                  <a:pt x="401733" y="4221391"/>
                </a:lnTo>
                <a:lnTo>
                  <a:pt x="401733" y="4221391"/>
                </a:lnTo>
                <a:lnTo>
                  <a:pt x="401638" y="4192388"/>
                </a:lnTo>
                <a:lnTo>
                  <a:pt x="405543" y="4165384"/>
                </a:lnTo>
                <a:cubicBezTo>
                  <a:pt x="414402" y="4144333"/>
                  <a:pt x="417831" y="4123948"/>
                  <a:pt x="416855" y="4103826"/>
                </a:cubicBez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20"/>
                </a:ln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8"/>
                </a:ln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3"/>
                </a:lnTo>
                <a:lnTo>
                  <a:pt x="366072" y="2947862"/>
                </a:lnTo>
                <a:cubicBezTo>
                  <a:pt x="364965" y="2913982"/>
                  <a:pt x="351534" y="2881226"/>
                  <a:pt x="341533" y="2848793"/>
                </a:cubicBez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16497" y="2426822"/>
                  <a:pt x="410353" y="2444777"/>
                  <a:pt x="409472" y="2463017"/>
                </a:cubicBezTo>
                <a:lnTo>
                  <a:pt x="409472" y="2463018"/>
                </a:lnTo>
                <a:lnTo>
                  <a:pt x="409472" y="2463018"/>
                </a:lnTo>
                <a:cubicBezTo>
                  <a:pt x="408591" y="2481259"/>
                  <a:pt x="412972" y="2499786"/>
                  <a:pt x="418115" y="2518265"/>
                </a:cubicBez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52"/>
                </a:ln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lnTo>
                  <a:pt x="296001" y="2745352"/>
                </a:ln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cubicBezTo>
                  <a:pt x="415544" y="2509025"/>
                  <a:pt x="413163" y="2499773"/>
                  <a:pt x="411535" y="2490551"/>
                </a:cubicBezTo>
                <a:lnTo>
                  <a:pt x="409472" y="2463018"/>
                </a:lnTo>
                <a:lnTo>
                  <a:pt x="415303" y="2435913"/>
                </a:lnTo>
                <a:cubicBezTo>
                  <a:pt x="418938" y="2426977"/>
                  <a:pt x="424451" y="2418154"/>
                  <a:pt x="432404" y="2409486"/>
                </a:cubicBez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2926" y="1453958"/>
                </a:moveTo>
                <a:lnTo>
                  <a:pt x="798723" y="1459073"/>
                </a:lnTo>
                <a:lnTo>
                  <a:pt x="807941" y="1481572"/>
                </a:lnTo>
                <a:lnTo>
                  <a:pt x="798724" y="1459074"/>
                </a:lnTo>
                <a:lnTo>
                  <a:pt x="798723" y="1459073"/>
                </a:lnTo>
                <a:lnTo>
                  <a:pt x="798723" y="1459073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69105" y="298169"/>
                </a:moveTo>
                <a:lnTo>
                  <a:pt x="783887" y="313533"/>
                </a:ln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lnTo>
                  <a:pt x="783887" y="313533"/>
                </a:lnTo>
                <a:lnTo>
                  <a:pt x="783887" y="313533"/>
                </a:ln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58551" y="228948"/>
                </a:lnTo>
                <a:lnTo>
                  <a:pt x="758551" y="228949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4543953" y="2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284400" y="6858001"/>
                </a:ln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lnTo>
                  <a:pt x="311551" y="6702976"/>
                </a:lnTo>
                <a:lnTo>
                  <a:pt x="311551" y="6702976"/>
                </a:lnTo>
                <a:cubicBezTo>
                  <a:pt x="311956" y="6689783"/>
                  <a:pt x="307622" y="6676448"/>
                  <a:pt x="296953" y="6662541"/>
                </a:cubicBezTo>
                <a:cubicBezTo>
                  <a:pt x="293286" y="6657825"/>
                  <a:pt x="290989" y="6651967"/>
                  <a:pt x="289870" y="6645552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lnTo>
                  <a:pt x="328959" y="6564620"/>
                </a:ln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58" y="6625225"/>
                </a:lnTo>
                <a:cubicBezTo>
                  <a:pt x="287762" y="6639108"/>
                  <a:pt x="289619" y="6653111"/>
                  <a:pt x="296953" y="6662542"/>
                </a:cubicBezTo>
                <a:cubicBezTo>
                  <a:pt x="302288" y="6669496"/>
                  <a:pt x="306038" y="6676306"/>
                  <a:pt x="308405" y="6683027"/>
                </a:cubicBezTo>
                <a:lnTo>
                  <a:pt x="311551" y="6702976"/>
                </a:ln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78237" y="6812064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noFill/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>
            <a:grpSpLocks noGrp="1" noUngrp="1" noRot="1" noChangeAspect="1" noMove="1" noResize="1"/>
          </p:cNvGrpSpPr>
          <p:nvPr/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16" name="Freeform: Shape 15"/>
            <p:cNvSpPr/>
            <p:nvPr/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078" name="Picture 6" descr="Save money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08" y="1917285"/>
            <a:ext cx="714120" cy="60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47428" y="2155337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masis MT Pro Medium" panose="02040604050005020304" pitchFamily="18" charset="0"/>
              </a:rPr>
              <a:t>Unused Gym Memberships</a:t>
            </a:r>
          </a:p>
        </p:txBody>
      </p:sp>
      <p:pic>
        <p:nvPicPr>
          <p:cNvPr id="11" name="Picture 10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42" y="2800634"/>
            <a:ext cx="600852" cy="6008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7428" y="2799740"/>
            <a:ext cx="508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masis MT Pro Medium" panose="02040604050005020304" pitchFamily="18" charset="0"/>
              </a:rPr>
              <a:t>Fixed-location memberships limit access for travelers and relocators</a:t>
            </a:r>
            <a:endParaRPr lang="en-IN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56026" y="3787638"/>
            <a:ext cx="5174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masis MT Pro Medium" panose="02040604050005020304" pitchFamily="18" charset="0"/>
              </a:rPr>
              <a:t>Users struggle to track progress, making goals unclear.</a:t>
            </a:r>
            <a:endParaRPr lang="en-IN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19" name="Picture 18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32" y="3762468"/>
            <a:ext cx="696672" cy="696672"/>
          </a:xfrm>
          <a:prstGeom prst="rect">
            <a:avLst/>
          </a:prstGeom>
        </p:spPr>
      </p:pic>
      <p:pic>
        <p:nvPicPr>
          <p:cNvPr id="21" name="Picture 20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77" y="4660901"/>
            <a:ext cx="838649" cy="838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14061" y="4661325"/>
            <a:ext cx="5345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masis MT Pro Medium" panose="02040604050005020304" pitchFamily="18" charset="0"/>
              </a:rPr>
              <a:t>Low consistency in fitness routines contributes to the rise of lifestyle diseases.</a:t>
            </a:r>
            <a:endParaRPr lang="en-IN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3082" name="Picture 10" descr="Support 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28" y="5617224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56026" y="5617224"/>
            <a:ext cx="464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masis MT Pro Medium" panose="02040604050005020304" pitchFamily="18" charset="0"/>
              </a:rPr>
              <a:t>Minimal access to personalized training and health guidance.</a:t>
            </a:r>
            <a:endParaRPr lang="en-IN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025F00-5779-E45D-1642-18C157198869}"/>
              </a:ext>
            </a:extLst>
          </p:cNvPr>
          <p:cNvSpPr txBox="1"/>
          <p:nvPr/>
        </p:nvSpPr>
        <p:spPr>
          <a:xfrm>
            <a:off x="1005840" y="2890391"/>
            <a:ext cx="3261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Social &amp; Economic Impact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6D0C68-3027-36C2-F94B-BF7C79D15D60}"/>
              </a:ext>
            </a:extLst>
          </p:cNvPr>
          <p:cNvGrpSpPr/>
          <p:nvPr/>
        </p:nvGrpSpPr>
        <p:grpSpPr>
          <a:xfrm>
            <a:off x="4488182" y="1216074"/>
            <a:ext cx="6873240" cy="4425851"/>
            <a:chOff x="4851400" y="1104315"/>
            <a:chExt cx="6873240" cy="442585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78E272-3657-130D-0859-BC314FBF2524}"/>
                </a:ext>
              </a:extLst>
            </p:cNvPr>
            <p:cNvCxnSpPr/>
            <p:nvPr/>
          </p:nvCxnSpPr>
          <p:spPr>
            <a:xfrm>
              <a:off x="4851400" y="2286000"/>
              <a:ext cx="0" cy="2286000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53D4B3-9406-9A85-346A-9219F2F66D08}"/>
                </a:ext>
              </a:extLst>
            </p:cNvPr>
            <p:cNvSpPr txBox="1"/>
            <p:nvPr/>
          </p:nvSpPr>
          <p:spPr>
            <a:xfrm>
              <a:off x="5628640" y="1104315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rgbClr val="FF0000"/>
                  </a:solidFill>
                  <a:latin typeface="Bahnschrift" panose="020B0502040204020203" pitchFamily="34" charset="0"/>
                </a:rPr>
                <a:t>Health Improvement:</a:t>
              </a:r>
              <a:r>
                <a:rPr lang="en-US" dirty="0">
                  <a:solidFill>
                    <a:srgbClr val="FF000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Promotes active lifestyles, </a:t>
              </a:r>
              <a:r>
                <a:rPr lang="en-US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reducing lifestyle diseases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 like obesity and hypertension.</a:t>
              </a:r>
              <a:endParaRPr lang="en-IN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4CC8ED6-98B6-452B-B8BA-39F3D09314DE}"/>
                </a:ext>
              </a:extLst>
            </p:cNvPr>
            <p:cNvSpPr txBox="1"/>
            <p:nvPr/>
          </p:nvSpPr>
          <p:spPr>
            <a:xfrm>
              <a:off x="5628640" y="2364155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rgbClr val="FF0000"/>
                  </a:solidFill>
                  <a:latin typeface="Bahnschrift" panose="020B0502040204020203" pitchFamily="34" charset="0"/>
                </a:rPr>
                <a:t>Accessibility:</a:t>
              </a:r>
              <a:r>
                <a:rPr lang="en-US" dirty="0">
                  <a:solidFill>
                    <a:srgbClr val="FF000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Affordable fitness solutions for </a:t>
              </a:r>
              <a:r>
                <a:rPr lang="en-US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low-income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 individuals and underserved communities.</a:t>
              </a:r>
              <a:endParaRPr lang="en-IN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EE2285-977B-967C-0FCD-74BDABCDF6E8}"/>
                </a:ext>
              </a:extLst>
            </p:cNvPr>
            <p:cNvSpPr txBox="1"/>
            <p:nvPr/>
          </p:nvSpPr>
          <p:spPr>
            <a:xfrm>
              <a:off x="5628640" y="3623995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rgbClr val="FF0000"/>
                  </a:solidFill>
                  <a:latin typeface="Bahnschrift" panose="020B0502040204020203" pitchFamily="34" charset="0"/>
                </a:rPr>
                <a:t>Job Creation:</a:t>
              </a:r>
              <a:r>
                <a:rPr lang="en-US" dirty="0">
                  <a:solidFill>
                    <a:srgbClr val="FF000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Supports local gyms, trainers, and fitness coaches, </a:t>
              </a:r>
              <a:r>
                <a:rPr lang="en-US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contributing to economic growth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.</a:t>
              </a:r>
              <a:endParaRPr lang="en-IN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F0F4E1-7C09-AD9A-829E-40C8CCD26FBD}"/>
                </a:ext>
              </a:extLst>
            </p:cNvPr>
            <p:cNvSpPr txBox="1"/>
            <p:nvPr/>
          </p:nvSpPr>
          <p:spPr>
            <a:xfrm>
              <a:off x="5628640" y="4883835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rgbClr val="FF0000"/>
                  </a:solidFill>
                  <a:latin typeface="Bahnschrift" panose="020B0502040204020203" pitchFamily="34" charset="0"/>
                </a:rPr>
                <a:t>Community Building:</a:t>
              </a:r>
              <a:r>
                <a:rPr lang="en-US" dirty="0">
                  <a:solidFill>
                    <a:srgbClr val="FF000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Encourages </a:t>
              </a:r>
              <a:r>
                <a:rPr lang="en-US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social connections 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through group challenges and fitness events.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270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4" descr="A person and person running in a gym&#10;&#10;Description automatically generated"/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6"/>
          <a:stretch>
            <a:fillRect/>
          </a:stretch>
        </p:blipFill>
        <p:spPr>
          <a:xfrm>
            <a:off x="-20" y="0"/>
            <a:ext cx="12191980" cy="685799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8" name="TextBox 7"/>
          <p:cNvSpPr txBox="1"/>
          <p:nvPr/>
        </p:nvSpPr>
        <p:spPr>
          <a:xfrm>
            <a:off x="965200" y="2999797"/>
            <a:ext cx="2891685" cy="594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Agency FB" panose="020B0503020202020204" pitchFamily="34" charset="0"/>
              </a:rPr>
              <a:t>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965201"/>
            <a:ext cx="10261600" cy="14020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1500" b="1" dirty="0">
              <a:ln w="22225">
                <a:solidFill>
                  <a:schemeClr val="tx1"/>
                </a:solidFill>
                <a:miter lim="800000"/>
              </a:ln>
              <a:noFill/>
              <a:latin typeface="+mj-lt"/>
              <a:ea typeface="+mj-ea"/>
              <a:cs typeface="+mj-cs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3571240" y="2192481"/>
            <a:ext cx="0" cy="228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8" name="Picture 57" descr="A white line drawing of a hand and a coi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136" y="1087747"/>
            <a:ext cx="578494" cy="57849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403028" y="1070013"/>
            <a:ext cx="603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BEARITT’s </a:t>
            </a:r>
            <a:r>
              <a:rPr lang="en-US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Pay-as-you-go system</a:t>
            </a:r>
            <a:r>
              <a:rPr lang="en-US" dirty="0">
                <a:latin typeface="Amasis MT Pro Medium" panose="02040604050005020304" pitchFamily="18" charset="0"/>
              </a:rPr>
              <a:t> reduces financial loss and boosts long-term adherence.</a:t>
            </a:r>
            <a:endParaRPr lang="en-IN" dirty="0">
              <a:latin typeface="Amasis MT Pro Medium" panose="020406040500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83082" y="2009556"/>
            <a:ext cx="581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asis MT Pro Medium" panose="02040604050005020304" pitchFamily="18" charset="0"/>
              </a:rPr>
              <a:t>Our membership allows users, including travelers, to </a:t>
            </a:r>
            <a:r>
              <a:rPr lang="en-US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access various gym locations.</a:t>
            </a:r>
            <a:endParaRPr lang="en-IN" dirty="0">
              <a:solidFill>
                <a:schemeClr val="accent2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62" name="Picture 61" descr="A white line drawing of a globe with pins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880" y="2065730"/>
            <a:ext cx="594763" cy="59476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403028" y="2956922"/>
            <a:ext cx="5600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Gamified</a:t>
            </a:r>
            <a:r>
              <a:rPr lang="en-US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 progress-tracking tools</a:t>
            </a:r>
            <a:r>
              <a:rPr lang="en-US" dirty="0">
                <a:latin typeface="Amasis MT Pro Medium" panose="02040604050005020304" pitchFamily="18" charset="0"/>
              </a:rPr>
              <a:t> drive user engagement, helping them reach their goals with ease</a:t>
            </a:r>
            <a:endParaRPr lang="en-IN" dirty="0">
              <a:latin typeface="Amasis MT Pro Medium" panose="02040604050005020304" pitchFamily="18" charset="0"/>
            </a:endParaRPr>
          </a:p>
        </p:txBody>
      </p:sp>
      <p:pic>
        <p:nvPicPr>
          <p:cNvPr id="2049" name="Picture 2048" descr="A white map with a point and a flag&#10;&#10;Description automatically generated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88" y="3079005"/>
            <a:ext cx="665359" cy="665359"/>
          </a:xfrm>
          <a:prstGeom prst="rect">
            <a:avLst/>
          </a:prstGeom>
        </p:spPr>
      </p:pic>
      <p:sp>
        <p:nvSpPr>
          <p:cNvPr id="2051" name="TextBox 2050"/>
          <p:cNvSpPr txBox="1"/>
          <p:nvPr/>
        </p:nvSpPr>
        <p:spPr>
          <a:xfrm>
            <a:off x="5433272" y="4066787"/>
            <a:ext cx="5049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Personalized health plans </a:t>
            </a:r>
            <a:r>
              <a:rPr lang="en-US" dirty="0">
                <a:latin typeface="Amasis MT Pro Medium" panose="02040604050005020304" pitchFamily="18" charset="0"/>
              </a:rPr>
              <a:t>and </a:t>
            </a:r>
            <a:r>
              <a:rPr lang="en-US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expert guidance </a:t>
            </a:r>
            <a:r>
              <a:rPr lang="en-US" dirty="0">
                <a:latin typeface="Amasis MT Pro Medium" panose="02040604050005020304" pitchFamily="18" charset="0"/>
              </a:rPr>
              <a:t>strengthen customer loyalty and trust</a:t>
            </a:r>
            <a:endParaRPr lang="en-IN" dirty="0">
              <a:latin typeface="Amasis MT Pro Medium" panose="02040604050005020304" pitchFamily="18" charset="0"/>
            </a:endParaRPr>
          </a:p>
        </p:txBody>
      </p:sp>
      <p:pic>
        <p:nvPicPr>
          <p:cNvPr id="2054" name="Picture 2053" descr="A white logo with a black background&#10;&#10;Description automatically generated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348" y="4002147"/>
            <a:ext cx="744204" cy="744204"/>
          </a:xfrm>
          <a:prstGeom prst="rect">
            <a:avLst/>
          </a:prstGeom>
        </p:spPr>
      </p:pic>
      <p:sp>
        <p:nvSpPr>
          <p:cNvPr id="2055" name="TextBox 2054"/>
          <p:cNvSpPr txBox="1"/>
          <p:nvPr/>
        </p:nvSpPr>
        <p:spPr>
          <a:xfrm>
            <a:off x="5433272" y="5020386"/>
            <a:ext cx="560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asis MT Pro Medium" panose="02040604050005020304" pitchFamily="18" charset="0"/>
              </a:rPr>
              <a:t>Community-driven </a:t>
            </a:r>
            <a:r>
              <a:rPr lang="en-US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challenges</a:t>
            </a:r>
            <a:r>
              <a:rPr lang="en-US" dirty="0">
                <a:latin typeface="Amasis MT Pro Medium" panose="02040604050005020304" pitchFamily="18" charset="0"/>
              </a:rPr>
              <a:t> and </a:t>
            </a:r>
            <a:r>
              <a:rPr lang="en-US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events</a:t>
            </a:r>
            <a:r>
              <a:rPr lang="en-US" dirty="0">
                <a:latin typeface="Amasis MT Pro Medium" panose="02040604050005020304" pitchFamily="18" charset="0"/>
              </a:rPr>
              <a:t> build a vibrant, engaged fitness ecosystem</a:t>
            </a:r>
            <a:endParaRPr lang="en-IN" dirty="0">
              <a:latin typeface="Amasis MT Pro Medium" panose="02040604050005020304" pitchFamily="18" charset="0"/>
            </a:endParaRPr>
          </a:p>
        </p:txBody>
      </p:sp>
      <p:pic>
        <p:nvPicPr>
          <p:cNvPr id="2057" name="Picture 2056" descr="A group of people holding hands together&#10;&#10;Description automatically generated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99" y="5000440"/>
            <a:ext cx="724522" cy="7245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18644F29-1ED1-3C8C-890B-F6A0BD3ACE92}"/>
              </a:ext>
            </a:extLst>
          </p:cNvPr>
          <p:cNvGrpSpPr/>
          <p:nvPr/>
        </p:nvGrpSpPr>
        <p:grpSpPr>
          <a:xfrm>
            <a:off x="144284" y="1090459"/>
            <a:ext cx="12277784" cy="5604923"/>
            <a:chOff x="242587" y="1532346"/>
            <a:chExt cx="12277784" cy="5121720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49F6E79-CDBD-1157-5FEF-403E7FF05E30}"/>
                </a:ext>
              </a:extLst>
            </p:cNvPr>
            <p:cNvGrpSpPr/>
            <p:nvPr/>
          </p:nvGrpSpPr>
          <p:grpSpPr>
            <a:xfrm>
              <a:off x="2889503" y="2110227"/>
              <a:ext cx="6412999" cy="3738075"/>
              <a:chOff x="4252080" y="2048031"/>
              <a:chExt cx="4147131" cy="2417324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BAE52A1F-F2B2-7386-4C04-B7D511F9B8BD}"/>
                  </a:ext>
                </a:extLst>
              </p:cNvPr>
              <p:cNvGrpSpPr/>
              <p:nvPr/>
            </p:nvGrpSpPr>
            <p:grpSpPr>
              <a:xfrm flipH="1">
                <a:off x="6875489" y="2271902"/>
                <a:ext cx="1172008" cy="1853365"/>
                <a:chOff x="4657012" y="2271902"/>
                <a:chExt cx="1172008" cy="1853365"/>
              </a:xfrm>
            </p:grpSpPr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47E1B02A-13BC-A83A-3783-B5DFFD61AFD3}"/>
                    </a:ext>
                  </a:extLst>
                </p:cNvPr>
                <p:cNvCxnSpPr/>
                <p:nvPr/>
              </p:nvCxnSpPr>
              <p:spPr>
                <a:xfrm>
                  <a:off x="5138364" y="2272897"/>
                  <a:ext cx="384048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9F9766AF-66E2-A25B-0701-C28983FB9481}"/>
                    </a:ext>
                  </a:extLst>
                </p:cNvPr>
                <p:cNvCxnSpPr/>
                <p:nvPr/>
              </p:nvCxnSpPr>
              <p:spPr>
                <a:xfrm>
                  <a:off x="5524805" y="2271902"/>
                  <a:ext cx="0" cy="1853365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68D2CF6D-4BF6-86F1-21C2-24262E2F90E4}"/>
                    </a:ext>
                  </a:extLst>
                </p:cNvPr>
                <p:cNvCxnSpPr/>
                <p:nvPr/>
              </p:nvCxnSpPr>
              <p:spPr>
                <a:xfrm>
                  <a:off x="5525692" y="3191214"/>
                  <a:ext cx="303328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AAE2E018-3CBE-CF42-CBDD-688A522DCDED}"/>
                    </a:ext>
                  </a:extLst>
                </p:cNvPr>
                <p:cNvCxnSpPr/>
                <p:nvPr/>
              </p:nvCxnSpPr>
              <p:spPr>
                <a:xfrm>
                  <a:off x="5112797" y="4121051"/>
                  <a:ext cx="408596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8B5A7203-B3F7-9C4E-0781-A9BA2B59A541}"/>
                    </a:ext>
                  </a:extLst>
                </p:cNvPr>
                <p:cNvCxnSpPr/>
                <p:nvPr/>
              </p:nvCxnSpPr>
              <p:spPr>
                <a:xfrm>
                  <a:off x="4657012" y="2703484"/>
                  <a:ext cx="868680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34BB333A-73E6-1284-5855-857EE461E16D}"/>
                    </a:ext>
                  </a:extLst>
                </p:cNvPr>
                <p:cNvCxnSpPr/>
                <p:nvPr/>
              </p:nvCxnSpPr>
              <p:spPr>
                <a:xfrm>
                  <a:off x="4657012" y="3688363"/>
                  <a:ext cx="868680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72763F38-03BA-ACB1-A1DB-8C46E1C6940E}"/>
                  </a:ext>
                </a:extLst>
              </p:cNvPr>
              <p:cNvGrpSpPr/>
              <p:nvPr/>
            </p:nvGrpSpPr>
            <p:grpSpPr>
              <a:xfrm>
                <a:off x="4657012" y="2271902"/>
                <a:ext cx="1528462" cy="1853365"/>
                <a:chOff x="4657012" y="2271902"/>
                <a:chExt cx="1528462" cy="1853365"/>
              </a:xfrm>
            </p:grpSpPr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CF067B22-AED7-E1C9-7F7A-5500BD243F66}"/>
                    </a:ext>
                  </a:extLst>
                </p:cNvPr>
                <p:cNvCxnSpPr/>
                <p:nvPr/>
              </p:nvCxnSpPr>
              <p:spPr>
                <a:xfrm>
                  <a:off x="5138364" y="2272897"/>
                  <a:ext cx="384048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E2A606F4-F060-AAB2-94C3-E814415008B0}"/>
                    </a:ext>
                  </a:extLst>
                </p:cNvPr>
                <p:cNvCxnSpPr/>
                <p:nvPr/>
              </p:nvCxnSpPr>
              <p:spPr>
                <a:xfrm>
                  <a:off x="5524805" y="2271902"/>
                  <a:ext cx="0" cy="1853365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46DEBF9E-7532-A1CD-EF64-9211AB858D63}"/>
                    </a:ext>
                  </a:extLst>
                </p:cNvPr>
                <p:cNvCxnSpPr/>
                <p:nvPr/>
              </p:nvCxnSpPr>
              <p:spPr>
                <a:xfrm>
                  <a:off x="5527106" y="3196733"/>
                  <a:ext cx="658368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9519ACA9-BA97-B072-7367-76E7642EE33D}"/>
                    </a:ext>
                  </a:extLst>
                </p:cNvPr>
                <p:cNvCxnSpPr/>
                <p:nvPr/>
              </p:nvCxnSpPr>
              <p:spPr>
                <a:xfrm>
                  <a:off x="5112797" y="4121051"/>
                  <a:ext cx="408596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AB67DE0F-0FF5-2B1B-45E8-BF1A18042FF0}"/>
                    </a:ext>
                  </a:extLst>
                </p:cNvPr>
                <p:cNvCxnSpPr/>
                <p:nvPr/>
              </p:nvCxnSpPr>
              <p:spPr>
                <a:xfrm>
                  <a:off x="4657012" y="2703484"/>
                  <a:ext cx="868680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69ACC847-D109-9231-7518-2E3A9B07D104}"/>
                    </a:ext>
                  </a:extLst>
                </p:cNvPr>
                <p:cNvCxnSpPr/>
                <p:nvPr/>
              </p:nvCxnSpPr>
              <p:spPr>
                <a:xfrm>
                  <a:off x="4657012" y="3688363"/>
                  <a:ext cx="868680" cy="0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5" name="Freeform 218">
                <a:extLst>
                  <a:ext uri="{FF2B5EF4-FFF2-40B4-BE49-F238E27FC236}">
                    <a16:creationId xmlns:a16="http://schemas.microsoft.com/office/drawing/2014/main" id="{675F7CF8-E524-005C-72B6-5BD2D58AF5D5}"/>
                  </a:ext>
                </a:extLst>
              </p:cNvPr>
              <p:cNvSpPr/>
              <p:nvPr/>
            </p:nvSpPr>
            <p:spPr bwMode="auto">
              <a:xfrm>
                <a:off x="7993061" y="3458137"/>
                <a:ext cx="406150" cy="405334"/>
              </a:xfrm>
              <a:custGeom>
                <a:avLst/>
                <a:gdLst>
                  <a:gd name="T0" fmla="*/ 211 w 211"/>
                  <a:gd name="T1" fmla="*/ 151 h 210"/>
                  <a:gd name="T2" fmla="*/ 151 w 211"/>
                  <a:gd name="T3" fmla="*/ 210 h 210"/>
                  <a:gd name="T4" fmla="*/ 59 w 211"/>
                  <a:gd name="T5" fmla="*/ 210 h 210"/>
                  <a:gd name="T6" fmla="*/ 0 w 211"/>
                  <a:gd name="T7" fmla="*/ 151 h 210"/>
                  <a:gd name="T8" fmla="*/ 0 w 211"/>
                  <a:gd name="T9" fmla="*/ 59 h 210"/>
                  <a:gd name="T10" fmla="*/ 59 w 211"/>
                  <a:gd name="T11" fmla="*/ 0 h 210"/>
                  <a:gd name="T12" fmla="*/ 151 w 211"/>
                  <a:gd name="T13" fmla="*/ 0 h 210"/>
                  <a:gd name="T14" fmla="*/ 211 w 211"/>
                  <a:gd name="T15" fmla="*/ 59 h 210"/>
                  <a:gd name="T16" fmla="*/ 211 w 211"/>
                  <a:gd name="T17" fmla="*/ 151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1" h="210">
                    <a:moveTo>
                      <a:pt x="211" y="151"/>
                    </a:moveTo>
                    <a:cubicBezTo>
                      <a:pt x="211" y="183"/>
                      <a:pt x="184" y="210"/>
                      <a:pt x="151" y="210"/>
                    </a:cubicBezTo>
                    <a:cubicBezTo>
                      <a:pt x="59" y="210"/>
                      <a:pt x="59" y="210"/>
                      <a:pt x="59" y="210"/>
                    </a:cubicBezTo>
                    <a:cubicBezTo>
                      <a:pt x="27" y="210"/>
                      <a:pt x="0" y="183"/>
                      <a:pt x="0" y="15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6"/>
                      <a:pt x="27" y="0"/>
                      <a:pt x="59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84" y="0"/>
                      <a:pt x="211" y="26"/>
                      <a:pt x="211" y="59"/>
                    </a:cubicBezTo>
                    <a:lnTo>
                      <a:pt x="21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54D0399B-8022-2C39-0972-B88C3E4E9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8831" y="4017612"/>
                <a:ext cx="447743" cy="447743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9" name="Freeform 225">
                <a:extLst>
                  <a:ext uri="{FF2B5EF4-FFF2-40B4-BE49-F238E27FC236}">
                    <a16:creationId xmlns:a16="http://schemas.microsoft.com/office/drawing/2014/main" id="{432E0B58-9762-0234-091A-3E9417BC98F4}"/>
                  </a:ext>
                </a:extLst>
              </p:cNvPr>
              <p:cNvSpPr/>
              <p:nvPr/>
            </p:nvSpPr>
            <p:spPr bwMode="auto">
              <a:xfrm>
                <a:off x="7520035" y="2048031"/>
                <a:ext cx="405334" cy="405334"/>
              </a:xfrm>
              <a:custGeom>
                <a:avLst/>
                <a:gdLst>
                  <a:gd name="T0" fmla="*/ 210 w 210"/>
                  <a:gd name="T1" fmla="*/ 151 h 210"/>
                  <a:gd name="T2" fmla="*/ 151 w 210"/>
                  <a:gd name="T3" fmla="*/ 210 h 210"/>
                  <a:gd name="T4" fmla="*/ 59 w 210"/>
                  <a:gd name="T5" fmla="*/ 210 h 210"/>
                  <a:gd name="T6" fmla="*/ 0 w 210"/>
                  <a:gd name="T7" fmla="*/ 151 h 210"/>
                  <a:gd name="T8" fmla="*/ 0 w 210"/>
                  <a:gd name="T9" fmla="*/ 59 h 210"/>
                  <a:gd name="T10" fmla="*/ 59 w 210"/>
                  <a:gd name="T11" fmla="*/ 0 h 210"/>
                  <a:gd name="T12" fmla="*/ 151 w 210"/>
                  <a:gd name="T13" fmla="*/ 0 h 210"/>
                  <a:gd name="T14" fmla="*/ 210 w 210"/>
                  <a:gd name="T15" fmla="*/ 59 h 210"/>
                  <a:gd name="T16" fmla="*/ 210 w 210"/>
                  <a:gd name="T17" fmla="*/ 151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0" h="210">
                    <a:moveTo>
                      <a:pt x="210" y="151"/>
                    </a:moveTo>
                    <a:cubicBezTo>
                      <a:pt x="210" y="184"/>
                      <a:pt x="184" y="210"/>
                      <a:pt x="151" y="210"/>
                    </a:cubicBezTo>
                    <a:cubicBezTo>
                      <a:pt x="59" y="210"/>
                      <a:pt x="59" y="210"/>
                      <a:pt x="59" y="210"/>
                    </a:cubicBezTo>
                    <a:cubicBezTo>
                      <a:pt x="27" y="210"/>
                      <a:pt x="0" y="184"/>
                      <a:pt x="0" y="15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7"/>
                      <a:pt x="27" y="0"/>
                      <a:pt x="59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84" y="0"/>
                      <a:pt x="210" y="27"/>
                      <a:pt x="210" y="59"/>
                    </a:cubicBezTo>
                    <a:lnTo>
                      <a:pt x="210" y="15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21" name="Freeform 227">
                <a:extLst>
                  <a:ext uri="{FF2B5EF4-FFF2-40B4-BE49-F238E27FC236}">
                    <a16:creationId xmlns:a16="http://schemas.microsoft.com/office/drawing/2014/main" id="{2BB10F2E-CBDF-09F9-EEA0-F331DC3B06C1}"/>
                  </a:ext>
                </a:extLst>
              </p:cNvPr>
              <p:cNvSpPr/>
              <p:nvPr/>
            </p:nvSpPr>
            <p:spPr bwMode="auto">
              <a:xfrm>
                <a:off x="7988983" y="2516979"/>
                <a:ext cx="406965" cy="406965"/>
              </a:xfrm>
              <a:custGeom>
                <a:avLst/>
                <a:gdLst>
                  <a:gd name="T0" fmla="*/ 211 w 211"/>
                  <a:gd name="T1" fmla="*/ 152 h 211"/>
                  <a:gd name="T2" fmla="*/ 152 w 211"/>
                  <a:gd name="T3" fmla="*/ 211 h 211"/>
                  <a:gd name="T4" fmla="*/ 60 w 211"/>
                  <a:gd name="T5" fmla="*/ 211 h 211"/>
                  <a:gd name="T6" fmla="*/ 0 w 211"/>
                  <a:gd name="T7" fmla="*/ 152 h 211"/>
                  <a:gd name="T8" fmla="*/ 0 w 211"/>
                  <a:gd name="T9" fmla="*/ 60 h 211"/>
                  <a:gd name="T10" fmla="*/ 60 w 211"/>
                  <a:gd name="T11" fmla="*/ 0 h 211"/>
                  <a:gd name="T12" fmla="*/ 152 w 211"/>
                  <a:gd name="T13" fmla="*/ 0 h 211"/>
                  <a:gd name="T14" fmla="*/ 211 w 211"/>
                  <a:gd name="T15" fmla="*/ 60 h 211"/>
                  <a:gd name="T16" fmla="*/ 211 w 211"/>
                  <a:gd name="T17" fmla="*/ 152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1" h="211">
                    <a:moveTo>
                      <a:pt x="211" y="152"/>
                    </a:moveTo>
                    <a:cubicBezTo>
                      <a:pt x="211" y="184"/>
                      <a:pt x="184" y="211"/>
                      <a:pt x="152" y="211"/>
                    </a:cubicBezTo>
                    <a:cubicBezTo>
                      <a:pt x="60" y="211"/>
                      <a:pt x="60" y="211"/>
                      <a:pt x="60" y="211"/>
                    </a:cubicBezTo>
                    <a:cubicBezTo>
                      <a:pt x="27" y="211"/>
                      <a:pt x="0" y="184"/>
                      <a:pt x="0" y="152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184" y="0"/>
                      <a:pt x="211" y="27"/>
                      <a:pt x="211" y="60"/>
                    </a:cubicBezTo>
                    <a:lnTo>
                      <a:pt x="211" y="15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23" name="Freeform 297">
                <a:extLst>
                  <a:ext uri="{FF2B5EF4-FFF2-40B4-BE49-F238E27FC236}">
                    <a16:creationId xmlns:a16="http://schemas.microsoft.com/office/drawing/2014/main" id="{D8E02528-951F-544A-6338-1B44A88FA0F8}"/>
                  </a:ext>
                </a:extLst>
              </p:cNvPr>
              <p:cNvSpPr/>
              <p:nvPr/>
            </p:nvSpPr>
            <p:spPr bwMode="auto">
              <a:xfrm>
                <a:off x="4720213" y="2048031"/>
                <a:ext cx="406965" cy="405334"/>
              </a:xfrm>
              <a:custGeom>
                <a:avLst/>
                <a:gdLst>
                  <a:gd name="T0" fmla="*/ 211 w 211"/>
                  <a:gd name="T1" fmla="*/ 151 h 210"/>
                  <a:gd name="T2" fmla="*/ 151 w 211"/>
                  <a:gd name="T3" fmla="*/ 210 h 210"/>
                  <a:gd name="T4" fmla="*/ 60 w 211"/>
                  <a:gd name="T5" fmla="*/ 210 h 210"/>
                  <a:gd name="T6" fmla="*/ 0 w 211"/>
                  <a:gd name="T7" fmla="*/ 151 h 210"/>
                  <a:gd name="T8" fmla="*/ 0 w 211"/>
                  <a:gd name="T9" fmla="*/ 59 h 210"/>
                  <a:gd name="T10" fmla="*/ 60 w 211"/>
                  <a:gd name="T11" fmla="*/ 0 h 210"/>
                  <a:gd name="T12" fmla="*/ 151 w 211"/>
                  <a:gd name="T13" fmla="*/ 0 h 210"/>
                  <a:gd name="T14" fmla="*/ 211 w 211"/>
                  <a:gd name="T15" fmla="*/ 59 h 210"/>
                  <a:gd name="T16" fmla="*/ 211 w 211"/>
                  <a:gd name="T17" fmla="*/ 151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1" h="210">
                    <a:moveTo>
                      <a:pt x="211" y="151"/>
                    </a:moveTo>
                    <a:cubicBezTo>
                      <a:pt x="211" y="184"/>
                      <a:pt x="184" y="210"/>
                      <a:pt x="151" y="210"/>
                    </a:cubicBezTo>
                    <a:cubicBezTo>
                      <a:pt x="60" y="210"/>
                      <a:pt x="60" y="210"/>
                      <a:pt x="60" y="210"/>
                    </a:cubicBezTo>
                    <a:cubicBezTo>
                      <a:pt x="27" y="210"/>
                      <a:pt x="0" y="184"/>
                      <a:pt x="0" y="15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84" y="0"/>
                      <a:pt x="211" y="27"/>
                      <a:pt x="211" y="59"/>
                    </a:cubicBezTo>
                    <a:lnTo>
                      <a:pt x="211" y="15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25" name="Freeform 299">
                <a:extLst>
                  <a:ext uri="{FF2B5EF4-FFF2-40B4-BE49-F238E27FC236}">
                    <a16:creationId xmlns:a16="http://schemas.microsoft.com/office/drawing/2014/main" id="{6C362736-8BF5-0B6E-E3D0-3C91DD808A97}"/>
                  </a:ext>
                </a:extLst>
              </p:cNvPr>
              <p:cNvSpPr/>
              <p:nvPr/>
            </p:nvSpPr>
            <p:spPr bwMode="auto">
              <a:xfrm>
                <a:off x="4701455" y="4017612"/>
                <a:ext cx="445297" cy="447743"/>
              </a:xfrm>
              <a:custGeom>
                <a:avLst/>
                <a:gdLst>
                  <a:gd name="T0" fmla="*/ 231 w 231"/>
                  <a:gd name="T1" fmla="*/ 116 h 232"/>
                  <a:gd name="T2" fmla="*/ 115 w 231"/>
                  <a:gd name="T3" fmla="*/ 232 h 232"/>
                  <a:gd name="T4" fmla="*/ 0 w 231"/>
                  <a:gd name="T5" fmla="*/ 116 h 232"/>
                  <a:gd name="T6" fmla="*/ 116 w 231"/>
                  <a:gd name="T7" fmla="*/ 0 h 232"/>
                  <a:gd name="T8" fmla="*/ 231 w 231"/>
                  <a:gd name="T9" fmla="*/ 116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2">
                    <a:moveTo>
                      <a:pt x="231" y="116"/>
                    </a:moveTo>
                    <a:cubicBezTo>
                      <a:pt x="231" y="180"/>
                      <a:pt x="179" y="232"/>
                      <a:pt x="115" y="232"/>
                    </a:cubicBezTo>
                    <a:cubicBezTo>
                      <a:pt x="51" y="232"/>
                      <a:pt x="0" y="180"/>
                      <a:pt x="0" y="116"/>
                    </a:cubicBezTo>
                    <a:cubicBezTo>
                      <a:pt x="0" y="52"/>
                      <a:pt x="52" y="0"/>
                      <a:pt x="116" y="0"/>
                    </a:cubicBezTo>
                    <a:cubicBezTo>
                      <a:pt x="180" y="0"/>
                      <a:pt x="231" y="52"/>
                      <a:pt x="231" y="1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27" name="Freeform 303">
                <a:extLst>
                  <a:ext uri="{FF2B5EF4-FFF2-40B4-BE49-F238E27FC236}">
                    <a16:creationId xmlns:a16="http://schemas.microsoft.com/office/drawing/2014/main" id="{FF15C3B9-6D04-6E26-C106-2C4C9CBB2710}"/>
                  </a:ext>
                </a:extLst>
              </p:cNvPr>
              <p:cNvSpPr/>
              <p:nvPr/>
            </p:nvSpPr>
            <p:spPr bwMode="auto">
              <a:xfrm>
                <a:off x="4252080" y="3458137"/>
                <a:ext cx="404519" cy="405334"/>
              </a:xfrm>
              <a:custGeom>
                <a:avLst/>
                <a:gdLst>
                  <a:gd name="T0" fmla="*/ 210 w 210"/>
                  <a:gd name="T1" fmla="*/ 151 h 210"/>
                  <a:gd name="T2" fmla="*/ 151 w 210"/>
                  <a:gd name="T3" fmla="*/ 210 h 210"/>
                  <a:gd name="T4" fmla="*/ 59 w 210"/>
                  <a:gd name="T5" fmla="*/ 210 h 210"/>
                  <a:gd name="T6" fmla="*/ 0 w 210"/>
                  <a:gd name="T7" fmla="*/ 151 h 210"/>
                  <a:gd name="T8" fmla="*/ 0 w 210"/>
                  <a:gd name="T9" fmla="*/ 59 h 210"/>
                  <a:gd name="T10" fmla="*/ 59 w 210"/>
                  <a:gd name="T11" fmla="*/ 0 h 210"/>
                  <a:gd name="T12" fmla="*/ 151 w 210"/>
                  <a:gd name="T13" fmla="*/ 0 h 210"/>
                  <a:gd name="T14" fmla="*/ 210 w 210"/>
                  <a:gd name="T15" fmla="*/ 59 h 210"/>
                  <a:gd name="T16" fmla="*/ 210 w 210"/>
                  <a:gd name="T17" fmla="*/ 151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0" h="210">
                    <a:moveTo>
                      <a:pt x="210" y="151"/>
                    </a:moveTo>
                    <a:cubicBezTo>
                      <a:pt x="210" y="183"/>
                      <a:pt x="183" y="210"/>
                      <a:pt x="151" y="210"/>
                    </a:cubicBezTo>
                    <a:cubicBezTo>
                      <a:pt x="59" y="210"/>
                      <a:pt x="59" y="210"/>
                      <a:pt x="59" y="210"/>
                    </a:cubicBezTo>
                    <a:cubicBezTo>
                      <a:pt x="26" y="210"/>
                      <a:pt x="0" y="183"/>
                      <a:pt x="0" y="15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6"/>
                      <a:pt x="26" y="0"/>
                      <a:pt x="59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83" y="0"/>
                      <a:pt x="210" y="26"/>
                      <a:pt x="210" y="59"/>
                    </a:cubicBezTo>
                    <a:lnTo>
                      <a:pt x="210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29" name="Freeform 305">
                <a:extLst>
                  <a:ext uri="{FF2B5EF4-FFF2-40B4-BE49-F238E27FC236}">
                    <a16:creationId xmlns:a16="http://schemas.microsoft.com/office/drawing/2014/main" id="{AB7609AA-315E-DB47-D0B1-C2EB9C732527}"/>
                  </a:ext>
                </a:extLst>
              </p:cNvPr>
              <p:cNvSpPr/>
              <p:nvPr/>
            </p:nvSpPr>
            <p:spPr bwMode="auto">
              <a:xfrm>
                <a:off x="4252080" y="2516979"/>
                <a:ext cx="404519" cy="406965"/>
              </a:xfrm>
              <a:custGeom>
                <a:avLst/>
                <a:gdLst>
                  <a:gd name="T0" fmla="*/ 210 w 210"/>
                  <a:gd name="T1" fmla="*/ 152 h 211"/>
                  <a:gd name="T2" fmla="*/ 151 w 210"/>
                  <a:gd name="T3" fmla="*/ 211 h 211"/>
                  <a:gd name="T4" fmla="*/ 59 w 210"/>
                  <a:gd name="T5" fmla="*/ 211 h 211"/>
                  <a:gd name="T6" fmla="*/ 0 w 210"/>
                  <a:gd name="T7" fmla="*/ 152 h 211"/>
                  <a:gd name="T8" fmla="*/ 0 w 210"/>
                  <a:gd name="T9" fmla="*/ 60 h 211"/>
                  <a:gd name="T10" fmla="*/ 59 w 210"/>
                  <a:gd name="T11" fmla="*/ 0 h 211"/>
                  <a:gd name="T12" fmla="*/ 151 w 210"/>
                  <a:gd name="T13" fmla="*/ 0 h 211"/>
                  <a:gd name="T14" fmla="*/ 210 w 210"/>
                  <a:gd name="T15" fmla="*/ 60 h 211"/>
                  <a:gd name="T16" fmla="*/ 210 w 210"/>
                  <a:gd name="T17" fmla="*/ 152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0" h="211">
                    <a:moveTo>
                      <a:pt x="210" y="152"/>
                    </a:moveTo>
                    <a:cubicBezTo>
                      <a:pt x="210" y="184"/>
                      <a:pt x="183" y="211"/>
                      <a:pt x="151" y="211"/>
                    </a:cubicBezTo>
                    <a:cubicBezTo>
                      <a:pt x="59" y="211"/>
                      <a:pt x="59" y="211"/>
                      <a:pt x="59" y="211"/>
                    </a:cubicBezTo>
                    <a:cubicBezTo>
                      <a:pt x="26" y="211"/>
                      <a:pt x="0" y="184"/>
                      <a:pt x="0" y="152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26" y="0"/>
                      <a:pt x="59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83" y="0"/>
                      <a:pt x="210" y="27"/>
                      <a:pt x="210" y="60"/>
                    </a:cubicBezTo>
                    <a:lnTo>
                      <a:pt x="210" y="15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8FB64640-8BDD-FA37-E7EB-B60C061B34C8}"/>
                  </a:ext>
                </a:extLst>
              </p:cNvPr>
              <p:cNvGrpSpPr/>
              <p:nvPr/>
            </p:nvGrpSpPr>
            <p:grpSpPr>
              <a:xfrm>
                <a:off x="5788598" y="2192385"/>
                <a:ext cx="1120582" cy="1977737"/>
                <a:chOff x="5788598" y="2192385"/>
                <a:chExt cx="1120582" cy="1977737"/>
              </a:xfrm>
            </p:grpSpPr>
            <p:sp>
              <p:nvSpPr>
                <p:cNvPr id="132" name="Freeform 119">
                  <a:extLst>
                    <a:ext uri="{FF2B5EF4-FFF2-40B4-BE49-F238E27FC236}">
                      <a16:creationId xmlns:a16="http://schemas.microsoft.com/office/drawing/2014/main" id="{6C06233F-1B4C-B1F3-8121-7DB5AC7933E1}"/>
                    </a:ext>
                  </a:extLst>
                </p:cNvPr>
                <p:cNvSpPr/>
                <p:nvPr/>
              </p:nvSpPr>
              <p:spPr bwMode="auto">
                <a:xfrm>
                  <a:off x="5788598" y="2192385"/>
                  <a:ext cx="1120582" cy="1977737"/>
                </a:xfrm>
                <a:custGeom>
                  <a:avLst/>
                  <a:gdLst>
                    <a:gd name="T0" fmla="*/ 581 w 581"/>
                    <a:gd name="T1" fmla="*/ 960 h 1025"/>
                    <a:gd name="T2" fmla="*/ 516 w 581"/>
                    <a:gd name="T3" fmla="*/ 1025 h 1025"/>
                    <a:gd name="T4" fmla="*/ 64 w 581"/>
                    <a:gd name="T5" fmla="*/ 1025 h 1025"/>
                    <a:gd name="T6" fmla="*/ 0 w 581"/>
                    <a:gd name="T7" fmla="*/ 960 h 1025"/>
                    <a:gd name="T8" fmla="*/ 0 w 581"/>
                    <a:gd name="T9" fmla="*/ 65 h 1025"/>
                    <a:gd name="T10" fmla="*/ 64 w 581"/>
                    <a:gd name="T11" fmla="*/ 0 h 1025"/>
                    <a:gd name="T12" fmla="*/ 516 w 581"/>
                    <a:gd name="T13" fmla="*/ 0 h 1025"/>
                    <a:gd name="T14" fmla="*/ 581 w 581"/>
                    <a:gd name="T15" fmla="*/ 65 h 1025"/>
                    <a:gd name="T16" fmla="*/ 581 w 581"/>
                    <a:gd name="T17" fmla="*/ 960 h 10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1" h="1025">
                      <a:moveTo>
                        <a:pt x="581" y="960"/>
                      </a:moveTo>
                      <a:cubicBezTo>
                        <a:pt x="581" y="995"/>
                        <a:pt x="552" y="1025"/>
                        <a:pt x="516" y="1025"/>
                      </a:cubicBezTo>
                      <a:cubicBezTo>
                        <a:pt x="64" y="1025"/>
                        <a:pt x="64" y="1025"/>
                        <a:pt x="64" y="1025"/>
                      </a:cubicBezTo>
                      <a:cubicBezTo>
                        <a:pt x="29" y="1025"/>
                        <a:pt x="0" y="995"/>
                        <a:pt x="0" y="960"/>
                      </a:cubicBezTo>
                      <a:cubicBezTo>
                        <a:pt x="0" y="65"/>
                        <a:pt x="0" y="65"/>
                        <a:pt x="0" y="65"/>
                      </a:cubicBezTo>
                      <a:cubicBezTo>
                        <a:pt x="0" y="29"/>
                        <a:pt x="29" y="0"/>
                        <a:pt x="64" y="0"/>
                      </a:cubicBezTo>
                      <a:cubicBezTo>
                        <a:pt x="516" y="0"/>
                        <a:pt x="516" y="0"/>
                        <a:pt x="516" y="0"/>
                      </a:cubicBezTo>
                      <a:cubicBezTo>
                        <a:pt x="552" y="0"/>
                        <a:pt x="581" y="29"/>
                        <a:pt x="581" y="65"/>
                      </a:cubicBezTo>
                      <a:lnTo>
                        <a:pt x="581" y="96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32E47FEE-49E8-2738-B12F-89DCF5D1D3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56290" y="2528396"/>
                  <a:ext cx="985198" cy="13734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34" name="Freeform 121">
                  <a:extLst>
                    <a:ext uri="{FF2B5EF4-FFF2-40B4-BE49-F238E27FC236}">
                      <a16:creationId xmlns:a16="http://schemas.microsoft.com/office/drawing/2014/main" id="{7752D775-7F00-302B-3109-DDB1F730AFB5}"/>
                    </a:ext>
                  </a:extLst>
                </p:cNvPr>
                <p:cNvSpPr/>
                <p:nvPr/>
              </p:nvSpPr>
              <p:spPr bwMode="auto">
                <a:xfrm>
                  <a:off x="6263255" y="3955630"/>
                  <a:ext cx="169637" cy="169637"/>
                </a:xfrm>
                <a:custGeom>
                  <a:avLst/>
                  <a:gdLst>
                    <a:gd name="T0" fmla="*/ 88 w 88"/>
                    <a:gd name="T1" fmla="*/ 44 h 88"/>
                    <a:gd name="T2" fmla="*/ 44 w 88"/>
                    <a:gd name="T3" fmla="*/ 88 h 88"/>
                    <a:gd name="T4" fmla="*/ 0 w 88"/>
                    <a:gd name="T5" fmla="*/ 44 h 88"/>
                    <a:gd name="T6" fmla="*/ 44 w 88"/>
                    <a:gd name="T7" fmla="*/ 0 h 88"/>
                    <a:gd name="T8" fmla="*/ 88 w 88"/>
                    <a:gd name="T9" fmla="*/ 4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8" h="88">
                      <a:moveTo>
                        <a:pt x="88" y="44"/>
                      </a:moveTo>
                      <a:cubicBezTo>
                        <a:pt x="88" y="69"/>
                        <a:pt x="69" y="88"/>
                        <a:pt x="44" y="88"/>
                      </a:cubicBez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9" y="0"/>
                        <a:pt x="88" y="20"/>
                        <a:pt x="88" y="4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35" name="Freeform 122">
                  <a:extLst>
                    <a:ext uri="{FF2B5EF4-FFF2-40B4-BE49-F238E27FC236}">
                      <a16:creationId xmlns:a16="http://schemas.microsoft.com/office/drawing/2014/main" id="{300151C1-0D38-5F11-4164-EB2E0131BAE1}"/>
                    </a:ext>
                  </a:extLst>
                </p:cNvPr>
                <p:cNvSpPr/>
                <p:nvPr/>
              </p:nvSpPr>
              <p:spPr bwMode="auto">
                <a:xfrm>
                  <a:off x="6650647" y="2308195"/>
                  <a:ext cx="98683" cy="98683"/>
                </a:xfrm>
                <a:custGeom>
                  <a:avLst/>
                  <a:gdLst>
                    <a:gd name="T0" fmla="*/ 51 w 51"/>
                    <a:gd name="T1" fmla="*/ 26 h 51"/>
                    <a:gd name="T2" fmla="*/ 25 w 51"/>
                    <a:gd name="T3" fmla="*/ 51 h 51"/>
                    <a:gd name="T4" fmla="*/ 0 w 51"/>
                    <a:gd name="T5" fmla="*/ 25 h 51"/>
                    <a:gd name="T6" fmla="*/ 25 w 51"/>
                    <a:gd name="T7" fmla="*/ 0 h 51"/>
                    <a:gd name="T8" fmla="*/ 51 w 51"/>
                    <a:gd name="T9" fmla="*/ 26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1" h="51">
                      <a:moveTo>
                        <a:pt x="51" y="26"/>
                      </a:moveTo>
                      <a:cubicBezTo>
                        <a:pt x="51" y="40"/>
                        <a:pt x="40" y="51"/>
                        <a:pt x="25" y="51"/>
                      </a:cubicBezTo>
                      <a:cubicBezTo>
                        <a:pt x="11" y="51"/>
                        <a:pt x="0" y="40"/>
                        <a:pt x="0" y="25"/>
                      </a:cubicBezTo>
                      <a:cubicBezTo>
                        <a:pt x="0" y="11"/>
                        <a:pt x="11" y="0"/>
                        <a:pt x="25" y="0"/>
                      </a:cubicBezTo>
                      <a:cubicBezTo>
                        <a:pt x="40" y="0"/>
                        <a:pt x="51" y="11"/>
                        <a:pt x="51" y="2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C11CB975-2332-1DFB-0145-72E569BDFA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18272" y="2350604"/>
                  <a:ext cx="601069" cy="40778"/>
                </a:xfrm>
                <a:prstGeom prst="rect">
                  <a:avLst/>
                </a:prstGeom>
                <a:solidFill>
                  <a:schemeClr val="bg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37" name="Freeform 124">
                  <a:extLst>
                    <a:ext uri="{FF2B5EF4-FFF2-40B4-BE49-F238E27FC236}">
                      <a16:creationId xmlns:a16="http://schemas.microsoft.com/office/drawing/2014/main" id="{E6465466-8811-784B-7BAA-C071A3F6CEED}"/>
                    </a:ext>
                  </a:extLst>
                </p:cNvPr>
                <p:cNvSpPr/>
                <p:nvPr/>
              </p:nvSpPr>
              <p:spPr bwMode="auto">
                <a:xfrm>
                  <a:off x="5923981" y="2630342"/>
                  <a:ext cx="221833" cy="221833"/>
                </a:xfrm>
                <a:custGeom>
                  <a:avLst/>
                  <a:gdLst>
                    <a:gd name="T0" fmla="*/ 115 w 115"/>
                    <a:gd name="T1" fmla="*/ 82 h 115"/>
                    <a:gd name="T2" fmla="*/ 83 w 115"/>
                    <a:gd name="T3" fmla="*/ 115 h 115"/>
                    <a:gd name="T4" fmla="*/ 33 w 115"/>
                    <a:gd name="T5" fmla="*/ 115 h 115"/>
                    <a:gd name="T6" fmla="*/ 0 w 115"/>
                    <a:gd name="T7" fmla="*/ 82 h 115"/>
                    <a:gd name="T8" fmla="*/ 0 w 115"/>
                    <a:gd name="T9" fmla="*/ 32 h 115"/>
                    <a:gd name="T10" fmla="*/ 33 w 115"/>
                    <a:gd name="T11" fmla="*/ 0 h 115"/>
                    <a:gd name="T12" fmla="*/ 83 w 115"/>
                    <a:gd name="T13" fmla="*/ 0 h 115"/>
                    <a:gd name="T14" fmla="*/ 115 w 115"/>
                    <a:gd name="T15" fmla="*/ 32 h 115"/>
                    <a:gd name="T16" fmla="*/ 115 w 115"/>
                    <a:gd name="T17" fmla="*/ 82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5" h="115">
                      <a:moveTo>
                        <a:pt x="115" y="82"/>
                      </a:moveTo>
                      <a:cubicBezTo>
                        <a:pt x="115" y="100"/>
                        <a:pt x="101" y="115"/>
                        <a:pt x="83" y="115"/>
                      </a:cubicBezTo>
                      <a:cubicBezTo>
                        <a:pt x="33" y="115"/>
                        <a:pt x="33" y="115"/>
                        <a:pt x="33" y="115"/>
                      </a:cubicBezTo>
                      <a:cubicBezTo>
                        <a:pt x="15" y="115"/>
                        <a:pt x="0" y="100"/>
                        <a:pt x="0" y="82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0" y="14"/>
                        <a:pt x="15" y="0"/>
                        <a:pt x="33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101" y="0"/>
                        <a:pt x="115" y="14"/>
                        <a:pt x="115" y="32"/>
                      </a:cubicBezTo>
                      <a:lnTo>
                        <a:pt x="115" y="8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38" name="Freeform 125">
                  <a:extLst>
                    <a:ext uri="{FF2B5EF4-FFF2-40B4-BE49-F238E27FC236}">
                      <a16:creationId xmlns:a16="http://schemas.microsoft.com/office/drawing/2014/main" id="{82B68EAE-C0AE-3D01-40FD-FF791383D038}"/>
                    </a:ext>
                  </a:extLst>
                </p:cNvPr>
                <p:cNvSpPr/>
                <p:nvPr/>
              </p:nvSpPr>
              <p:spPr bwMode="auto">
                <a:xfrm>
                  <a:off x="6237973" y="2630342"/>
                  <a:ext cx="221833" cy="221833"/>
                </a:xfrm>
                <a:custGeom>
                  <a:avLst/>
                  <a:gdLst>
                    <a:gd name="T0" fmla="*/ 115 w 115"/>
                    <a:gd name="T1" fmla="*/ 82 h 115"/>
                    <a:gd name="T2" fmla="*/ 82 w 115"/>
                    <a:gd name="T3" fmla="*/ 115 h 115"/>
                    <a:gd name="T4" fmla="*/ 32 w 115"/>
                    <a:gd name="T5" fmla="*/ 115 h 115"/>
                    <a:gd name="T6" fmla="*/ 0 w 115"/>
                    <a:gd name="T7" fmla="*/ 82 h 115"/>
                    <a:gd name="T8" fmla="*/ 0 w 115"/>
                    <a:gd name="T9" fmla="*/ 32 h 115"/>
                    <a:gd name="T10" fmla="*/ 32 w 115"/>
                    <a:gd name="T11" fmla="*/ 0 h 115"/>
                    <a:gd name="T12" fmla="*/ 82 w 115"/>
                    <a:gd name="T13" fmla="*/ 0 h 115"/>
                    <a:gd name="T14" fmla="*/ 115 w 115"/>
                    <a:gd name="T15" fmla="*/ 32 h 115"/>
                    <a:gd name="T16" fmla="*/ 115 w 115"/>
                    <a:gd name="T17" fmla="*/ 82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5" h="115">
                      <a:moveTo>
                        <a:pt x="115" y="82"/>
                      </a:moveTo>
                      <a:cubicBezTo>
                        <a:pt x="115" y="100"/>
                        <a:pt x="100" y="115"/>
                        <a:pt x="82" y="115"/>
                      </a:cubicBezTo>
                      <a:cubicBezTo>
                        <a:pt x="32" y="115"/>
                        <a:pt x="32" y="115"/>
                        <a:pt x="32" y="115"/>
                      </a:cubicBezTo>
                      <a:cubicBezTo>
                        <a:pt x="14" y="115"/>
                        <a:pt x="0" y="100"/>
                        <a:pt x="0" y="82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0" y="14"/>
                        <a:pt x="14" y="0"/>
                        <a:pt x="32" y="0"/>
                      </a:cubicBez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100" y="0"/>
                        <a:pt x="115" y="14"/>
                        <a:pt x="115" y="32"/>
                      </a:cubicBezTo>
                      <a:lnTo>
                        <a:pt x="115" y="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39" name="Freeform 126">
                  <a:extLst>
                    <a:ext uri="{FF2B5EF4-FFF2-40B4-BE49-F238E27FC236}">
                      <a16:creationId xmlns:a16="http://schemas.microsoft.com/office/drawing/2014/main" id="{862B2C7B-9521-D697-DEFC-7A07F3FE0106}"/>
                    </a:ext>
                  </a:extLst>
                </p:cNvPr>
                <p:cNvSpPr/>
                <p:nvPr/>
              </p:nvSpPr>
              <p:spPr bwMode="auto">
                <a:xfrm>
                  <a:off x="6550333" y="2630342"/>
                  <a:ext cx="221833" cy="221833"/>
                </a:xfrm>
                <a:custGeom>
                  <a:avLst/>
                  <a:gdLst>
                    <a:gd name="T0" fmla="*/ 115 w 115"/>
                    <a:gd name="T1" fmla="*/ 82 h 115"/>
                    <a:gd name="T2" fmla="*/ 83 w 115"/>
                    <a:gd name="T3" fmla="*/ 115 h 115"/>
                    <a:gd name="T4" fmla="*/ 33 w 115"/>
                    <a:gd name="T5" fmla="*/ 115 h 115"/>
                    <a:gd name="T6" fmla="*/ 0 w 115"/>
                    <a:gd name="T7" fmla="*/ 82 h 115"/>
                    <a:gd name="T8" fmla="*/ 0 w 115"/>
                    <a:gd name="T9" fmla="*/ 32 h 115"/>
                    <a:gd name="T10" fmla="*/ 33 w 115"/>
                    <a:gd name="T11" fmla="*/ 0 h 115"/>
                    <a:gd name="T12" fmla="*/ 83 w 115"/>
                    <a:gd name="T13" fmla="*/ 0 h 115"/>
                    <a:gd name="T14" fmla="*/ 115 w 115"/>
                    <a:gd name="T15" fmla="*/ 32 h 115"/>
                    <a:gd name="T16" fmla="*/ 115 w 115"/>
                    <a:gd name="T17" fmla="*/ 82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5" h="115">
                      <a:moveTo>
                        <a:pt x="115" y="82"/>
                      </a:moveTo>
                      <a:cubicBezTo>
                        <a:pt x="115" y="100"/>
                        <a:pt x="101" y="115"/>
                        <a:pt x="83" y="115"/>
                      </a:cubicBezTo>
                      <a:cubicBezTo>
                        <a:pt x="33" y="115"/>
                        <a:pt x="33" y="115"/>
                        <a:pt x="33" y="115"/>
                      </a:cubicBezTo>
                      <a:cubicBezTo>
                        <a:pt x="15" y="115"/>
                        <a:pt x="0" y="100"/>
                        <a:pt x="0" y="82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0" y="14"/>
                        <a:pt x="15" y="0"/>
                        <a:pt x="33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101" y="0"/>
                        <a:pt x="115" y="14"/>
                        <a:pt x="115" y="32"/>
                      </a:cubicBezTo>
                      <a:lnTo>
                        <a:pt x="115" y="8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0" name="Freeform 127">
                  <a:extLst>
                    <a:ext uri="{FF2B5EF4-FFF2-40B4-BE49-F238E27FC236}">
                      <a16:creationId xmlns:a16="http://schemas.microsoft.com/office/drawing/2014/main" id="{73F2BCC7-7D05-B4DA-40A2-BB77E8C6C968}"/>
                    </a:ext>
                  </a:extLst>
                </p:cNvPr>
                <p:cNvSpPr/>
                <p:nvPr/>
              </p:nvSpPr>
              <p:spPr bwMode="auto">
                <a:xfrm>
                  <a:off x="5923981" y="2942702"/>
                  <a:ext cx="221833" cy="221833"/>
                </a:xfrm>
                <a:custGeom>
                  <a:avLst/>
                  <a:gdLst>
                    <a:gd name="T0" fmla="*/ 115 w 115"/>
                    <a:gd name="T1" fmla="*/ 83 h 115"/>
                    <a:gd name="T2" fmla="*/ 83 w 115"/>
                    <a:gd name="T3" fmla="*/ 115 h 115"/>
                    <a:gd name="T4" fmla="*/ 33 w 115"/>
                    <a:gd name="T5" fmla="*/ 115 h 115"/>
                    <a:gd name="T6" fmla="*/ 0 w 115"/>
                    <a:gd name="T7" fmla="*/ 83 h 115"/>
                    <a:gd name="T8" fmla="*/ 0 w 115"/>
                    <a:gd name="T9" fmla="*/ 33 h 115"/>
                    <a:gd name="T10" fmla="*/ 33 w 115"/>
                    <a:gd name="T11" fmla="*/ 0 h 115"/>
                    <a:gd name="T12" fmla="*/ 83 w 115"/>
                    <a:gd name="T13" fmla="*/ 0 h 115"/>
                    <a:gd name="T14" fmla="*/ 115 w 115"/>
                    <a:gd name="T15" fmla="*/ 33 h 115"/>
                    <a:gd name="T16" fmla="*/ 115 w 115"/>
                    <a:gd name="T17" fmla="*/ 83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5" h="115">
                      <a:moveTo>
                        <a:pt x="115" y="83"/>
                      </a:moveTo>
                      <a:cubicBezTo>
                        <a:pt x="115" y="100"/>
                        <a:pt x="101" y="115"/>
                        <a:pt x="83" y="115"/>
                      </a:cubicBezTo>
                      <a:cubicBezTo>
                        <a:pt x="33" y="115"/>
                        <a:pt x="33" y="115"/>
                        <a:pt x="33" y="115"/>
                      </a:cubicBezTo>
                      <a:cubicBezTo>
                        <a:pt x="15" y="115"/>
                        <a:pt x="0" y="100"/>
                        <a:pt x="0" y="83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15"/>
                        <a:pt x="15" y="0"/>
                        <a:pt x="33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101" y="0"/>
                        <a:pt x="115" y="15"/>
                        <a:pt x="115" y="33"/>
                      </a:cubicBezTo>
                      <a:lnTo>
                        <a:pt x="115" y="8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1" name="Freeform 128">
                  <a:extLst>
                    <a:ext uri="{FF2B5EF4-FFF2-40B4-BE49-F238E27FC236}">
                      <a16:creationId xmlns:a16="http://schemas.microsoft.com/office/drawing/2014/main" id="{ACCC3FD4-0A65-F775-795F-EB17333CF44B}"/>
                    </a:ext>
                  </a:extLst>
                </p:cNvPr>
                <p:cNvSpPr/>
                <p:nvPr/>
              </p:nvSpPr>
              <p:spPr bwMode="auto">
                <a:xfrm>
                  <a:off x="6237973" y="2942702"/>
                  <a:ext cx="221833" cy="221833"/>
                </a:xfrm>
                <a:custGeom>
                  <a:avLst/>
                  <a:gdLst>
                    <a:gd name="T0" fmla="*/ 115 w 115"/>
                    <a:gd name="T1" fmla="*/ 83 h 115"/>
                    <a:gd name="T2" fmla="*/ 82 w 115"/>
                    <a:gd name="T3" fmla="*/ 115 h 115"/>
                    <a:gd name="T4" fmla="*/ 32 w 115"/>
                    <a:gd name="T5" fmla="*/ 115 h 115"/>
                    <a:gd name="T6" fmla="*/ 0 w 115"/>
                    <a:gd name="T7" fmla="*/ 83 h 115"/>
                    <a:gd name="T8" fmla="*/ 0 w 115"/>
                    <a:gd name="T9" fmla="*/ 33 h 115"/>
                    <a:gd name="T10" fmla="*/ 32 w 115"/>
                    <a:gd name="T11" fmla="*/ 0 h 115"/>
                    <a:gd name="T12" fmla="*/ 82 w 115"/>
                    <a:gd name="T13" fmla="*/ 0 h 115"/>
                    <a:gd name="T14" fmla="*/ 115 w 115"/>
                    <a:gd name="T15" fmla="*/ 33 h 115"/>
                    <a:gd name="T16" fmla="*/ 115 w 115"/>
                    <a:gd name="T17" fmla="*/ 83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5" h="115">
                      <a:moveTo>
                        <a:pt x="115" y="83"/>
                      </a:moveTo>
                      <a:cubicBezTo>
                        <a:pt x="115" y="100"/>
                        <a:pt x="100" y="115"/>
                        <a:pt x="82" y="115"/>
                      </a:cubicBezTo>
                      <a:cubicBezTo>
                        <a:pt x="32" y="115"/>
                        <a:pt x="32" y="115"/>
                        <a:pt x="32" y="115"/>
                      </a:cubicBezTo>
                      <a:cubicBezTo>
                        <a:pt x="14" y="115"/>
                        <a:pt x="0" y="100"/>
                        <a:pt x="0" y="83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15"/>
                        <a:pt x="14" y="0"/>
                        <a:pt x="32" y="0"/>
                      </a:cubicBez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100" y="0"/>
                        <a:pt x="115" y="15"/>
                        <a:pt x="115" y="33"/>
                      </a:cubicBezTo>
                      <a:lnTo>
                        <a:pt x="115" y="8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2" name="Freeform 129">
                  <a:extLst>
                    <a:ext uri="{FF2B5EF4-FFF2-40B4-BE49-F238E27FC236}">
                      <a16:creationId xmlns:a16="http://schemas.microsoft.com/office/drawing/2014/main" id="{E6827F71-6F0F-3AED-A66B-E01260F94ECF}"/>
                    </a:ext>
                  </a:extLst>
                </p:cNvPr>
                <p:cNvSpPr/>
                <p:nvPr/>
              </p:nvSpPr>
              <p:spPr bwMode="auto">
                <a:xfrm>
                  <a:off x="6550333" y="2942702"/>
                  <a:ext cx="221833" cy="221833"/>
                </a:xfrm>
                <a:custGeom>
                  <a:avLst/>
                  <a:gdLst>
                    <a:gd name="T0" fmla="*/ 115 w 115"/>
                    <a:gd name="T1" fmla="*/ 83 h 115"/>
                    <a:gd name="T2" fmla="*/ 83 w 115"/>
                    <a:gd name="T3" fmla="*/ 115 h 115"/>
                    <a:gd name="T4" fmla="*/ 33 w 115"/>
                    <a:gd name="T5" fmla="*/ 115 h 115"/>
                    <a:gd name="T6" fmla="*/ 0 w 115"/>
                    <a:gd name="T7" fmla="*/ 83 h 115"/>
                    <a:gd name="T8" fmla="*/ 0 w 115"/>
                    <a:gd name="T9" fmla="*/ 33 h 115"/>
                    <a:gd name="T10" fmla="*/ 33 w 115"/>
                    <a:gd name="T11" fmla="*/ 0 h 115"/>
                    <a:gd name="T12" fmla="*/ 83 w 115"/>
                    <a:gd name="T13" fmla="*/ 0 h 115"/>
                    <a:gd name="T14" fmla="*/ 115 w 115"/>
                    <a:gd name="T15" fmla="*/ 33 h 115"/>
                    <a:gd name="T16" fmla="*/ 115 w 115"/>
                    <a:gd name="T17" fmla="*/ 83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5" h="115">
                      <a:moveTo>
                        <a:pt x="115" y="83"/>
                      </a:moveTo>
                      <a:cubicBezTo>
                        <a:pt x="115" y="100"/>
                        <a:pt x="101" y="115"/>
                        <a:pt x="83" y="115"/>
                      </a:cubicBezTo>
                      <a:cubicBezTo>
                        <a:pt x="33" y="115"/>
                        <a:pt x="33" y="115"/>
                        <a:pt x="33" y="115"/>
                      </a:cubicBezTo>
                      <a:cubicBezTo>
                        <a:pt x="15" y="115"/>
                        <a:pt x="0" y="100"/>
                        <a:pt x="0" y="83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15"/>
                        <a:pt x="15" y="0"/>
                        <a:pt x="33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101" y="0"/>
                        <a:pt x="115" y="15"/>
                        <a:pt x="115" y="33"/>
                      </a:cubicBezTo>
                      <a:lnTo>
                        <a:pt x="115" y="8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3" name="Freeform 130">
                  <a:extLst>
                    <a:ext uri="{FF2B5EF4-FFF2-40B4-BE49-F238E27FC236}">
                      <a16:creationId xmlns:a16="http://schemas.microsoft.com/office/drawing/2014/main" id="{9F9CDFDE-662D-F2F0-AE80-A0349ED27F0E}"/>
                    </a:ext>
                  </a:extLst>
                </p:cNvPr>
                <p:cNvSpPr/>
                <p:nvPr/>
              </p:nvSpPr>
              <p:spPr bwMode="auto">
                <a:xfrm>
                  <a:off x="5923981" y="3255878"/>
                  <a:ext cx="221833" cy="221833"/>
                </a:xfrm>
                <a:custGeom>
                  <a:avLst/>
                  <a:gdLst>
                    <a:gd name="T0" fmla="*/ 115 w 115"/>
                    <a:gd name="T1" fmla="*/ 83 h 115"/>
                    <a:gd name="T2" fmla="*/ 83 w 115"/>
                    <a:gd name="T3" fmla="*/ 115 h 115"/>
                    <a:gd name="T4" fmla="*/ 33 w 115"/>
                    <a:gd name="T5" fmla="*/ 115 h 115"/>
                    <a:gd name="T6" fmla="*/ 0 w 115"/>
                    <a:gd name="T7" fmla="*/ 83 h 115"/>
                    <a:gd name="T8" fmla="*/ 0 w 115"/>
                    <a:gd name="T9" fmla="*/ 33 h 115"/>
                    <a:gd name="T10" fmla="*/ 33 w 115"/>
                    <a:gd name="T11" fmla="*/ 0 h 115"/>
                    <a:gd name="T12" fmla="*/ 83 w 115"/>
                    <a:gd name="T13" fmla="*/ 0 h 115"/>
                    <a:gd name="T14" fmla="*/ 115 w 115"/>
                    <a:gd name="T15" fmla="*/ 33 h 115"/>
                    <a:gd name="T16" fmla="*/ 115 w 115"/>
                    <a:gd name="T17" fmla="*/ 83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5" h="115">
                      <a:moveTo>
                        <a:pt x="115" y="83"/>
                      </a:moveTo>
                      <a:cubicBezTo>
                        <a:pt x="115" y="101"/>
                        <a:pt x="101" y="115"/>
                        <a:pt x="83" y="115"/>
                      </a:cubicBezTo>
                      <a:cubicBezTo>
                        <a:pt x="33" y="115"/>
                        <a:pt x="33" y="115"/>
                        <a:pt x="33" y="115"/>
                      </a:cubicBezTo>
                      <a:cubicBezTo>
                        <a:pt x="15" y="115"/>
                        <a:pt x="0" y="101"/>
                        <a:pt x="0" y="83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15"/>
                        <a:pt x="15" y="0"/>
                        <a:pt x="33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101" y="0"/>
                        <a:pt x="115" y="15"/>
                        <a:pt x="115" y="33"/>
                      </a:cubicBezTo>
                      <a:lnTo>
                        <a:pt x="115" y="8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4" name="Freeform 131">
                  <a:extLst>
                    <a:ext uri="{FF2B5EF4-FFF2-40B4-BE49-F238E27FC236}">
                      <a16:creationId xmlns:a16="http://schemas.microsoft.com/office/drawing/2014/main" id="{40643AD7-42DB-2115-D6CE-EB173B823948}"/>
                    </a:ext>
                  </a:extLst>
                </p:cNvPr>
                <p:cNvSpPr/>
                <p:nvPr/>
              </p:nvSpPr>
              <p:spPr bwMode="auto">
                <a:xfrm>
                  <a:off x="6550333" y="3255878"/>
                  <a:ext cx="221833" cy="221833"/>
                </a:xfrm>
                <a:custGeom>
                  <a:avLst/>
                  <a:gdLst>
                    <a:gd name="T0" fmla="*/ 115 w 115"/>
                    <a:gd name="T1" fmla="*/ 83 h 115"/>
                    <a:gd name="T2" fmla="*/ 83 w 115"/>
                    <a:gd name="T3" fmla="*/ 115 h 115"/>
                    <a:gd name="T4" fmla="*/ 33 w 115"/>
                    <a:gd name="T5" fmla="*/ 115 h 115"/>
                    <a:gd name="T6" fmla="*/ 0 w 115"/>
                    <a:gd name="T7" fmla="*/ 83 h 115"/>
                    <a:gd name="T8" fmla="*/ 0 w 115"/>
                    <a:gd name="T9" fmla="*/ 33 h 115"/>
                    <a:gd name="T10" fmla="*/ 33 w 115"/>
                    <a:gd name="T11" fmla="*/ 0 h 115"/>
                    <a:gd name="T12" fmla="*/ 83 w 115"/>
                    <a:gd name="T13" fmla="*/ 0 h 115"/>
                    <a:gd name="T14" fmla="*/ 115 w 115"/>
                    <a:gd name="T15" fmla="*/ 33 h 115"/>
                    <a:gd name="T16" fmla="*/ 115 w 115"/>
                    <a:gd name="T17" fmla="*/ 83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5" h="115">
                      <a:moveTo>
                        <a:pt x="115" y="83"/>
                      </a:moveTo>
                      <a:cubicBezTo>
                        <a:pt x="115" y="101"/>
                        <a:pt x="101" y="115"/>
                        <a:pt x="83" y="115"/>
                      </a:cubicBezTo>
                      <a:cubicBezTo>
                        <a:pt x="33" y="115"/>
                        <a:pt x="33" y="115"/>
                        <a:pt x="33" y="115"/>
                      </a:cubicBezTo>
                      <a:cubicBezTo>
                        <a:pt x="15" y="115"/>
                        <a:pt x="0" y="101"/>
                        <a:pt x="0" y="83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15"/>
                        <a:pt x="15" y="0"/>
                        <a:pt x="33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101" y="0"/>
                        <a:pt x="115" y="15"/>
                        <a:pt x="115" y="33"/>
                      </a:cubicBezTo>
                      <a:lnTo>
                        <a:pt x="115" y="8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A63DB875-84C4-9CEA-6E5D-F959E350BA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56290" y="3679970"/>
                  <a:ext cx="985198" cy="221833"/>
                </a:xfrm>
                <a:prstGeom prst="rect">
                  <a:avLst/>
                </a:prstGeom>
                <a:solidFill>
                  <a:schemeClr val="bg2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90F16321-A947-85D8-8271-579CE94D6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3255" y="3702805"/>
                  <a:ext cx="169637" cy="17045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8F747B68-DD9A-45D2-36A3-230DB1C3C2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4246" y="3753370"/>
                  <a:ext cx="30176" cy="309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AC228382-6F27-00B5-3E0A-8BF8DC2013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2578" y="3753370"/>
                  <a:ext cx="32622" cy="309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07B1E8C4-2ED5-917C-5189-4E120013C0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0909" y="3753370"/>
                  <a:ext cx="32622" cy="309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4B1AC77C-86B0-0E96-BACC-14B56366B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4246" y="3791702"/>
                  <a:ext cx="30176" cy="309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DB8AD639-EE68-C9DC-0C2E-E662DF7BB2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2578" y="3791702"/>
                  <a:ext cx="32622" cy="309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C9B5E573-3DC7-33AA-2AEB-0F017E1FF0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0909" y="3791702"/>
                  <a:ext cx="32622" cy="309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6F7D2470-81CC-DB50-D1D2-C5BC97FCB9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50895" y="3702805"/>
                  <a:ext cx="169637" cy="17045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CA53B060-AA69-82FD-D3F3-5C759E44A3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77246" y="3702805"/>
                  <a:ext cx="169637" cy="17045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55" name="Freeform 131">
                  <a:extLst>
                    <a:ext uri="{FF2B5EF4-FFF2-40B4-BE49-F238E27FC236}">
                      <a16:creationId xmlns:a16="http://schemas.microsoft.com/office/drawing/2014/main" id="{1777CFE0-751D-475E-4653-20429D2A33F0}"/>
                    </a:ext>
                  </a:extLst>
                </p:cNvPr>
                <p:cNvSpPr/>
                <p:nvPr/>
              </p:nvSpPr>
              <p:spPr bwMode="auto">
                <a:xfrm>
                  <a:off x="6237156" y="3255878"/>
                  <a:ext cx="221833" cy="221833"/>
                </a:xfrm>
                <a:custGeom>
                  <a:avLst/>
                  <a:gdLst>
                    <a:gd name="T0" fmla="*/ 115 w 115"/>
                    <a:gd name="T1" fmla="*/ 83 h 115"/>
                    <a:gd name="T2" fmla="*/ 83 w 115"/>
                    <a:gd name="T3" fmla="*/ 115 h 115"/>
                    <a:gd name="T4" fmla="*/ 33 w 115"/>
                    <a:gd name="T5" fmla="*/ 115 h 115"/>
                    <a:gd name="T6" fmla="*/ 0 w 115"/>
                    <a:gd name="T7" fmla="*/ 83 h 115"/>
                    <a:gd name="T8" fmla="*/ 0 w 115"/>
                    <a:gd name="T9" fmla="*/ 33 h 115"/>
                    <a:gd name="T10" fmla="*/ 33 w 115"/>
                    <a:gd name="T11" fmla="*/ 0 h 115"/>
                    <a:gd name="T12" fmla="*/ 83 w 115"/>
                    <a:gd name="T13" fmla="*/ 0 h 115"/>
                    <a:gd name="T14" fmla="*/ 115 w 115"/>
                    <a:gd name="T15" fmla="*/ 33 h 115"/>
                    <a:gd name="T16" fmla="*/ 115 w 115"/>
                    <a:gd name="T17" fmla="*/ 83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5" h="115">
                      <a:moveTo>
                        <a:pt x="115" y="83"/>
                      </a:moveTo>
                      <a:cubicBezTo>
                        <a:pt x="115" y="101"/>
                        <a:pt x="101" y="115"/>
                        <a:pt x="83" y="115"/>
                      </a:cubicBezTo>
                      <a:cubicBezTo>
                        <a:pt x="33" y="115"/>
                        <a:pt x="33" y="115"/>
                        <a:pt x="33" y="115"/>
                      </a:cubicBezTo>
                      <a:cubicBezTo>
                        <a:pt x="15" y="115"/>
                        <a:pt x="0" y="101"/>
                        <a:pt x="0" y="83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15"/>
                        <a:pt x="15" y="0"/>
                        <a:pt x="33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101" y="0"/>
                        <a:pt x="115" y="15"/>
                        <a:pt x="115" y="33"/>
                      </a:cubicBezTo>
                      <a:lnTo>
                        <a:pt x="115" y="8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gradFill flip="none" rotWithShape="1">
                    <a:gsLst>
                      <a:gs pos="100000">
                        <a:schemeClr val="bg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DB84F30D-C15C-97E8-C722-D957C5B0715C}"/>
                </a:ext>
              </a:extLst>
            </p:cNvPr>
            <p:cNvGrpSpPr/>
            <p:nvPr/>
          </p:nvGrpSpPr>
          <p:grpSpPr>
            <a:xfrm>
              <a:off x="317978" y="1532346"/>
              <a:ext cx="2186581" cy="1400762"/>
              <a:chOff x="327441" y="1269300"/>
              <a:chExt cx="2186581" cy="1400762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1214B917-DB51-A2F9-E9D1-F42069BB7B20}"/>
                  </a:ext>
                </a:extLst>
              </p:cNvPr>
              <p:cNvSpPr/>
              <p:nvPr/>
            </p:nvSpPr>
            <p:spPr>
              <a:xfrm>
                <a:off x="485738" y="1334157"/>
                <a:ext cx="1572005" cy="133590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latin typeface="Georgia Pro Light" panose="02040302050405020303" pitchFamily="18" charset="0"/>
                  </a:rPr>
                  <a:t>This slide is </a:t>
                </a:r>
                <a:r>
                  <a:rPr lang="en-US" sz="1100" dirty="0">
                    <a:latin typeface="Georgia Pro Light" panose="02040302050405020303" pitchFamily="18" charset="0"/>
                  </a:rPr>
                  <a:t>a</a:t>
                </a:r>
                <a:r>
                  <a:rPr lang="en-US" sz="1100" dirty="0">
                    <a:solidFill>
                      <a:schemeClr val="bg1"/>
                    </a:solidFill>
                  </a:rPr>
                  <a:t> Certified trainers provide tailored fitness plans, with assistance for user queries </a:t>
                </a:r>
                <a:r>
                  <a:rPr lang="en-US" sz="1400" dirty="0">
                    <a:latin typeface="Georgia Pro Light" panose="02040302050405020303" pitchFamily="18" charset="0"/>
                  </a:rPr>
                  <a:t>n editable slide with all your needs.</a:t>
                </a:r>
                <a:endParaRPr lang="en-US" sz="1400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504B0192-ECE7-1E0E-844E-06F8D4CBE58A}"/>
                  </a:ext>
                </a:extLst>
              </p:cNvPr>
              <p:cNvSpPr/>
              <p:nvPr/>
            </p:nvSpPr>
            <p:spPr>
              <a:xfrm>
                <a:off x="327441" y="1269300"/>
                <a:ext cx="2186581" cy="30936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sz="1600" b="1" dirty="0">
                    <a:solidFill>
                      <a:schemeClr val="accent1"/>
                    </a:solidFill>
                    <a:latin typeface="Georgia" panose="02040502050405020303" charset="0"/>
                  </a:rPr>
                  <a:t>24/7  Support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43F89EC-278D-99A3-FA4B-7FFD0E4A8D3E}"/>
                </a:ext>
              </a:extLst>
            </p:cNvPr>
            <p:cNvGrpSpPr/>
            <p:nvPr/>
          </p:nvGrpSpPr>
          <p:grpSpPr>
            <a:xfrm>
              <a:off x="246412" y="2737022"/>
              <a:ext cx="2337367" cy="1056969"/>
              <a:chOff x="255875" y="1232202"/>
              <a:chExt cx="2337367" cy="10569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134A2C2F-EACC-70E2-5C2F-2EDFE8F74FC8}"/>
                  </a:ext>
                </a:extLst>
              </p:cNvPr>
              <p:cNvSpPr/>
              <p:nvPr/>
            </p:nvSpPr>
            <p:spPr>
              <a:xfrm>
                <a:off x="433158" y="1304820"/>
                <a:ext cx="1790819" cy="984351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latin typeface="Georgia Pro Light" panose="02040302050405020303" pitchFamily="18" charset="0"/>
                  </a:rPr>
                  <a:t>This slide is an e</a:t>
                </a:r>
                <a:r>
                  <a:rPr lang="en-US" sz="1100" dirty="0">
                    <a:latin typeface="Georgia Pro Light" panose="02040302050405020303" pitchFamily="18" charset="0"/>
                  </a:rPr>
                  <a:t>d</a:t>
                </a:r>
                <a:r>
                  <a:rPr lang="en-US" sz="1100" dirty="0">
                    <a:solidFill>
                      <a:schemeClr val="bg1"/>
                    </a:solidFill>
                  </a:rPr>
                  <a:t> Track membership, attendance, rewards, and access gym listings </a:t>
                </a:r>
                <a:r>
                  <a:rPr lang="en-US" sz="1400" dirty="0">
                    <a:solidFill>
                      <a:schemeClr val="bg1"/>
                    </a:solidFill>
                    <a:latin typeface="Georgia Pro Light" panose="02040302050405020303" pitchFamily="18" charset="0"/>
                  </a:rPr>
                  <a:t>.</a:t>
                </a:r>
                <a:r>
                  <a:rPr lang="en-US" sz="1400" dirty="0">
                    <a:latin typeface="Georgia Pro Light" panose="02040302050405020303" pitchFamily="18" charset="0"/>
                  </a:rPr>
                  <a:t> with all your needs.</a:t>
                </a:r>
                <a:endParaRPr lang="en-US" sz="1400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440749D-CF2D-3C04-5418-C6DB993AB780}"/>
                  </a:ext>
                </a:extLst>
              </p:cNvPr>
              <p:cNvSpPr/>
              <p:nvPr/>
            </p:nvSpPr>
            <p:spPr>
              <a:xfrm>
                <a:off x="255875" y="1232202"/>
                <a:ext cx="2337367" cy="281243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sz="1400" b="1" dirty="0">
                    <a:solidFill>
                      <a:schemeClr val="accent2"/>
                    </a:solidFill>
                    <a:latin typeface="Georgia" panose="02040502050405020303" charset="0"/>
                  </a:rPr>
                  <a:t>Member management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5074D69-D642-55A5-E40A-E0438CF3F3D2}"/>
                </a:ext>
              </a:extLst>
            </p:cNvPr>
            <p:cNvGrpSpPr/>
            <p:nvPr/>
          </p:nvGrpSpPr>
          <p:grpSpPr>
            <a:xfrm>
              <a:off x="242587" y="4140689"/>
              <a:ext cx="2337367" cy="1109753"/>
              <a:chOff x="252050" y="1394095"/>
              <a:chExt cx="2337367" cy="1109753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38D99655-CF80-0E64-E0DB-DECD479FEE50}"/>
                  </a:ext>
                </a:extLst>
              </p:cNvPr>
              <p:cNvSpPr/>
              <p:nvPr/>
            </p:nvSpPr>
            <p:spPr>
              <a:xfrm>
                <a:off x="354847" y="1603870"/>
                <a:ext cx="2065820" cy="89997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Georgia Pro Light" panose="02040302050405020303" pitchFamily="18" charset="0"/>
                  </a:rPr>
                  <a:t>Tith </a:t>
                </a:r>
                <a:r>
                  <a:rPr lang="en-US" sz="1100" dirty="0" err="1">
                    <a:latin typeface="Georgia Pro Light" panose="02040302050405020303" pitchFamily="18" charset="0"/>
                  </a:rPr>
                  <a:t>a</a:t>
                </a:r>
                <a:r>
                  <a:rPr lang="en-US" sz="1100" dirty="0" err="1">
                    <a:solidFill>
                      <a:schemeClr val="bg1"/>
                    </a:solidFill>
                  </a:rPr>
                  <a:t>A</a:t>
                </a:r>
                <a:r>
                  <a:rPr lang="en-US" sz="1100" dirty="0">
                    <a:solidFill>
                      <a:schemeClr val="bg1"/>
                    </a:solidFill>
                  </a:rPr>
                  <a:t> one-stop shop for fitness gear and supplements, with referral coins that never expire to boost retention.</a:t>
                </a:r>
                <a:endParaRPr lang="en-IN" sz="1100" dirty="0">
                  <a:solidFill>
                    <a:schemeClr val="bg1"/>
                  </a:solidFill>
                </a:endParaRPr>
              </a:p>
              <a:p>
                <a:pPr algn="r"/>
                <a:r>
                  <a:rPr lang="en-US" sz="1400" dirty="0">
                    <a:latin typeface="Georgia Pro Light" panose="02040302050405020303" pitchFamily="18" charset="0"/>
                  </a:rPr>
                  <a:t>r needs.</a:t>
                </a:r>
                <a:endParaRPr lang="en-US" sz="1400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37F57BB-B1C7-BEE5-A9D3-143A1B93081D}"/>
                  </a:ext>
                </a:extLst>
              </p:cNvPr>
              <p:cNvSpPr/>
              <p:nvPr/>
            </p:nvSpPr>
            <p:spPr>
              <a:xfrm>
                <a:off x="252050" y="1394095"/>
                <a:ext cx="2337367" cy="281243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sz="1400" b="1" dirty="0">
                    <a:solidFill>
                      <a:schemeClr val="accent4"/>
                    </a:solidFill>
                    <a:latin typeface="Georgia" panose="02040502050405020303" charset="0"/>
                  </a:rPr>
                  <a:t>Store and reward s/m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545101B-672D-FB0B-8393-29A77CE3DD81}"/>
                </a:ext>
              </a:extLst>
            </p:cNvPr>
            <p:cNvGrpSpPr/>
            <p:nvPr/>
          </p:nvGrpSpPr>
          <p:grpSpPr>
            <a:xfrm>
              <a:off x="378359" y="5360349"/>
              <a:ext cx="2065821" cy="1293717"/>
              <a:chOff x="387822" y="1371980"/>
              <a:chExt cx="2065821" cy="1293717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F8C12F6D-7CE1-FBF6-2CCE-F43DCC4B140F}"/>
                  </a:ext>
                </a:extLst>
              </p:cNvPr>
              <p:cNvSpPr/>
              <p:nvPr/>
            </p:nvSpPr>
            <p:spPr>
              <a:xfrm>
                <a:off x="387822" y="1611036"/>
                <a:ext cx="2065821" cy="1054661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Georgia Pro Light" panose="02040302050405020303" pitchFamily="18" charset="0"/>
                  </a:rPr>
                  <a:t>This slide is an editable slide with </a:t>
                </a:r>
                <a:r>
                  <a:rPr lang="en-US" sz="1100" dirty="0" err="1">
                    <a:latin typeface="Georgia Pro Light" panose="02040302050405020303" pitchFamily="18" charset="0"/>
                  </a:rPr>
                  <a:t>a</a:t>
                </a:r>
                <a:r>
                  <a:rPr lang="en-US" sz="1100" dirty="0" err="1">
                    <a:solidFill>
                      <a:schemeClr val="bg1"/>
                    </a:solidFill>
                  </a:rPr>
                  <a:t>Members</a:t>
                </a:r>
                <a:r>
                  <a:rPr lang="en-US" sz="1100" dirty="0">
                    <a:solidFill>
                      <a:schemeClr val="bg1"/>
                    </a:solidFill>
                  </a:rPr>
                  <a:t> can scan QR codes to mark attendance at gyms, streamlining check-ins and tracking visits</a:t>
                </a:r>
                <a:endParaRPr lang="en-IN" sz="1100" dirty="0"/>
              </a:p>
              <a:p>
                <a:pPr algn="r"/>
                <a:r>
                  <a:rPr lang="en-US" sz="1400" dirty="0" err="1">
                    <a:latin typeface="Georgia Pro Light" panose="02040302050405020303" pitchFamily="18" charset="0"/>
                  </a:rPr>
                  <a:t>ll</a:t>
                </a:r>
                <a:r>
                  <a:rPr lang="en-US" sz="1400" dirty="0">
                    <a:latin typeface="Georgia Pro Light" panose="02040302050405020303" pitchFamily="18" charset="0"/>
                  </a:rPr>
                  <a:t> your needs.</a:t>
                </a:r>
                <a:endParaRPr lang="en-US" sz="1400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A59079F-34FD-7FA3-93CC-4D8F6D698D5F}"/>
                  </a:ext>
                </a:extLst>
              </p:cNvPr>
              <p:cNvSpPr/>
              <p:nvPr/>
            </p:nvSpPr>
            <p:spPr>
              <a:xfrm>
                <a:off x="475487" y="1371980"/>
                <a:ext cx="1817316" cy="478113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sz="1400" b="1" dirty="0">
                    <a:solidFill>
                      <a:schemeClr val="accent5"/>
                    </a:solidFill>
                    <a:latin typeface="Georgia" panose="02040502050405020303" charset="0"/>
                  </a:rPr>
                  <a:t>QR-code based attendance 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4BA4F78B-E7E9-B214-2EA6-4592FBB0B171}"/>
                </a:ext>
              </a:extLst>
            </p:cNvPr>
            <p:cNvGrpSpPr/>
            <p:nvPr/>
          </p:nvGrpSpPr>
          <p:grpSpPr>
            <a:xfrm>
              <a:off x="9608221" y="1532346"/>
              <a:ext cx="2393886" cy="1710343"/>
              <a:chOff x="406660" y="1269300"/>
              <a:chExt cx="2393886" cy="1710343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2C573A8-AF16-23CA-806A-BF4AD1FECDD6}"/>
                  </a:ext>
                </a:extLst>
              </p:cNvPr>
              <p:cNvSpPr/>
              <p:nvPr/>
            </p:nvSpPr>
            <p:spPr>
              <a:xfrm>
                <a:off x="808505" y="1502315"/>
                <a:ext cx="1992041" cy="147732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 err="1">
                    <a:latin typeface="Georgia Pro Light" panose="02040302050405020303" pitchFamily="18" charset="0"/>
                  </a:rPr>
                  <a:t>Th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Coins</a:t>
                </a:r>
                <a:r>
                  <a:rPr lang="en-US" sz="1200" dirty="0">
                    <a:solidFill>
                      <a:schemeClr val="bg1"/>
                    </a:solidFill>
                  </a:rPr>
                  <a:t> are deducted per visit and used for gym payments, with expiration rules for non-referral coins</a:t>
                </a:r>
                <a:endParaRPr lang="en-IN" sz="1200" dirty="0">
                  <a:solidFill>
                    <a:schemeClr val="bg1"/>
                  </a:solidFill>
                </a:endParaRPr>
              </a:p>
              <a:p>
                <a:r>
                  <a:rPr lang="en-US" sz="1400" dirty="0">
                    <a:latin typeface="Georgia Pro Light" panose="02040302050405020303" pitchFamily="18" charset="0"/>
                  </a:rPr>
                  <a:t>is slide is an editable slide with all your needs.</a:t>
                </a:r>
                <a:endParaRPr lang="en-US" sz="1400" dirty="0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D0C696AB-E8E9-27D3-2FEA-0E0B3FACACC9}"/>
                  </a:ext>
                </a:extLst>
              </p:cNvPr>
              <p:cNvSpPr/>
              <p:nvPr/>
            </p:nvSpPr>
            <p:spPr>
              <a:xfrm>
                <a:off x="406660" y="1269300"/>
                <a:ext cx="2186581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 dirty="0">
                    <a:solidFill>
                      <a:schemeClr val="accent3"/>
                    </a:solidFill>
                    <a:latin typeface="Georgia" panose="02040502050405020303" charset="0"/>
                  </a:rPr>
                  <a:t>Coin system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0CB0E75-F3E4-0041-6721-F77D0EB3E4FE}"/>
                </a:ext>
              </a:extLst>
            </p:cNvPr>
            <p:cNvGrpSpPr/>
            <p:nvPr/>
          </p:nvGrpSpPr>
          <p:grpSpPr>
            <a:xfrm>
              <a:off x="9676492" y="2787892"/>
              <a:ext cx="2676730" cy="1468096"/>
              <a:chOff x="474931" y="1283072"/>
              <a:chExt cx="2676730" cy="1468096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E57AB80E-5DDA-4302-B550-036F27CCD765}"/>
                  </a:ext>
                </a:extLst>
              </p:cNvPr>
              <p:cNvSpPr/>
              <p:nvPr/>
            </p:nvSpPr>
            <p:spPr>
              <a:xfrm>
                <a:off x="858224" y="1499635"/>
                <a:ext cx="2293437" cy="125153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 err="1">
                    <a:latin typeface="Georgia Pro Light" panose="02040302050405020303" pitchFamily="18" charset="0"/>
                  </a:rPr>
                  <a:t>T</a:t>
                </a:r>
                <a:r>
                  <a:rPr lang="en-US" sz="1100" dirty="0" err="1">
                    <a:solidFill>
                      <a:schemeClr val="bg1"/>
                    </a:solidFill>
                  </a:rPr>
                  <a:t>Access</a:t>
                </a:r>
                <a:r>
                  <a:rPr lang="en-US" sz="1100" dirty="0">
                    <a:solidFill>
                      <a:schemeClr val="bg1"/>
                    </a:solidFill>
                  </a:rPr>
                  <a:t> to tools like </a:t>
                </a:r>
                <a:r>
                  <a:rPr lang="en-US" sz="1100" b="1" dirty="0">
                    <a:solidFill>
                      <a:schemeClr val="bg1"/>
                    </a:solidFill>
                  </a:rPr>
                  <a:t>BMR calculators, macro nutrient tracking, body fit metrics, and IRM </a:t>
                </a:r>
                <a:r>
                  <a:rPr lang="en-US" sz="1100" dirty="0">
                    <a:solidFill>
                      <a:schemeClr val="bg1"/>
                    </a:solidFill>
                  </a:rPr>
                  <a:t>for personalized fitness insights.</a:t>
                </a:r>
                <a:endParaRPr lang="en-IN" sz="1100" dirty="0">
                  <a:solidFill>
                    <a:schemeClr val="bg1"/>
                  </a:solidFill>
                </a:endParaRPr>
              </a:p>
              <a:p>
                <a:r>
                  <a:rPr lang="en-US" sz="1000" dirty="0">
                    <a:latin typeface="Georgia Pro Light" panose="02040302050405020303" pitchFamily="18" charset="0"/>
                  </a:rPr>
                  <a:t>his</a:t>
                </a:r>
                <a:r>
                  <a:rPr lang="en-US" sz="1400" dirty="0">
                    <a:latin typeface="Georgia Pro Light" panose="02040302050405020303" pitchFamily="18" charset="0"/>
                  </a:rPr>
                  <a:t> slide is an editable slide with all your needs.</a:t>
                </a:r>
                <a:endParaRPr lang="en-US" sz="1400" dirty="0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EAED482C-5332-EFA5-E500-DF9B663F77B4}"/>
                  </a:ext>
                </a:extLst>
              </p:cNvPr>
              <p:cNvSpPr/>
              <p:nvPr/>
            </p:nvSpPr>
            <p:spPr>
              <a:xfrm>
                <a:off x="474931" y="1283072"/>
                <a:ext cx="2548357" cy="30936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 dirty="0">
                    <a:solidFill>
                      <a:schemeClr val="accent4"/>
                    </a:solidFill>
                    <a:latin typeface="Georgia" panose="02040502050405020303" charset="0"/>
                  </a:rPr>
                  <a:t>Health &amp; fitness tools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530F872-C00C-7FD0-AD85-86CF4FC42B93}"/>
                </a:ext>
              </a:extLst>
            </p:cNvPr>
            <p:cNvGrpSpPr/>
            <p:nvPr/>
          </p:nvGrpSpPr>
          <p:grpSpPr>
            <a:xfrm>
              <a:off x="9605547" y="4079917"/>
              <a:ext cx="2552039" cy="1342031"/>
              <a:chOff x="403986" y="1333323"/>
              <a:chExt cx="2552039" cy="1342031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62EF0E51-4742-D2B9-5114-3886323513AE}"/>
                  </a:ext>
                </a:extLst>
              </p:cNvPr>
              <p:cNvSpPr/>
              <p:nvPr/>
            </p:nvSpPr>
            <p:spPr>
              <a:xfrm>
                <a:off x="769444" y="1578506"/>
                <a:ext cx="2186581" cy="109684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Georgia Pro Light" panose="02040302050405020303" pitchFamily="18" charset="0"/>
                  </a:rPr>
                  <a:t>This </a:t>
                </a:r>
                <a:r>
                  <a:rPr lang="en-US" sz="1100" dirty="0" err="1">
                    <a:latin typeface="Georgia Pro Light" panose="02040302050405020303" pitchFamily="18" charset="0"/>
                  </a:rPr>
                  <a:t>slid</a:t>
                </a:r>
                <a:r>
                  <a:rPr lang="en-US" sz="1100" dirty="0" err="1">
                    <a:solidFill>
                      <a:schemeClr val="bg1"/>
                    </a:solidFill>
                  </a:rPr>
                  <a:t>Manage</a:t>
                </a:r>
                <a:r>
                  <a:rPr lang="en-US" sz="1100" dirty="0">
                    <a:solidFill>
                      <a:schemeClr val="bg1"/>
                    </a:solidFill>
                  </a:rPr>
                  <a:t> attendance, earnings, events, reviews, and receive monthly payments based on member coin balances</a:t>
                </a:r>
                <a:endParaRPr lang="en-IN" sz="1100" dirty="0">
                  <a:solidFill>
                    <a:schemeClr val="bg1"/>
                  </a:solidFill>
                </a:endParaRPr>
              </a:p>
              <a:p>
                <a:r>
                  <a:rPr lang="en-US" sz="1400" dirty="0">
                    <a:latin typeface="Georgia Pro Light" panose="02040302050405020303" pitchFamily="18" charset="0"/>
                  </a:rPr>
                  <a:t>e is an editable slide with all your needs.</a:t>
                </a:r>
                <a:endParaRPr lang="en-US" sz="1400" dirty="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C31B7A2-DE34-31C9-0589-C91D772C0A63}"/>
                  </a:ext>
                </a:extLst>
              </p:cNvPr>
              <p:cNvSpPr/>
              <p:nvPr/>
            </p:nvSpPr>
            <p:spPr>
              <a:xfrm>
                <a:off x="403986" y="1333323"/>
                <a:ext cx="2186581" cy="30936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 dirty="0">
                    <a:solidFill>
                      <a:schemeClr val="accent2"/>
                    </a:solidFill>
                    <a:latin typeface="Georgia" panose="02040502050405020303" charset="0"/>
                  </a:rPr>
                  <a:t>Gym management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ADBAB60B-8A43-C660-C9B6-CB930CD65314}"/>
                </a:ext>
              </a:extLst>
            </p:cNvPr>
            <p:cNvGrpSpPr/>
            <p:nvPr/>
          </p:nvGrpSpPr>
          <p:grpSpPr>
            <a:xfrm>
              <a:off x="9608221" y="5444721"/>
              <a:ext cx="2912150" cy="1174189"/>
              <a:chOff x="406660" y="1456352"/>
              <a:chExt cx="2912150" cy="117418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1ACA45F4-97B3-8923-6185-10E8B94E475C}"/>
                  </a:ext>
                </a:extLst>
              </p:cNvPr>
              <p:cNvSpPr/>
              <p:nvPr/>
            </p:nvSpPr>
            <p:spPr>
              <a:xfrm>
                <a:off x="772535" y="1646191"/>
                <a:ext cx="1953147" cy="98435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latin typeface="Georgia Pro Light" panose="02040302050405020303" pitchFamily="18" charset="0"/>
                  </a:rPr>
                  <a:t>This slide is </a:t>
                </a:r>
                <a:r>
                  <a:rPr lang="en-US" sz="1100" dirty="0" err="1">
                    <a:latin typeface="Georgia Pro Light" panose="02040302050405020303" pitchFamily="18" charset="0"/>
                  </a:rPr>
                  <a:t>a</a:t>
                </a:r>
                <a:r>
                  <a:rPr lang="en-US" sz="1100" dirty="0" err="1">
                    <a:solidFill>
                      <a:schemeClr val="bg1"/>
                    </a:solidFill>
                  </a:rPr>
                  <a:t>Helps</a:t>
                </a:r>
                <a:r>
                  <a:rPr lang="en-US" sz="1100" dirty="0">
                    <a:solidFill>
                      <a:schemeClr val="bg1"/>
                    </a:solidFill>
                  </a:rPr>
                  <a:t> gyms and users connect better through engaging content</a:t>
                </a:r>
                <a:endParaRPr lang="en-IN" sz="1100" dirty="0">
                  <a:solidFill>
                    <a:schemeClr val="bg1"/>
                  </a:solidFill>
                </a:endParaRPr>
              </a:p>
              <a:p>
                <a:r>
                  <a:rPr lang="en-US" sz="1400" dirty="0">
                    <a:latin typeface="Georgia Pro Light" panose="02040302050405020303" pitchFamily="18" charset="0"/>
                  </a:rPr>
                  <a:t>n editable slide with all your needs.</a:t>
                </a:r>
                <a:endParaRPr lang="en-US" sz="1400" dirty="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6BB2E92-53D6-E758-3A99-2704F48163AE}"/>
                  </a:ext>
                </a:extLst>
              </p:cNvPr>
              <p:cNvSpPr/>
              <p:nvPr/>
            </p:nvSpPr>
            <p:spPr>
              <a:xfrm>
                <a:off x="406660" y="1456352"/>
                <a:ext cx="2912150" cy="30936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 dirty="0">
                    <a:solidFill>
                      <a:schemeClr val="accent6">
                        <a:lumMod val="75000"/>
                      </a:schemeClr>
                    </a:solidFill>
                    <a:latin typeface="Georgia" panose="02040502050405020303" charset="0"/>
                  </a:rPr>
                  <a:t>Community Engagement</a:t>
                </a:r>
              </a:p>
            </p:txBody>
          </p:sp>
        </p:grpSp>
      </p:grpSp>
      <p:pic>
        <p:nvPicPr>
          <p:cNvPr id="172" name="Picture 171" descr="A white circle with a black background&#10;&#10;AI-generated content may be incorrect.">
            <a:extLst>
              <a:ext uri="{FF2B5EF4-FFF2-40B4-BE49-F238E27FC236}">
                <a16:creationId xmlns:a16="http://schemas.microsoft.com/office/drawing/2014/main" id="{3DB1D895-7924-31E0-C8EF-38FFC19598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507" y="1878501"/>
            <a:ext cx="425398" cy="425398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FE7D800F-55C3-9D26-AA83-64BE799C5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343" y="2626423"/>
            <a:ext cx="482485" cy="482485"/>
          </a:xfrm>
          <a:prstGeom prst="rect">
            <a:avLst/>
          </a:prstGeom>
        </p:spPr>
      </p:pic>
      <p:pic>
        <p:nvPicPr>
          <p:cNvPr id="175" name="Picture 174" descr="A white dumbbell on a black background&#10;&#10;AI-generated content may be incorrect.">
            <a:extLst>
              <a:ext uri="{FF2B5EF4-FFF2-40B4-BE49-F238E27FC236}">
                <a16:creationId xmlns:a16="http://schemas.microsoft.com/office/drawing/2014/main" id="{185E820B-B267-43DA-8401-88F76A0503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573" y="4211070"/>
            <a:ext cx="514979" cy="514979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9DD90FBA-9190-0897-BC2E-0E8F1AA3E7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050" y="2587386"/>
            <a:ext cx="546802" cy="546802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93761CB6-0E17-1099-1B88-761BAB872C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155" y="4196168"/>
            <a:ext cx="476383" cy="476383"/>
          </a:xfrm>
          <a:prstGeom prst="rect">
            <a:avLst/>
          </a:prstGeom>
        </p:spPr>
      </p:pic>
      <p:pic>
        <p:nvPicPr>
          <p:cNvPr id="179" name="Picture 178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A9895523-ADC1-95B2-5ABD-6E41BA4EB09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999" y="5220792"/>
            <a:ext cx="823169" cy="567447"/>
          </a:xfrm>
          <a:prstGeom prst="rect">
            <a:avLst/>
          </a:prstGeom>
        </p:spPr>
      </p:pic>
      <p:pic>
        <p:nvPicPr>
          <p:cNvPr id="181" name="Picture 180" descr="A group of people with their arms raised&#10;&#10;AI-generated content may be incorrect.">
            <a:extLst>
              <a:ext uri="{FF2B5EF4-FFF2-40B4-BE49-F238E27FC236}">
                <a16:creationId xmlns:a16="http://schemas.microsoft.com/office/drawing/2014/main" id="{B2636AA2-FCC5-ECAA-6EC6-7A166009583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033" y="5112535"/>
            <a:ext cx="644431" cy="644431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31454CB9-FE0A-04D9-7451-117D2945FA6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726" y="1796357"/>
            <a:ext cx="532647" cy="5326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DFC7BF-7AAA-4BE0-15A7-D50A26FA4C74}"/>
              </a:ext>
            </a:extLst>
          </p:cNvPr>
          <p:cNvSpPr txBox="1"/>
          <p:nvPr/>
        </p:nvSpPr>
        <p:spPr>
          <a:xfrm>
            <a:off x="4937748" y="267157"/>
            <a:ext cx="1959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BEARITT APP</a:t>
            </a:r>
          </a:p>
        </p:txBody>
      </p:sp>
    </p:spTree>
    <p:extLst>
      <p:ext uri="{BB962C8B-B14F-4D97-AF65-F5344CB8AC3E}">
        <p14:creationId xmlns:p14="http://schemas.microsoft.com/office/powerpoint/2010/main" val="763044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81" t="1137" r="5958" b="8410"/>
          <a:stretch>
            <a:fillRect/>
          </a:stretch>
        </p:blipFill>
        <p:spPr>
          <a:xfrm>
            <a:off x="6254045" y="588645"/>
            <a:ext cx="3451012" cy="5680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1" y="582930"/>
            <a:ext cx="2491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gency FB" panose="020B0503020202020204" pitchFamily="34" charset="0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6638" y="2419384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Download and Register</a:t>
            </a:r>
            <a:endParaRPr lang="en-IN" sz="2000" dirty="0">
              <a:latin typeface="Agency FB" panose="020B0503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66638" y="2878957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bg1"/>
                </a:solidFill>
                <a:latin typeface="Agency FB" panose="020B0503020202020204" pitchFamily="34" charset="0"/>
              </a:rPr>
              <a:t>Purchase Coins</a:t>
            </a:r>
            <a:endParaRPr lang="en-IN" sz="2000" dirty="0">
              <a:latin typeface="Agency FB" panose="020B0503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66638" y="3338530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bg1"/>
                </a:solidFill>
                <a:latin typeface="Agency FB" panose="020B0503020202020204" pitchFamily="34" charset="0"/>
              </a:rPr>
              <a:t>Scan QR Codes</a:t>
            </a:r>
            <a:endParaRPr lang="en-IN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1185689" y="3778988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bg1"/>
                </a:solidFill>
                <a:latin typeface="Agency FB" panose="020B0503020202020204" pitchFamily="34" charset="0"/>
              </a:rPr>
              <a:t>Track Progress</a:t>
            </a:r>
            <a:endParaRPr lang="en-IN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1185689" y="4219446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bg1"/>
                </a:solidFill>
                <a:latin typeface="Agency FB" panose="020B0503020202020204" pitchFamily="34" charset="0"/>
              </a:rPr>
              <a:t>Access Trainers &amp; Tools</a:t>
            </a:r>
            <a:endParaRPr lang="en-IN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1166638" y="4592787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bg1"/>
                </a:solidFill>
                <a:latin typeface="Agency FB" panose="020B0503020202020204" pitchFamily="34" charset="0"/>
              </a:rPr>
              <a:t>Earn Rewards</a:t>
            </a:r>
            <a:endParaRPr lang="en-I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tx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D1E6-462F-A6C9-6750-135236EBE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What Sets BEARITT Apart?</a:t>
            </a:r>
          </a:p>
        </p:txBody>
      </p:sp>
      <p:pic>
        <p:nvPicPr>
          <p:cNvPr id="3076" name="Picture 4" descr="Businessman holding flag standing on bar chart">
            <a:extLst>
              <a:ext uri="{FF2B5EF4-FFF2-40B4-BE49-F238E27FC236}">
                <a16:creationId xmlns:a16="http://schemas.microsoft.com/office/drawing/2014/main" id="{8BDC03C8-4B53-E4D8-06C2-2158ACC8B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34" y="-1"/>
            <a:ext cx="5962650" cy="6858000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753E4D-FBAA-8E85-2DB6-8987CDC28C14}"/>
              </a:ext>
            </a:extLst>
          </p:cNvPr>
          <p:cNvSpPr/>
          <p:nvPr/>
        </p:nvSpPr>
        <p:spPr>
          <a:xfrm>
            <a:off x="5679440" y="0"/>
            <a:ext cx="1513840" cy="6858000"/>
          </a:xfrm>
          <a:custGeom>
            <a:avLst/>
            <a:gdLst>
              <a:gd name="connsiteX0" fmla="*/ 1397876 w 1870841"/>
              <a:gd name="connsiteY0" fmla="*/ 7168056 h 7187385"/>
              <a:gd name="connsiteX1" fmla="*/ 1439917 w 1870841"/>
              <a:gd name="connsiteY1" fmla="*/ 6947338 h 7187385"/>
              <a:gd name="connsiteX2" fmla="*/ 1460938 w 1870841"/>
              <a:gd name="connsiteY2" fmla="*/ 6915807 h 7187385"/>
              <a:gd name="connsiteX3" fmla="*/ 1524000 w 1870841"/>
              <a:gd name="connsiteY3" fmla="*/ 6831725 h 7187385"/>
              <a:gd name="connsiteX4" fmla="*/ 1513489 w 1870841"/>
              <a:gd name="connsiteY4" fmla="*/ 6779173 h 7187385"/>
              <a:gd name="connsiteX5" fmla="*/ 1481958 w 1870841"/>
              <a:gd name="connsiteY5" fmla="*/ 6768663 h 7187385"/>
              <a:gd name="connsiteX6" fmla="*/ 1429407 w 1870841"/>
              <a:gd name="connsiteY6" fmla="*/ 6726621 h 7187385"/>
              <a:gd name="connsiteX7" fmla="*/ 1408386 w 1870841"/>
              <a:gd name="connsiteY7" fmla="*/ 6684580 h 7187385"/>
              <a:gd name="connsiteX8" fmla="*/ 1534510 w 1870841"/>
              <a:gd name="connsiteY8" fmla="*/ 6484883 h 7187385"/>
              <a:gd name="connsiteX9" fmla="*/ 1587062 w 1870841"/>
              <a:gd name="connsiteY9" fmla="*/ 6411311 h 7187385"/>
              <a:gd name="connsiteX10" fmla="*/ 1608082 w 1870841"/>
              <a:gd name="connsiteY10" fmla="*/ 6306207 h 7187385"/>
              <a:gd name="connsiteX11" fmla="*/ 1555531 w 1870841"/>
              <a:gd name="connsiteY11" fmla="*/ 6180083 h 7187385"/>
              <a:gd name="connsiteX12" fmla="*/ 1502979 w 1870841"/>
              <a:gd name="connsiteY12" fmla="*/ 6074980 h 7187385"/>
              <a:gd name="connsiteX13" fmla="*/ 1492469 w 1870841"/>
              <a:gd name="connsiteY13" fmla="*/ 5990897 h 7187385"/>
              <a:gd name="connsiteX14" fmla="*/ 1545020 w 1870841"/>
              <a:gd name="connsiteY14" fmla="*/ 5801711 h 7187385"/>
              <a:gd name="connsiteX15" fmla="*/ 1587062 w 1870841"/>
              <a:gd name="connsiteY15" fmla="*/ 5528442 h 7187385"/>
              <a:gd name="connsiteX16" fmla="*/ 1618593 w 1870841"/>
              <a:gd name="connsiteY16" fmla="*/ 5423338 h 7187385"/>
              <a:gd name="connsiteX17" fmla="*/ 1608082 w 1870841"/>
              <a:gd name="connsiteY17" fmla="*/ 5328745 h 7187385"/>
              <a:gd name="connsiteX18" fmla="*/ 1545020 w 1870841"/>
              <a:gd name="connsiteY18" fmla="*/ 5339256 h 7187385"/>
              <a:gd name="connsiteX19" fmla="*/ 1513489 w 1870841"/>
              <a:gd name="connsiteY19" fmla="*/ 5307725 h 7187385"/>
              <a:gd name="connsiteX20" fmla="*/ 1524000 w 1870841"/>
              <a:gd name="connsiteY20" fmla="*/ 5276194 h 7187385"/>
              <a:gd name="connsiteX21" fmla="*/ 1608082 w 1870841"/>
              <a:gd name="connsiteY21" fmla="*/ 5192111 h 7187385"/>
              <a:gd name="connsiteX22" fmla="*/ 1639613 w 1870841"/>
              <a:gd name="connsiteY22" fmla="*/ 5055476 h 7187385"/>
              <a:gd name="connsiteX23" fmla="*/ 1618593 w 1870841"/>
              <a:gd name="connsiteY23" fmla="*/ 4939863 h 7187385"/>
              <a:gd name="connsiteX24" fmla="*/ 1566041 w 1870841"/>
              <a:gd name="connsiteY24" fmla="*/ 4782207 h 7187385"/>
              <a:gd name="connsiteX25" fmla="*/ 1597572 w 1870841"/>
              <a:gd name="connsiteY25" fmla="*/ 4561490 h 7187385"/>
              <a:gd name="connsiteX26" fmla="*/ 1618593 w 1870841"/>
              <a:gd name="connsiteY26" fmla="*/ 4466897 h 7187385"/>
              <a:gd name="connsiteX27" fmla="*/ 1681655 w 1870841"/>
              <a:gd name="connsiteY27" fmla="*/ 4319752 h 7187385"/>
              <a:gd name="connsiteX28" fmla="*/ 1650124 w 1870841"/>
              <a:gd name="connsiteY28" fmla="*/ 4298731 h 7187385"/>
              <a:gd name="connsiteX29" fmla="*/ 1576551 w 1870841"/>
              <a:gd name="connsiteY29" fmla="*/ 4267200 h 7187385"/>
              <a:gd name="connsiteX30" fmla="*/ 1534510 w 1870841"/>
              <a:gd name="connsiteY30" fmla="*/ 4225159 h 7187385"/>
              <a:gd name="connsiteX31" fmla="*/ 1566041 w 1870841"/>
              <a:gd name="connsiteY31" fmla="*/ 4025463 h 7187385"/>
              <a:gd name="connsiteX32" fmla="*/ 1576551 w 1870841"/>
              <a:gd name="connsiteY32" fmla="*/ 3962400 h 7187385"/>
              <a:gd name="connsiteX33" fmla="*/ 1608082 w 1870841"/>
              <a:gd name="connsiteY33" fmla="*/ 3773214 h 7187385"/>
              <a:gd name="connsiteX34" fmla="*/ 1650124 w 1870841"/>
              <a:gd name="connsiteY34" fmla="*/ 3573518 h 7187385"/>
              <a:gd name="connsiteX35" fmla="*/ 1639613 w 1870841"/>
              <a:gd name="connsiteY35" fmla="*/ 3510456 h 7187385"/>
              <a:gd name="connsiteX36" fmla="*/ 1608082 w 1870841"/>
              <a:gd name="connsiteY36" fmla="*/ 3478925 h 7187385"/>
              <a:gd name="connsiteX37" fmla="*/ 1597572 w 1870841"/>
              <a:gd name="connsiteY37" fmla="*/ 3447394 h 7187385"/>
              <a:gd name="connsiteX38" fmla="*/ 1608082 w 1870841"/>
              <a:gd name="connsiteY38" fmla="*/ 3405352 h 7187385"/>
              <a:gd name="connsiteX39" fmla="*/ 1671145 w 1870841"/>
              <a:gd name="connsiteY39" fmla="*/ 3373821 h 7187385"/>
              <a:gd name="connsiteX40" fmla="*/ 1702676 w 1870841"/>
              <a:gd name="connsiteY40" fmla="*/ 3352800 h 7187385"/>
              <a:gd name="connsiteX41" fmla="*/ 1713186 w 1870841"/>
              <a:gd name="connsiteY41" fmla="*/ 3321269 h 7187385"/>
              <a:gd name="connsiteX42" fmla="*/ 1671145 w 1870841"/>
              <a:gd name="connsiteY42" fmla="*/ 3268718 h 7187385"/>
              <a:gd name="connsiteX43" fmla="*/ 1608082 w 1870841"/>
              <a:gd name="connsiteY43" fmla="*/ 3153104 h 7187385"/>
              <a:gd name="connsiteX44" fmla="*/ 1618593 w 1870841"/>
              <a:gd name="connsiteY44" fmla="*/ 3005959 h 7187385"/>
              <a:gd name="connsiteX45" fmla="*/ 1702676 w 1870841"/>
              <a:gd name="connsiteY45" fmla="*/ 2932387 h 7187385"/>
              <a:gd name="connsiteX46" fmla="*/ 1828800 w 1870841"/>
              <a:gd name="connsiteY46" fmla="*/ 2774731 h 7187385"/>
              <a:gd name="connsiteX47" fmla="*/ 1734207 w 1870841"/>
              <a:gd name="connsiteY47" fmla="*/ 2764221 h 7187385"/>
              <a:gd name="connsiteX48" fmla="*/ 1702676 w 1870841"/>
              <a:gd name="connsiteY48" fmla="*/ 2732690 h 7187385"/>
              <a:gd name="connsiteX49" fmla="*/ 1671145 w 1870841"/>
              <a:gd name="connsiteY49" fmla="*/ 2648607 h 7187385"/>
              <a:gd name="connsiteX50" fmla="*/ 1692165 w 1870841"/>
              <a:gd name="connsiteY50" fmla="*/ 2501463 h 7187385"/>
              <a:gd name="connsiteX51" fmla="*/ 1702676 w 1870841"/>
              <a:gd name="connsiteY51" fmla="*/ 2459421 h 7187385"/>
              <a:gd name="connsiteX52" fmla="*/ 1681655 w 1870841"/>
              <a:gd name="connsiteY52" fmla="*/ 2427890 h 7187385"/>
              <a:gd name="connsiteX53" fmla="*/ 1702676 w 1870841"/>
              <a:gd name="connsiteY53" fmla="*/ 2165131 h 7187385"/>
              <a:gd name="connsiteX54" fmla="*/ 1723696 w 1870841"/>
              <a:gd name="connsiteY54" fmla="*/ 2123090 h 7187385"/>
              <a:gd name="connsiteX55" fmla="*/ 1692165 w 1870841"/>
              <a:gd name="connsiteY55" fmla="*/ 2081049 h 7187385"/>
              <a:gd name="connsiteX56" fmla="*/ 1681655 w 1870841"/>
              <a:gd name="connsiteY56" fmla="*/ 2028497 h 7187385"/>
              <a:gd name="connsiteX57" fmla="*/ 1755227 w 1870841"/>
              <a:gd name="connsiteY57" fmla="*/ 1902373 h 7187385"/>
              <a:gd name="connsiteX58" fmla="*/ 1786758 w 1870841"/>
              <a:gd name="connsiteY58" fmla="*/ 1828800 h 7187385"/>
              <a:gd name="connsiteX59" fmla="*/ 1786758 w 1870841"/>
              <a:gd name="connsiteY59" fmla="*/ 1660635 h 7187385"/>
              <a:gd name="connsiteX60" fmla="*/ 1744717 w 1870841"/>
              <a:gd name="connsiteY60" fmla="*/ 1618594 h 7187385"/>
              <a:gd name="connsiteX61" fmla="*/ 1723696 w 1870841"/>
              <a:gd name="connsiteY61" fmla="*/ 1587063 h 7187385"/>
              <a:gd name="connsiteX62" fmla="*/ 1734207 w 1870841"/>
              <a:gd name="connsiteY62" fmla="*/ 1545021 h 7187385"/>
              <a:gd name="connsiteX63" fmla="*/ 1870841 w 1870841"/>
              <a:gd name="connsiteY63" fmla="*/ 1334814 h 7187385"/>
              <a:gd name="connsiteX64" fmla="*/ 1849820 w 1870841"/>
              <a:gd name="connsiteY64" fmla="*/ 1250731 h 7187385"/>
              <a:gd name="connsiteX65" fmla="*/ 1765738 w 1870841"/>
              <a:gd name="connsiteY65" fmla="*/ 1219200 h 7187385"/>
              <a:gd name="connsiteX66" fmla="*/ 1723696 w 1870841"/>
              <a:gd name="connsiteY66" fmla="*/ 1177159 h 7187385"/>
              <a:gd name="connsiteX67" fmla="*/ 1660634 w 1870841"/>
              <a:gd name="connsiteY67" fmla="*/ 1061545 h 7187385"/>
              <a:gd name="connsiteX68" fmla="*/ 1629103 w 1870841"/>
              <a:gd name="connsiteY68" fmla="*/ 1019504 h 7187385"/>
              <a:gd name="connsiteX69" fmla="*/ 1618593 w 1870841"/>
              <a:gd name="connsiteY69" fmla="*/ 987973 h 7187385"/>
              <a:gd name="connsiteX70" fmla="*/ 1597572 w 1870841"/>
              <a:gd name="connsiteY70" fmla="*/ 956442 h 7187385"/>
              <a:gd name="connsiteX71" fmla="*/ 1608082 w 1870841"/>
              <a:gd name="connsiteY71" fmla="*/ 924911 h 7187385"/>
              <a:gd name="connsiteX72" fmla="*/ 1660634 w 1870841"/>
              <a:gd name="connsiteY72" fmla="*/ 830318 h 7187385"/>
              <a:gd name="connsiteX73" fmla="*/ 1618593 w 1870841"/>
              <a:gd name="connsiteY73" fmla="*/ 588580 h 7187385"/>
              <a:gd name="connsiteX74" fmla="*/ 1587062 w 1870841"/>
              <a:gd name="connsiteY74" fmla="*/ 557049 h 7187385"/>
              <a:gd name="connsiteX75" fmla="*/ 1513489 w 1870841"/>
              <a:gd name="connsiteY75" fmla="*/ 483476 h 7187385"/>
              <a:gd name="connsiteX76" fmla="*/ 1492469 w 1870841"/>
              <a:gd name="connsiteY76" fmla="*/ 451945 h 7187385"/>
              <a:gd name="connsiteX77" fmla="*/ 1524000 w 1870841"/>
              <a:gd name="connsiteY77" fmla="*/ 441435 h 7187385"/>
              <a:gd name="connsiteX78" fmla="*/ 1566041 w 1870841"/>
              <a:gd name="connsiteY78" fmla="*/ 420414 h 7187385"/>
              <a:gd name="connsiteX79" fmla="*/ 1545020 w 1870841"/>
              <a:gd name="connsiteY79" fmla="*/ 220718 h 7187385"/>
              <a:gd name="connsiteX80" fmla="*/ 1534510 w 1870841"/>
              <a:gd name="connsiteY80" fmla="*/ 189187 h 7187385"/>
              <a:gd name="connsiteX81" fmla="*/ 1450427 w 1870841"/>
              <a:gd name="connsiteY81" fmla="*/ 178676 h 7187385"/>
              <a:gd name="connsiteX82" fmla="*/ 1408386 w 1870841"/>
              <a:gd name="connsiteY82" fmla="*/ 52552 h 7187385"/>
              <a:gd name="connsiteX83" fmla="*/ 1355834 w 1870841"/>
              <a:gd name="connsiteY83" fmla="*/ 31531 h 7187385"/>
              <a:gd name="connsiteX84" fmla="*/ 1313793 w 1870841"/>
              <a:gd name="connsiteY84" fmla="*/ 21021 h 7187385"/>
              <a:gd name="connsiteX85" fmla="*/ 1250731 w 1870841"/>
              <a:gd name="connsiteY85" fmla="*/ 0 h 7187385"/>
              <a:gd name="connsiteX86" fmla="*/ 777765 w 1870841"/>
              <a:gd name="connsiteY86" fmla="*/ 42042 h 7187385"/>
              <a:gd name="connsiteX87" fmla="*/ 693682 w 1870841"/>
              <a:gd name="connsiteY87" fmla="*/ 84083 h 7187385"/>
              <a:gd name="connsiteX88" fmla="*/ 725213 w 1870841"/>
              <a:gd name="connsiteY88" fmla="*/ 52552 h 7187385"/>
              <a:gd name="connsiteX89" fmla="*/ 735724 w 1870841"/>
              <a:gd name="connsiteY89" fmla="*/ 94594 h 7187385"/>
              <a:gd name="connsiteX90" fmla="*/ 515007 w 1870841"/>
              <a:gd name="connsiteY90" fmla="*/ 388883 h 7187385"/>
              <a:gd name="connsiteX91" fmla="*/ 504496 w 1870841"/>
              <a:gd name="connsiteY91" fmla="*/ 504497 h 7187385"/>
              <a:gd name="connsiteX92" fmla="*/ 231227 w 1870841"/>
              <a:gd name="connsiteY92" fmla="*/ 830318 h 7187385"/>
              <a:gd name="connsiteX93" fmla="*/ 115613 w 1870841"/>
              <a:gd name="connsiteY93" fmla="*/ 998483 h 7187385"/>
              <a:gd name="connsiteX94" fmla="*/ 210207 w 1870841"/>
              <a:gd name="connsiteY94" fmla="*/ 1061545 h 7187385"/>
              <a:gd name="connsiteX95" fmla="*/ 315310 w 1870841"/>
              <a:gd name="connsiteY95" fmla="*/ 1114097 h 7187385"/>
              <a:gd name="connsiteX96" fmla="*/ 346841 w 1870841"/>
              <a:gd name="connsiteY96" fmla="*/ 1145628 h 7187385"/>
              <a:gd name="connsiteX97" fmla="*/ 357351 w 1870841"/>
              <a:gd name="connsiteY97" fmla="*/ 1208690 h 7187385"/>
              <a:gd name="connsiteX98" fmla="*/ 325820 w 1870841"/>
              <a:gd name="connsiteY98" fmla="*/ 1534511 h 7187385"/>
              <a:gd name="connsiteX99" fmla="*/ 262758 w 1870841"/>
              <a:gd name="connsiteY99" fmla="*/ 1713187 h 7187385"/>
              <a:gd name="connsiteX100" fmla="*/ 283779 w 1870841"/>
              <a:gd name="connsiteY100" fmla="*/ 1807780 h 7187385"/>
              <a:gd name="connsiteX101" fmla="*/ 304800 w 1870841"/>
              <a:gd name="connsiteY101" fmla="*/ 1839311 h 7187385"/>
              <a:gd name="connsiteX102" fmla="*/ 304800 w 1870841"/>
              <a:gd name="connsiteY102" fmla="*/ 2017987 h 7187385"/>
              <a:gd name="connsiteX103" fmla="*/ 252248 w 1870841"/>
              <a:gd name="connsiteY103" fmla="*/ 2144111 h 7187385"/>
              <a:gd name="connsiteX104" fmla="*/ 115613 w 1870841"/>
              <a:gd name="connsiteY104" fmla="*/ 2459421 h 7187385"/>
              <a:gd name="connsiteX105" fmla="*/ 105103 w 1870841"/>
              <a:gd name="connsiteY105" fmla="*/ 2596056 h 7187385"/>
              <a:gd name="connsiteX106" fmla="*/ 73572 w 1870841"/>
              <a:gd name="connsiteY106" fmla="*/ 2743200 h 7187385"/>
              <a:gd name="connsiteX107" fmla="*/ 52551 w 1870841"/>
              <a:gd name="connsiteY107" fmla="*/ 2890345 h 7187385"/>
              <a:gd name="connsiteX108" fmla="*/ 84082 w 1870841"/>
              <a:gd name="connsiteY108" fmla="*/ 3247697 h 7187385"/>
              <a:gd name="connsiteX109" fmla="*/ 63062 w 1870841"/>
              <a:gd name="connsiteY109" fmla="*/ 3478925 h 7187385"/>
              <a:gd name="connsiteX110" fmla="*/ 31531 w 1870841"/>
              <a:gd name="connsiteY110" fmla="*/ 3867807 h 7187385"/>
              <a:gd name="connsiteX111" fmla="*/ 21020 w 1870841"/>
              <a:gd name="connsiteY111" fmla="*/ 4056994 h 7187385"/>
              <a:gd name="connsiteX112" fmla="*/ 0 w 1870841"/>
              <a:gd name="connsiteY112" fmla="*/ 4319752 h 7187385"/>
              <a:gd name="connsiteX113" fmla="*/ 10510 w 1870841"/>
              <a:gd name="connsiteY113" fmla="*/ 4677104 h 7187385"/>
              <a:gd name="connsiteX114" fmla="*/ 84082 w 1870841"/>
              <a:gd name="connsiteY114" fmla="*/ 4929352 h 7187385"/>
              <a:gd name="connsiteX115" fmla="*/ 126124 w 1870841"/>
              <a:gd name="connsiteY115" fmla="*/ 5097518 h 7187385"/>
              <a:gd name="connsiteX116" fmla="*/ 157655 w 1870841"/>
              <a:gd name="connsiteY116" fmla="*/ 5244663 h 7187385"/>
              <a:gd name="connsiteX117" fmla="*/ 199696 w 1870841"/>
              <a:gd name="connsiteY117" fmla="*/ 5381297 h 7187385"/>
              <a:gd name="connsiteX118" fmla="*/ 346841 w 1870841"/>
              <a:gd name="connsiteY118" fmla="*/ 5938345 h 7187385"/>
              <a:gd name="connsiteX119" fmla="*/ 357351 w 1870841"/>
              <a:gd name="connsiteY119" fmla="*/ 6484883 h 7187385"/>
              <a:gd name="connsiteX120" fmla="*/ 399393 w 1870841"/>
              <a:gd name="connsiteY120" fmla="*/ 6579476 h 7187385"/>
              <a:gd name="connsiteX121" fmla="*/ 451945 w 1870841"/>
              <a:gd name="connsiteY121" fmla="*/ 6695090 h 7187385"/>
              <a:gd name="connsiteX122" fmla="*/ 483476 w 1870841"/>
              <a:gd name="connsiteY122" fmla="*/ 6737131 h 7187385"/>
              <a:gd name="connsiteX123" fmla="*/ 557048 w 1870841"/>
              <a:gd name="connsiteY123" fmla="*/ 6789683 h 7187385"/>
              <a:gd name="connsiteX124" fmla="*/ 651641 w 1870841"/>
              <a:gd name="connsiteY124" fmla="*/ 6873766 h 7187385"/>
              <a:gd name="connsiteX125" fmla="*/ 714703 w 1870841"/>
              <a:gd name="connsiteY125" fmla="*/ 6936828 h 7187385"/>
              <a:gd name="connsiteX126" fmla="*/ 777765 w 1870841"/>
              <a:gd name="connsiteY126" fmla="*/ 7010400 h 7187385"/>
              <a:gd name="connsiteX127" fmla="*/ 809296 w 1870841"/>
              <a:gd name="connsiteY127" fmla="*/ 7020911 h 7187385"/>
              <a:gd name="connsiteX128" fmla="*/ 914400 w 1870841"/>
              <a:gd name="connsiteY128" fmla="*/ 7083973 h 7187385"/>
              <a:gd name="connsiteX129" fmla="*/ 956441 w 1870841"/>
              <a:gd name="connsiteY129" fmla="*/ 7094483 h 7187385"/>
              <a:gd name="connsiteX130" fmla="*/ 987972 w 1870841"/>
              <a:gd name="connsiteY130" fmla="*/ 7115504 h 7187385"/>
              <a:gd name="connsiteX131" fmla="*/ 1103586 w 1870841"/>
              <a:gd name="connsiteY131" fmla="*/ 7147035 h 7187385"/>
              <a:gd name="connsiteX132" fmla="*/ 1166648 w 1870841"/>
              <a:gd name="connsiteY132" fmla="*/ 7168056 h 7187385"/>
              <a:gd name="connsiteX133" fmla="*/ 1397876 w 1870841"/>
              <a:gd name="connsiteY133" fmla="*/ 7168056 h 718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1870841" h="7187385">
                <a:moveTo>
                  <a:pt x="1397876" y="7168056"/>
                </a:moveTo>
                <a:cubicBezTo>
                  <a:pt x="1443421" y="7131270"/>
                  <a:pt x="1379769" y="7043574"/>
                  <a:pt x="1439917" y="6947338"/>
                </a:cubicBezTo>
                <a:cubicBezTo>
                  <a:pt x="1446612" y="6936626"/>
                  <a:pt x="1453508" y="6926023"/>
                  <a:pt x="1460938" y="6915807"/>
                </a:cubicBezTo>
                <a:cubicBezTo>
                  <a:pt x="1481544" y="6887474"/>
                  <a:pt x="1524000" y="6831725"/>
                  <a:pt x="1524000" y="6831725"/>
                </a:cubicBezTo>
                <a:cubicBezTo>
                  <a:pt x="1520496" y="6814208"/>
                  <a:pt x="1523398" y="6794037"/>
                  <a:pt x="1513489" y="6779173"/>
                </a:cubicBezTo>
                <a:cubicBezTo>
                  <a:pt x="1507344" y="6769955"/>
                  <a:pt x="1491353" y="6774535"/>
                  <a:pt x="1481958" y="6768663"/>
                </a:cubicBezTo>
                <a:cubicBezTo>
                  <a:pt x="1462935" y="6756773"/>
                  <a:pt x="1446924" y="6740635"/>
                  <a:pt x="1429407" y="6726621"/>
                </a:cubicBezTo>
                <a:cubicBezTo>
                  <a:pt x="1422400" y="6712607"/>
                  <a:pt x="1410116" y="6700152"/>
                  <a:pt x="1408386" y="6684580"/>
                </a:cubicBezTo>
                <a:cubicBezTo>
                  <a:pt x="1400113" y="6610128"/>
                  <a:pt x="1516158" y="6508970"/>
                  <a:pt x="1534510" y="6484883"/>
                </a:cubicBezTo>
                <a:cubicBezTo>
                  <a:pt x="1552775" y="6460911"/>
                  <a:pt x="1587062" y="6411311"/>
                  <a:pt x="1587062" y="6411311"/>
                </a:cubicBezTo>
                <a:cubicBezTo>
                  <a:pt x="1593036" y="6387413"/>
                  <a:pt x="1609514" y="6326250"/>
                  <a:pt x="1608082" y="6306207"/>
                </a:cubicBezTo>
                <a:cubicBezTo>
                  <a:pt x="1600700" y="6202855"/>
                  <a:pt x="1593550" y="6246617"/>
                  <a:pt x="1555531" y="6180083"/>
                </a:cubicBezTo>
                <a:cubicBezTo>
                  <a:pt x="1536097" y="6146074"/>
                  <a:pt x="1520496" y="6110014"/>
                  <a:pt x="1502979" y="6074980"/>
                </a:cubicBezTo>
                <a:cubicBezTo>
                  <a:pt x="1499476" y="6046952"/>
                  <a:pt x="1490707" y="6019088"/>
                  <a:pt x="1492469" y="5990897"/>
                </a:cubicBezTo>
                <a:cubicBezTo>
                  <a:pt x="1494042" y="5965720"/>
                  <a:pt x="1541039" y="5814980"/>
                  <a:pt x="1545020" y="5801711"/>
                </a:cubicBezTo>
                <a:cubicBezTo>
                  <a:pt x="1547410" y="5784978"/>
                  <a:pt x="1579107" y="5554958"/>
                  <a:pt x="1587062" y="5528442"/>
                </a:cubicBezTo>
                <a:lnTo>
                  <a:pt x="1618593" y="5423338"/>
                </a:lnTo>
                <a:cubicBezTo>
                  <a:pt x="1615089" y="5391807"/>
                  <a:pt x="1628973" y="5352620"/>
                  <a:pt x="1608082" y="5328745"/>
                </a:cubicBezTo>
                <a:cubicBezTo>
                  <a:pt x="1594049" y="5312707"/>
                  <a:pt x="1565823" y="5343879"/>
                  <a:pt x="1545020" y="5339256"/>
                </a:cubicBezTo>
                <a:cubicBezTo>
                  <a:pt x="1530510" y="5336032"/>
                  <a:pt x="1523999" y="5318235"/>
                  <a:pt x="1513489" y="5307725"/>
                </a:cubicBezTo>
                <a:cubicBezTo>
                  <a:pt x="1516993" y="5297215"/>
                  <a:pt x="1516984" y="5284769"/>
                  <a:pt x="1524000" y="5276194"/>
                </a:cubicBezTo>
                <a:cubicBezTo>
                  <a:pt x="1549100" y="5245517"/>
                  <a:pt x="1608082" y="5192111"/>
                  <a:pt x="1608082" y="5192111"/>
                </a:cubicBezTo>
                <a:cubicBezTo>
                  <a:pt x="1624734" y="5142155"/>
                  <a:pt x="1639613" y="5110054"/>
                  <a:pt x="1639613" y="5055476"/>
                </a:cubicBezTo>
                <a:cubicBezTo>
                  <a:pt x="1639613" y="5048823"/>
                  <a:pt x="1622010" y="4951254"/>
                  <a:pt x="1618593" y="4939863"/>
                </a:cubicBezTo>
                <a:cubicBezTo>
                  <a:pt x="1602675" y="4886805"/>
                  <a:pt x="1566041" y="4782207"/>
                  <a:pt x="1566041" y="4782207"/>
                </a:cubicBezTo>
                <a:cubicBezTo>
                  <a:pt x="1578546" y="4644647"/>
                  <a:pt x="1570106" y="4691950"/>
                  <a:pt x="1597572" y="4561490"/>
                </a:cubicBezTo>
                <a:cubicBezTo>
                  <a:pt x="1604226" y="4529883"/>
                  <a:pt x="1607982" y="4497404"/>
                  <a:pt x="1618593" y="4466897"/>
                </a:cubicBezTo>
                <a:cubicBezTo>
                  <a:pt x="1636124" y="4416496"/>
                  <a:pt x="1681655" y="4319752"/>
                  <a:pt x="1681655" y="4319752"/>
                </a:cubicBezTo>
                <a:cubicBezTo>
                  <a:pt x="1671145" y="4312745"/>
                  <a:pt x="1661422" y="4304380"/>
                  <a:pt x="1650124" y="4298731"/>
                </a:cubicBezTo>
                <a:cubicBezTo>
                  <a:pt x="1626259" y="4286799"/>
                  <a:pt x="1599061" y="4281525"/>
                  <a:pt x="1576551" y="4267200"/>
                </a:cubicBezTo>
                <a:cubicBezTo>
                  <a:pt x="1559831" y="4256560"/>
                  <a:pt x="1548524" y="4239173"/>
                  <a:pt x="1534510" y="4225159"/>
                </a:cubicBezTo>
                <a:cubicBezTo>
                  <a:pt x="1503823" y="4133095"/>
                  <a:pt x="1531253" y="4234198"/>
                  <a:pt x="1566041" y="4025463"/>
                </a:cubicBezTo>
                <a:cubicBezTo>
                  <a:pt x="1569544" y="4004442"/>
                  <a:pt x="1573310" y="3983463"/>
                  <a:pt x="1576551" y="3962400"/>
                </a:cubicBezTo>
                <a:cubicBezTo>
                  <a:pt x="1590689" y="3870502"/>
                  <a:pt x="1585654" y="3880867"/>
                  <a:pt x="1608082" y="3773214"/>
                </a:cubicBezTo>
                <a:cubicBezTo>
                  <a:pt x="1658538" y="3531023"/>
                  <a:pt x="1625485" y="3721344"/>
                  <a:pt x="1650124" y="3573518"/>
                </a:cubicBezTo>
                <a:cubicBezTo>
                  <a:pt x="1646620" y="3552497"/>
                  <a:pt x="1648268" y="3529930"/>
                  <a:pt x="1639613" y="3510456"/>
                </a:cubicBezTo>
                <a:cubicBezTo>
                  <a:pt x="1633576" y="3496873"/>
                  <a:pt x="1616327" y="3491293"/>
                  <a:pt x="1608082" y="3478925"/>
                </a:cubicBezTo>
                <a:cubicBezTo>
                  <a:pt x="1601937" y="3469707"/>
                  <a:pt x="1601075" y="3457904"/>
                  <a:pt x="1597572" y="3447394"/>
                </a:cubicBezTo>
                <a:cubicBezTo>
                  <a:pt x="1601075" y="3433380"/>
                  <a:pt x="1597868" y="3415566"/>
                  <a:pt x="1608082" y="3405352"/>
                </a:cubicBezTo>
                <a:cubicBezTo>
                  <a:pt x="1624701" y="3388733"/>
                  <a:pt x="1650600" y="3385235"/>
                  <a:pt x="1671145" y="3373821"/>
                </a:cubicBezTo>
                <a:cubicBezTo>
                  <a:pt x="1682187" y="3367686"/>
                  <a:pt x="1692166" y="3359807"/>
                  <a:pt x="1702676" y="3352800"/>
                </a:cubicBezTo>
                <a:cubicBezTo>
                  <a:pt x="1706179" y="3342290"/>
                  <a:pt x="1717076" y="3331642"/>
                  <a:pt x="1713186" y="3321269"/>
                </a:cubicBezTo>
                <a:cubicBezTo>
                  <a:pt x="1705309" y="3300265"/>
                  <a:pt x="1683034" y="3287741"/>
                  <a:pt x="1671145" y="3268718"/>
                </a:cubicBezTo>
                <a:cubicBezTo>
                  <a:pt x="1647879" y="3231492"/>
                  <a:pt x="1629103" y="3191642"/>
                  <a:pt x="1608082" y="3153104"/>
                </a:cubicBezTo>
                <a:cubicBezTo>
                  <a:pt x="1611586" y="3104056"/>
                  <a:pt x="1599223" y="3051156"/>
                  <a:pt x="1618593" y="3005959"/>
                </a:cubicBezTo>
                <a:cubicBezTo>
                  <a:pt x="1633264" y="2971728"/>
                  <a:pt x="1676342" y="2958721"/>
                  <a:pt x="1702676" y="2932387"/>
                </a:cubicBezTo>
                <a:cubicBezTo>
                  <a:pt x="1806753" y="2828310"/>
                  <a:pt x="1787966" y="2856399"/>
                  <a:pt x="1828800" y="2774731"/>
                </a:cubicBezTo>
                <a:cubicBezTo>
                  <a:pt x="1797269" y="2771228"/>
                  <a:pt x="1764304" y="2774253"/>
                  <a:pt x="1734207" y="2764221"/>
                </a:cubicBezTo>
                <a:cubicBezTo>
                  <a:pt x="1720106" y="2759521"/>
                  <a:pt x="1710554" y="2745295"/>
                  <a:pt x="1702676" y="2732690"/>
                </a:cubicBezTo>
                <a:cubicBezTo>
                  <a:pt x="1693697" y="2718324"/>
                  <a:pt x="1678133" y="2669573"/>
                  <a:pt x="1671145" y="2648607"/>
                </a:cubicBezTo>
                <a:cubicBezTo>
                  <a:pt x="1678152" y="2599559"/>
                  <a:pt x="1684020" y="2550335"/>
                  <a:pt x="1692165" y="2501463"/>
                </a:cubicBezTo>
                <a:cubicBezTo>
                  <a:pt x="1694540" y="2487214"/>
                  <a:pt x="1704719" y="2473721"/>
                  <a:pt x="1702676" y="2459421"/>
                </a:cubicBezTo>
                <a:cubicBezTo>
                  <a:pt x="1700890" y="2446916"/>
                  <a:pt x="1688662" y="2438400"/>
                  <a:pt x="1681655" y="2427890"/>
                </a:cubicBezTo>
                <a:cubicBezTo>
                  <a:pt x="1688662" y="2340304"/>
                  <a:pt x="1690670" y="2252173"/>
                  <a:pt x="1702676" y="2165131"/>
                </a:cubicBezTo>
                <a:cubicBezTo>
                  <a:pt x="1704817" y="2149610"/>
                  <a:pt x="1725639" y="2138637"/>
                  <a:pt x="1723696" y="2123090"/>
                </a:cubicBezTo>
                <a:cubicBezTo>
                  <a:pt x="1721523" y="2105708"/>
                  <a:pt x="1702675" y="2095063"/>
                  <a:pt x="1692165" y="2081049"/>
                </a:cubicBezTo>
                <a:cubicBezTo>
                  <a:pt x="1688662" y="2063532"/>
                  <a:pt x="1680038" y="2046288"/>
                  <a:pt x="1681655" y="2028497"/>
                </a:cubicBezTo>
                <a:cubicBezTo>
                  <a:pt x="1688457" y="1953675"/>
                  <a:pt x="1716735" y="1964923"/>
                  <a:pt x="1755227" y="1902373"/>
                </a:cubicBezTo>
                <a:cubicBezTo>
                  <a:pt x="1769211" y="1879649"/>
                  <a:pt x="1776248" y="1853324"/>
                  <a:pt x="1786758" y="1828800"/>
                </a:cubicBezTo>
                <a:cubicBezTo>
                  <a:pt x="1796803" y="1768536"/>
                  <a:pt x="1809724" y="1724940"/>
                  <a:pt x="1786758" y="1660635"/>
                </a:cubicBezTo>
                <a:cubicBezTo>
                  <a:pt x="1780092" y="1641971"/>
                  <a:pt x="1757615" y="1633641"/>
                  <a:pt x="1744717" y="1618594"/>
                </a:cubicBezTo>
                <a:cubicBezTo>
                  <a:pt x="1736496" y="1609003"/>
                  <a:pt x="1730703" y="1597573"/>
                  <a:pt x="1723696" y="1587063"/>
                </a:cubicBezTo>
                <a:cubicBezTo>
                  <a:pt x="1727200" y="1573049"/>
                  <a:pt x="1727246" y="1557678"/>
                  <a:pt x="1734207" y="1545021"/>
                </a:cubicBezTo>
                <a:cubicBezTo>
                  <a:pt x="1797118" y="1430637"/>
                  <a:pt x="1813290" y="1411550"/>
                  <a:pt x="1870841" y="1334814"/>
                </a:cubicBezTo>
                <a:cubicBezTo>
                  <a:pt x="1863834" y="1306786"/>
                  <a:pt x="1866387" y="1274399"/>
                  <a:pt x="1849820" y="1250731"/>
                </a:cubicBezTo>
                <a:cubicBezTo>
                  <a:pt x="1845997" y="1245269"/>
                  <a:pt x="1780512" y="1224125"/>
                  <a:pt x="1765738" y="1219200"/>
                </a:cubicBezTo>
                <a:cubicBezTo>
                  <a:pt x="1751724" y="1205186"/>
                  <a:pt x="1734689" y="1193649"/>
                  <a:pt x="1723696" y="1177159"/>
                </a:cubicBezTo>
                <a:cubicBezTo>
                  <a:pt x="1699346" y="1140634"/>
                  <a:pt x="1683219" y="1099187"/>
                  <a:pt x="1660634" y="1061545"/>
                </a:cubicBezTo>
                <a:cubicBezTo>
                  <a:pt x="1651622" y="1046524"/>
                  <a:pt x="1639613" y="1033518"/>
                  <a:pt x="1629103" y="1019504"/>
                </a:cubicBezTo>
                <a:cubicBezTo>
                  <a:pt x="1625600" y="1008994"/>
                  <a:pt x="1623548" y="997882"/>
                  <a:pt x="1618593" y="987973"/>
                </a:cubicBezTo>
                <a:cubicBezTo>
                  <a:pt x="1612944" y="976675"/>
                  <a:pt x="1599649" y="968902"/>
                  <a:pt x="1597572" y="956442"/>
                </a:cubicBezTo>
                <a:cubicBezTo>
                  <a:pt x="1595751" y="945514"/>
                  <a:pt x="1603718" y="935094"/>
                  <a:pt x="1608082" y="924911"/>
                </a:cubicBezTo>
                <a:cubicBezTo>
                  <a:pt x="1623160" y="889728"/>
                  <a:pt x="1640701" y="863539"/>
                  <a:pt x="1660634" y="830318"/>
                </a:cubicBezTo>
                <a:cubicBezTo>
                  <a:pt x="1656407" y="794392"/>
                  <a:pt x="1651415" y="647660"/>
                  <a:pt x="1618593" y="588580"/>
                </a:cubicBezTo>
                <a:cubicBezTo>
                  <a:pt x="1611375" y="575587"/>
                  <a:pt x="1596735" y="568335"/>
                  <a:pt x="1587062" y="557049"/>
                </a:cubicBezTo>
                <a:cubicBezTo>
                  <a:pt x="1528204" y="488381"/>
                  <a:pt x="1586362" y="538130"/>
                  <a:pt x="1513489" y="483476"/>
                </a:cubicBezTo>
                <a:cubicBezTo>
                  <a:pt x="1506482" y="472966"/>
                  <a:pt x="1489405" y="464200"/>
                  <a:pt x="1492469" y="451945"/>
                </a:cubicBezTo>
                <a:cubicBezTo>
                  <a:pt x="1495156" y="441197"/>
                  <a:pt x="1513817" y="445799"/>
                  <a:pt x="1524000" y="441435"/>
                </a:cubicBezTo>
                <a:cubicBezTo>
                  <a:pt x="1538401" y="435263"/>
                  <a:pt x="1552027" y="427421"/>
                  <a:pt x="1566041" y="420414"/>
                </a:cubicBezTo>
                <a:cubicBezTo>
                  <a:pt x="1559034" y="353849"/>
                  <a:pt x="1554064" y="287037"/>
                  <a:pt x="1545020" y="220718"/>
                </a:cubicBezTo>
                <a:cubicBezTo>
                  <a:pt x="1543523" y="209741"/>
                  <a:pt x="1544634" y="193687"/>
                  <a:pt x="1534510" y="189187"/>
                </a:cubicBezTo>
                <a:cubicBezTo>
                  <a:pt x="1508699" y="177715"/>
                  <a:pt x="1478455" y="182180"/>
                  <a:pt x="1450427" y="178676"/>
                </a:cubicBezTo>
                <a:cubicBezTo>
                  <a:pt x="1436413" y="136635"/>
                  <a:pt x="1432350" y="89829"/>
                  <a:pt x="1408386" y="52552"/>
                </a:cubicBezTo>
                <a:cubicBezTo>
                  <a:pt x="1398184" y="36682"/>
                  <a:pt x="1373733" y="37497"/>
                  <a:pt x="1355834" y="31531"/>
                </a:cubicBezTo>
                <a:cubicBezTo>
                  <a:pt x="1342130" y="26963"/>
                  <a:pt x="1327629" y="25172"/>
                  <a:pt x="1313793" y="21021"/>
                </a:cubicBezTo>
                <a:cubicBezTo>
                  <a:pt x="1292570" y="14654"/>
                  <a:pt x="1271752" y="7007"/>
                  <a:pt x="1250731" y="0"/>
                </a:cubicBezTo>
                <a:cubicBezTo>
                  <a:pt x="1087858" y="6033"/>
                  <a:pt x="935511" y="-428"/>
                  <a:pt x="777765" y="42042"/>
                </a:cubicBezTo>
                <a:cubicBezTo>
                  <a:pt x="747507" y="50188"/>
                  <a:pt x="721710" y="70069"/>
                  <a:pt x="693682" y="84083"/>
                </a:cubicBezTo>
                <a:cubicBezTo>
                  <a:pt x="704192" y="73573"/>
                  <a:pt x="713118" y="61191"/>
                  <a:pt x="725213" y="52552"/>
                </a:cubicBezTo>
                <a:cubicBezTo>
                  <a:pt x="782436" y="11679"/>
                  <a:pt x="783022" y="31530"/>
                  <a:pt x="735724" y="94594"/>
                </a:cubicBezTo>
                <a:cubicBezTo>
                  <a:pt x="497643" y="412036"/>
                  <a:pt x="599101" y="220694"/>
                  <a:pt x="515007" y="388883"/>
                </a:cubicBezTo>
                <a:cubicBezTo>
                  <a:pt x="585674" y="406551"/>
                  <a:pt x="588928" y="392829"/>
                  <a:pt x="504496" y="504497"/>
                </a:cubicBezTo>
                <a:cubicBezTo>
                  <a:pt x="419006" y="617564"/>
                  <a:pt x="318907" y="718940"/>
                  <a:pt x="231227" y="830318"/>
                </a:cubicBezTo>
                <a:cubicBezTo>
                  <a:pt x="189150" y="883767"/>
                  <a:pt x="154151" y="942428"/>
                  <a:pt x="115613" y="998483"/>
                </a:cubicBezTo>
                <a:cubicBezTo>
                  <a:pt x="147144" y="1019504"/>
                  <a:pt x="175022" y="1047470"/>
                  <a:pt x="210207" y="1061545"/>
                </a:cubicBezTo>
                <a:cubicBezTo>
                  <a:pt x="254521" y="1079271"/>
                  <a:pt x="276037" y="1084642"/>
                  <a:pt x="315310" y="1114097"/>
                </a:cubicBezTo>
                <a:cubicBezTo>
                  <a:pt x="327201" y="1123015"/>
                  <a:pt x="336331" y="1135118"/>
                  <a:pt x="346841" y="1145628"/>
                </a:cubicBezTo>
                <a:cubicBezTo>
                  <a:pt x="350344" y="1166649"/>
                  <a:pt x="358501" y="1187410"/>
                  <a:pt x="357351" y="1208690"/>
                </a:cubicBezTo>
                <a:cubicBezTo>
                  <a:pt x="351461" y="1317645"/>
                  <a:pt x="341620" y="1426547"/>
                  <a:pt x="325820" y="1534511"/>
                </a:cubicBezTo>
                <a:cubicBezTo>
                  <a:pt x="317110" y="1594032"/>
                  <a:pt x="286458" y="1657887"/>
                  <a:pt x="262758" y="1713187"/>
                </a:cubicBezTo>
                <a:cubicBezTo>
                  <a:pt x="266794" y="1737402"/>
                  <a:pt x="270843" y="1781908"/>
                  <a:pt x="283779" y="1807780"/>
                </a:cubicBezTo>
                <a:cubicBezTo>
                  <a:pt x="289428" y="1819078"/>
                  <a:pt x="297793" y="1828801"/>
                  <a:pt x="304800" y="1839311"/>
                </a:cubicBezTo>
                <a:cubicBezTo>
                  <a:pt x="314869" y="1909794"/>
                  <a:pt x="325479" y="1942164"/>
                  <a:pt x="304800" y="2017987"/>
                </a:cubicBezTo>
                <a:cubicBezTo>
                  <a:pt x="292816" y="2061927"/>
                  <a:pt x="270878" y="2102551"/>
                  <a:pt x="252248" y="2144111"/>
                </a:cubicBezTo>
                <a:cubicBezTo>
                  <a:pt x="117349" y="2445039"/>
                  <a:pt x="214063" y="2203454"/>
                  <a:pt x="115613" y="2459421"/>
                </a:cubicBezTo>
                <a:cubicBezTo>
                  <a:pt x="112110" y="2504966"/>
                  <a:pt x="111797" y="2550870"/>
                  <a:pt x="105103" y="2596056"/>
                </a:cubicBezTo>
                <a:cubicBezTo>
                  <a:pt x="97752" y="2645676"/>
                  <a:pt x="82390" y="2693820"/>
                  <a:pt x="73572" y="2743200"/>
                </a:cubicBezTo>
                <a:cubicBezTo>
                  <a:pt x="64862" y="2791975"/>
                  <a:pt x="59558" y="2841297"/>
                  <a:pt x="52551" y="2890345"/>
                </a:cubicBezTo>
                <a:cubicBezTo>
                  <a:pt x="63061" y="3009462"/>
                  <a:pt x="81947" y="3128136"/>
                  <a:pt x="84082" y="3247697"/>
                </a:cubicBezTo>
                <a:cubicBezTo>
                  <a:pt x="85464" y="3325078"/>
                  <a:pt x="69597" y="3401808"/>
                  <a:pt x="63062" y="3478925"/>
                </a:cubicBezTo>
                <a:cubicBezTo>
                  <a:pt x="52080" y="3608513"/>
                  <a:pt x="40965" y="3738097"/>
                  <a:pt x="31531" y="3867807"/>
                </a:cubicBezTo>
                <a:cubicBezTo>
                  <a:pt x="26950" y="3930800"/>
                  <a:pt x="24960" y="3993957"/>
                  <a:pt x="21020" y="4056994"/>
                </a:cubicBezTo>
                <a:cubicBezTo>
                  <a:pt x="13059" y="4184371"/>
                  <a:pt x="10786" y="4201098"/>
                  <a:pt x="0" y="4319752"/>
                </a:cubicBezTo>
                <a:cubicBezTo>
                  <a:pt x="3503" y="4438869"/>
                  <a:pt x="-5773" y="4559053"/>
                  <a:pt x="10510" y="4677104"/>
                </a:cubicBezTo>
                <a:cubicBezTo>
                  <a:pt x="22477" y="4763869"/>
                  <a:pt x="62839" y="4844381"/>
                  <a:pt x="84082" y="4929352"/>
                </a:cubicBezTo>
                <a:cubicBezTo>
                  <a:pt x="98096" y="4985407"/>
                  <a:pt x="112994" y="5041249"/>
                  <a:pt x="126124" y="5097518"/>
                </a:cubicBezTo>
                <a:cubicBezTo>
                  <a:pt x="137522" y="5146368"/>
                  <a:pt x="145066" y="5196107"/>
                  <a:pt x="157655" y="5244663"/>
                </a:cubicBezTo>
                <a:cubicBezTo>
                  <a:pt x="169614" y="5290790"/>
                  <a:pt x="188921" y="5334879"/>
                  <a:pt x="199696" y="5381297"/>
                </a:cubicBezTo>
                <a:cubicBezTo>
                  <a:pt x="323216" y="5913386"/>
                  <a:pt x="220137" y="5684939"/>
                  <a:pt x="346841" y="5938345"/>
                </a:cubicBezTo>
                <a:cubicBezTo>
                  <a:pt x="350344" y="6120524"/>
                  <a:pt x="342465" y="6303279"/>
                  <a:pt x="357351" y="6484883"/>
                </a:cubicBezTo>
                <a:cubicBezTo>
                  <a:pt x="360170" y="6519273"/>
                  <a:pt x="386255" y="6547570"/>
                  <a:pt x="399393" y="6579476"/>
                </a:cubicBezTo>
                <a:cubicBezTo>
                  <a:pt x="435018" y="6665994"/>
                  <a:pt x="414464" y="6642617"/>
                  <a:pt x="451945" y="6695090"/>
                </a:cubicBezTo>
                <a:cubicBezTo>
                  <a:pt x="462127" y="6709344"/>
                  <a:pt x="470456" y="6725413"/>
                  <a:pt x="483476" y="6737131"/>
                </a:cubicBezTo>
                <a:cubicBezTo>
                  <a:pt x="505877" y="6757292"/>
                  <a:pt x="533658" y="6770678"/>
                  <a:pt x="557048" y="6789683"/>
                </a:cubicBezTo>
                <a:cubicBezTo>
                  <a:pt x="589790" y="6816286"/>
                  <a:pt x="620800" y="6844981"/>
                  <a:pt x="651641" y="6873766"/>
                </a:cubicBezTo>
                <a:cubicBezTo>
                  <a:pt x="673374" y="6894050"/>
                  <a:pt x="694816" y="6914732"/>
                  <a:pt x="714703" y="6936828"/>
                </a:cubicBezTo>
                <a:cubicBezTo>
                  <a:pt x="736559" y="6961113"/>
                  <a:pt x="749624" y="6991639"/>
                  <a:pt x="777765" y="7010400"/>
                </a:cubicBezTo>
                <a:cubicBezTo>
                  <a:pt x="786983" y="7016546"/>
                  <a:pt x="799611" y="7015531"/>
                  <a:pt x="809296" y="7020911"/>
                </a:cubicBezTo>
                <a:cubicBezTo>
                  <a:pt x="860065" y="7049116"/>
                  <a:pt x="865470" y="7065624"/>
                  <a:pt x="914400" y="7083973"/>
                </a:cubicBezTo>
                <a:cubicBezTo>
                  <a:pt x="927925" y="7089045"/>
                  <a:pt x="942427" y="7090980"/>
                  <a:pt x="956441" y="7094483"/>
                </a:cubicBezTo>
                <a:cubicBezTo>
                  <a:pt x="966951" y="7101490"/>
                  <a:pt x="976429" y="7110374"/>
                  <a:pt x="987972" y="7115504"/>
                </a:cubicBezTo>
                <a:cubicBezTo>
                  <a:pt x="1055235" y="7145399"/>
                  <a:pt x="1039583" y="7129580"/>
                  <a:pt x="1103586" y="7147035"/>
                </a:cubicBezTo>
                <a:cubicBezTo>
                  <a:pt x="1124963" y="7152865"/>
                  <a:pt x="1144539" y="7166582"/>
                  <a:pt x="1166648" y="7168056"/>
                </a:cubicBezTo>
                <a:cubicBezTo>
                  <a:pt x="1345277" y="7179964"/>
                  <a:pt x="1352331" y="7204842"/>
                  <a:pt x="1397876" y="7168056"/>
                </a:cubicBezTo>
                <a:close/>
              </a:path>
            </a:pathLst>
          </a:cu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04970B-69E6-0646-C365-F39402D449EE}"/>
              </a:ext>
            </a:extLst>
          </p:cNvPr>
          <p:cNvSpPr txBox="1"/>
          <p:nvPr/>
        </p:nvSpPr>
        <p:spPr>
          <a:xfrm>
            <a:off x="588563" y="1799719"/>
            <a:ext cx="45897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✅ </a:t>
            </a:r>
            <a:r>
              <a:rPr lang="en-US" sz="1600" b="1" dirty="0">
                <a:solidFill>
                  <a:srgbClr val="FF0000"/>
                </a:solidFill>
                <a:latin typeface="Bahnschrift" panose="020B0502040204020203" pitchFamily="34" charset="0"/>
              </a:rPr>
              <a:t>Pay-as-You-Go System:</a:t>
            </a:r>
            <a:r>
              <a:rPr lang="en-US" sz="1600" dirty="0">
                <a:solidFill>
                  <a:srgbClr val="FF000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Flexible    and budget-friendly alternative to rigid gym memberships.</a:t>
            </a:r>
          </a:p>
          <a:p>
            <a:b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1600" dirty="0">
                <a:solidFill>
                  <a:srgbClr val="FF0000"/>
                </a:solidFill>
                <a:latin typeface="Bahnschrift" panose="020B0502040204020203" pitchFamily="34" charset="0"/>
              </a:rPr>
              <a:t>✅ </a:t>
            </a:r>
            <a:r>
              <a:rPr lang="en-US" sz="1600" b="1" dirty="0">
                <a:solidFill>
                  <a:srgbClr val="FF0000"/>
                </a:solidFill>
                <a:latin typeface="Bahnschrift" panose="020B0502040204020203" pitchFamily="34" charset="0"/>
              </a:rPr>
              <a:t>Multi-Gym Access:</a:t>
            </a:r>
            <a:r>
              <a:rPr lang="en-US" sz="1600" dirty="0">
                <a:solidFill>
                  <a:srgbClr val="FF000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Allows users to visit various gyms under one platform.</a:t>
            </a:r>
          </a:p>
          <a:p>
            <a:b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✅ </a:t>
            </a:r>
            <a:r>
              <a:rPr lang="en-US" sz="1600" b="1" dirty="0">
                <a:solidFill>
                  <a:srgbClr val="FF0000"/>
                </a:solidFill>
                <a:latin typeface="Bahnschrift" panose="020B0502040204020203" pitchFamily="34" charset="0"/>
              </a:rPr>
              <a:t>AI-Driven Guidance:</a:t>
            </a:r>
            <a:r>
              <a:rPr lang="en-US" sz="1600" dirty="0">
                <a:solidFill>
                  <a:srgbClr val="FF000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Personalized fitness plans and progress tracking for smarter workouts.</a:t>
            </a:r>
          </a:p>
          <a:p>
            <a:b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✅ </a:t>
            </a:r>
            <a:r>
              <a:rPr lang="en-US" sz="1600" b="1" dirty="0">
                <a:solidFill>
                  <a:srgbClr val="FF0000"/>
                </a:solidFill>
                <a:latin typeface="Bahnschrift" panose="020B0502040204020203" pitchFamily="34" charset="0"/>
              </a:rPr>
              <a:t>Community Challenges &amp; Rewards:</a:t>
            </a:r>
            <a:r>
              <a:rPr lang="en-US" sz="1600" dirty="0">
                <a:solidFill>
                  <a:srgbClr val="FF000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Keeps users motivated and engaged.</a:t>
            </a:r>
          </a:p>
          <a:p>
            <a:b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✅ </a:t>
            </a:r>
            <a:r>
              <a:rPr lang="en-US" sz="1600" b="1" dirty="0">
                <a:solidFill>
                  <a:srgbClr val="FF0000"/>
                </a:solidFill>
                <a:latin typeface="Bahnschrift" panose="020B0502040204020203" pitchFamily="34" charset="0"/>
              </a:rPr>
              <a:t>Trainer Support:</a:t>
            </a:r>
            <a:r>
              <a:rPr lang="en-US" sz="1600" dirty="0">
                <a:solidFill>
                  <a:srgbClr val="FF000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Direct access to certified trainers via the platform</a:t>
            </a:r>
            <a:r>
              <a:rPr lang="en-US" sz="1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.</a:t>
            </a:r>
            <a:endParaRPr lang="en-IN" sz="1600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38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003300" y="1950720"/>
            <a:ext cx="3185160" cy="31184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01725" y="2059940"/>
            <a:ext cx="2987040" cy="29006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980440" y="3211195"/>
            <a:ext cx="3185160" cy="386715"/>
          </a:xfrm>
        </p:spPr>
        <p:txBody>
          <a:bodyPr>
            <a:normAutofit fontScale="90000"/>
          </a:bodyPr>
          <a:lstStyle/>
          <a:p>
            <a:r>
              <a:rPr lang="en-US" sz="3110" dirty="0"/>
              <a:t>Current Achievements</a:t>
            </a:r>
          </a:p>
        </p:txBody>
      </p:sp>
      <p:sp>
        <p:nvSpPr>
          <p:cNvPr id="15" name="序号"/>
          <p:cNvSpPr txBox="1"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754050" y="1051243"/>
            <a:ext cx="683895" cy="68389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01</a:t>
            </a:r>
            <a:endParaRPr lang="en-US" sz="2400" b="1" dirty="0">
              <a:solidFill>
                <a:schemeClr val="lt1">
                  <a:lumMod val="10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标题"/>
          <p:cNvSpPr txBox="1"/>
          <p:nvPr>
            <p:custDataLst>
              <p:tags r:id="rId4"/>
            </p:custDataLst>
          </p:nvPr>
        </p:nvSpPr>
        <p:spPr>
          <a:xfrm>
            <a:off x="6629400" y="909957"/>
            <a:ext cx="4431030" cy="9664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altLang="en-US" sz="1600" b="1" dirty="0">
                <a:latin typeface="+mj-ea"/>
                <a:ea typeface="+mj-ea"/>
                <a:cs typeface="Arial" panose="020B0604020202020204" pitchFamily="34" charset="0"/>
              </a:rPr>
              <a:t>Muay Thai Bootcamp Collaboration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: Successfully conducted a </a:t>
            </a:r>
            <a:r>
              <a:rPr lang="en-US" altLang="en-US" sz="16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Muay Thai bootcamp in partnership with Thaimak at our college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receiving positive engagement from participants.</a:t>
            </a:r>
          </a:p>
        </p:txBody>
      </p:sp>
      <p:sp>
        <p:nvSpPr>
          <p:cNvPr id="24" name="序号"/>
          <p:cNvSpPr txBox="1"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754049" y="2413953"/>
            <a:ext cx="683895" cy="68389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02</a:t>
            </a:r>
            <a:endParaRPr lang="en-US" sz="2400" b="1" dirty="0">
              <a:solidFill>
                <a:schemeClr val="lt1">
                  <a:lumMod val="10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5" name="标题"/>
          <p:cNvSpPr txBox="1"/>
          <p:nvPr>
            <p:custDataLst>
              <p:tags r:id="rId6"/>
            </p:custDataLst>
          </p:nvPr>
        </p:nvSpPr>
        <p:spPr>
          <a:xfrm>
            <a:off x="6629400" y="2365560"/>
            <a:ext cx="4208780" cy="68389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sz="1600" b="1" dirty="0">
                <a:latin typeface="+mj-lt"/>
              </a:rPr>
              <a:t>Live BEARITT Website:</a:t>
            </a:r>
            <a:r>
              <a:rPr lang="en-US" sz="1600" dirty="0">
                <a:latin typeface="+mj-lt"/>
              </a:rPr>
              <a:t>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platform is currently online, </a:t>
            </a:r>
            <a:r>
              <a:rPr lang="en-US" sz="1600" b="1" dirty="0">
                <a:solidFill>
                  <a:schemeClr val="accent2"/>
                </a:solidFill>
                <a:latin typeface="+mj-lt"/>
              </a:rPr>
              <a:t>offering free access to tools, workout plans, and a growing fitness community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.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序号"/>
          <p:cNvSpPr txBox="1"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774485" y="3733946"/>
            <a:ext cx="683895" cy="68389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03</a:t>
            </a:r>
            <a:endParaRPr lang="en-US" sz="2400" b="1">
              <a:solidFill>
                <a:schemeClr val="lt1">
                  <a:lumMod val="10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9" name="标题"/>
          <p:cNvSpPr txBox="1"/>
          <p:nvPr>
            <p:custDataLst>
              <p:tags r:id="rId8"/>
            </p:custDataLst>
          </p:nvPr>
        </p:nvSpPr>
        <p:spPr>
          <a:xfrm>
            <a:off x="6740525" y="3563620"/>
            <a:ext cx="4208780" cy="96647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sz="1600" b="1" dirty="0">
                <a:latin typeface="+mj-lt"/>
              </a:rPr>
              <a:t>Community Challenges &amp; Rewards:</a:t>
            </a:r>
            <a:r>
              <a:rPr lang="en-US" sz="1600" dirty="0">
                <a:latin typeface="+mj-lt"/>
              </a:rPr>
              <a:t>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Planning to launch </a:t>
            </a:r>
            <a:r>
              <a:rPr lang="en-US" sz="1600" b="1" dirty="0">
                <a:solidFill>
                  <a:schemeClr val="accent2"/>
                </a:solidFill>
                <a:latin typeface="+mj-lt"/>
              </a:rPr>
              <a:t>fitness challenges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where users can compete, complete tasks, and </a:t>
            </a:r>
            <a:r>
              <a:rPr lang="en-US" sz="1600" b="1" dirty="0">
                <a:solidFill>
                  <a:schemeClr val="accent2"/>
                </a:solidFill>
                <a:latin typeface="+mj-lt"/>
              </a:rPr>
              <a:t>win gifts, increasing engagement.</a:t>
            </a:r>
            <a:endParaRPr lang="en-US" sz="1600" b="1" dirty="0">
              <a:solidFill>
                <a:schemeClr val="accent2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序号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761990" y="5053939"/>
            <a:ext cx="683895" cy="68389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04</a:t>
            </a:r>
            <a:endParaRPr lang="en-US" sz="2400" b="1">
              <a:solidFill>
                <a:schemeClr val="lt1">
                  <a:lumMod val="10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2" name="标题"/>
          <p:cNvSpPr txBox="1"/>
          <p:nvPr>
            <p:custDataLst>
              <p:tags r:id="rId10"/>
            </p:custDataLst>
          </p:nvPr>
        </p:nvSpPr>
        <p:spPr>
          <a:xfrm>
            <a:off x="6740525" y="5103755"/>
            <a:ext cx="4319905" cy="76020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sz="1600" b="1" dirty="0"/>
              <a:t>First Gym Partnership Secured:</a:t>
            </a:r>
            <a:r>
              <a:rPr lang="en-US" sz="1600" dirty="0"/>
              <a:t>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 have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partnered with 3 gym and fitness center,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marking the beginning of our gym network expansion.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Arc 9"/>
          <p:cNvSpPr/>
          <p:nvPr/>
        </p:nvSpPr>
        <p:spPr>
          <a:xfrm>
            <a:off x="520700" y="1643380"/>
            <a:ext cx="4091940" cy="3840480"/>
          </a:xfrm>
          <a:prstGeom prst="arc">
            <a:avLst>
              <a:gd name="adj1" fmla="val 18702943"/>
              <a:gd name="adj2" fmla="val 6452827"/>
            </a:avLst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4599" y="1290369"/>
            <a:ext cx="1703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user benefits</a:t>
            </a:r>
            <a:endParaRPr lang="en-IN" sz="24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3052767" y="573550"/>
            <a:ext cx="0" cy="18953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01453" y="1357728"/>
            <a:ext cx="20945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Access multiple gyms </a:t>
            </a:r>
            <a:r>
              <a:rPr lang="en-US" dirty="0">
                <a:solidFill>
                  <a:schemeClr val="bg1"/>
                </a:solidFill>
              </a:rPr>
              <a:t>with one membership.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0" y="1357728"/>
            <a:ext cx="17053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Pay per use </a:t>
            </a:r>
            <a:r>
              <a:rPr lang="en-US" dirty="0">
                <a:solidFill>
                  <a:schemeClr val="bg1"/>
                </a:solidFill>
              </a:rPr>
              <a:t>with a coin-based system.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21339" y="1344749"/>
            <a:ext cx="1881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Join 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ui-sans-serif"/>
              </a:rPr>
              <a:t>challenges, earn rewards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and stay consistent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0066085" y="1344749"/>
            <a:ext cx="20945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Get 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ui-sans-serif"/>
              </a:rPr>
              <a:t>tailored health plans 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and 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ui-sans-serif"/>
              </a:rPr>
              <a:t>expert guidance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738" y="4889541"/>
            <a:ext cx="1532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gym benefits</a:t>
            </a:r>
            <a:endParaRPr lang="en-IN" sz="24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052767" y="4220552"/>
            <a:ext cx="0" cy="18953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01453" y="5158580"/>
            <a:ext cx="2011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ui-sans-serif"/>
              </a:rPr>
              <a:t>Manage payments 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and 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ui-sans-serif"/>
              </a:rPr>
              <a:t>attendance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 easily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8273991" y="5158580"/>
            <a:ext cx="16638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ui-sans-serif"/>
              </a:rPr>
              <a:t>Boost visibility 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via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ui-sans-serif"/>
              </a:rPr>
              <a:t>Bearitt’s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 platform.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9937851" y="5168203"/>
            <a:ext cx="21962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Attract 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ui-sans-serif"/>
              </a:rPr>
              <a:t>extra customers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including travelers and occasional users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6221391" y="5120374"/>
            <a:ext cx="1843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Earn 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ui-sans-serif"/>
              </a:rPr>
              <a:t>extra money 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with coins for each visit</a:t>
            </a:r>
            <a:endParaRPr lang="en-IN" dirty="0"/>
          </a:p>
        </p:txBody>
      </p:sp>
      <p:pic>
        <p:nvPicPr>
          <p:cNvPr id="4098" name="Picture 2" descr="Location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140" y="388040"/>
            <a:ext cx="776100" cy="77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ive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162" y="426832"/>
            <a:ext cx="776100" cy="77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Benefit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119" y="426832"/>
            <a:ext cx="705478" cy="70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220" y="526072"/>
            <a:ext cx="705478" cy="60623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902" y="4184683"/>
            <a:ext cx="810478" cy="810478"/>
          </a:xfrm>
          <a:prstGeom prst="rect">
            <a:avLst/>
          </a:prstGeom>
        </p:spPr>
      </p:pic>
      <p:pic>
        <p:nvPicPr>
          <p:cNvPr id="4104" name="Picture 8" descr="Money 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629" y="4274268"/>
            <a:ext cx="720893" cy="720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150" y="4274268"/>
            <a:ext cx="720894" cy="720894"/>
          </a:xfrm>
          <a:prstGeom prst="rect">
            <a:avLst/>
          </a:prstGeom>
        </p:spPr>
      </p:pic>
      <p:pic>
        <p:nvPicPr>
          <p:cNvPr id="4108" name="Picture 12" descr="Customer 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220" y="4344498"/>
            <a:ext cx="720894" cy="720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4" name="Picture 12" descr="Athletic man practicing gymnastics to keep fit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</p:spPr>
      </p:pic>
      <p:sp>
        <p:nvSpPr>
          <p:cNvPr id="4" name="TextBox 3"/>
          <p:cNvSpPr txBox="1"/>
          <p:nvPr/>
        </p:nvSpPr>
        <p:spPr>
          <a:xfrm>
            <a:off x="622664" y="2857981"/>
            <a:ext cx="342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gency FB" panose="020B0503020202020204" pitchFamily="34" charset="0"/>
              </a:rPr>
              <a:t>Advanced Coaching Services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37" t="23110" r="29352" b="27886"/>
          <a:stretch>
            <a:fillRect/>
          </a:stretch>
        </p:blipFill>
        <p:spPr bwMode="auto">
          <a:xfrm>
            <a:off x="5276215" y="254637"/>
            <a:ext cx="5088575" cy="144959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3" t="5628" r="17130" b="31304"/>
          <a:stretch>
            <a:fillRect/>
          </a:stretch>
        </p:blipFill>
        <p:spPr bwMode="auto">
          <a:xfrm>
            <a:off x="5276214" y="1909831"/>
            <a:ext cx="5088575" cy="131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215" y="3335034"/>
            <a:ext cx="5088574" cy="17877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7" t="6015" r="33389" b="22000"/>
          <a:stretch>
            <a:fillRect/>
          </a:stretch>
        </p:blipFill>
        <p:spPr bwMode="auto">
          <a:xfrm>
            <a:off x="5276215" y="5220530"/>
            <a:ext cx="5088574" cy="153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571240" y="2192481"/>
            <a:ext cx="0" cy="228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034589" y="625491"/>
            <a:ext cx="1562583" cy="707886"/>
          </a:xfrm>
          <a:prstGeom prst="rect">
            <a:avLst/>
          </a:prstGeom>
          <a:noFill/>
          <a:ln>
            <a:noFill/>
          </a:ln>
          <a:effectLst>
            <a:reflection blurRad="1270000" stA="2000" endPos="650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yoga</a:t>
            </a:r>
            <a:endParaRPr lang="en-IN" sz="4000" dirty="0">
              <a:latin typeface="Algerian" panose="04020705040A02060702" pitchFamily="8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11440" y="3863250"/>
            <a:ext cx="2008883" cy="707886"/>
          </a:xfrm>
          <a:prstGeom prst="rect">
            <a:avLst/>
          </a:prstGeom>
          <a:noFill/>
          <a:ln>
            <a:noFill/>
          </a:ln>
          <a:effectLst>
            <a:glow rad="127000">
              <a:schemeClr val="accent1"/>
            </a:glow>
            <a:reflection blurRad="1270000" stA="45000" endPos="65000" dist="508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BOXING</a:t>
            </a:r>
            <a:endParaRPr lang="en-IN" sz="4000" dirty="0">
              <a:latin typeface="Algerian" panose="04020705040A02060702" pitchFamily="8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32293" y="2244270"/>
            <a:ext cx="274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lgerian" panose="04020705040A02060702" pitchFamily="82" charset="0"/>
              </a:rPr>
              <a:t>K</a:t>
            </a:r>
            <a:r>
              <a:rPr lang="en-IN" sz="3200" b="1" dirty="0">
                <a:latin typeface="Algerian" panose="04020705040A02060702" pitchFamily="82" charset="0"/>
              </a:rPr>
              <a:t>ICKBOXING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6614" y="5647734"/>
            <a:ext cx="274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0" dirty="0">
                <a:effectLst/>
                <a:latin typeface="Algerian" panose="04020705040A02060702" pitchFamily="82" charset="0"/>
              </a:rPr>
              <a:t>MUAYTHAI</a:t>
            </a:r>
            <a:endParaRPr lang="en-IN" sz="32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tx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EDF4ECA0-13CD-463B-1492-BFA4BC23C166}"/>
              </a:ext>
            </a:extLst>
          </p:cNvPr>
          <p:cNvSpPr txBox="1"/>
          <p:nvPr/>
        </p:nvSpPr>
        <p:spPr>
          <a:xfrm>
            <a:off x="1" y="292722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Revenue Generation &amp; Sustainability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C5DE616-C461-A4B5-7A4F-27B85FBBDF88}"/>
              </a:ext>
            </a:extLst>
          </p:cNvPr>
          <p:cNvGrpSpPr/>
          <p:nvPr/>
        </p:nvGrpSpPr>
        <p:grpSpPr>
          <a:xfrm>
            <a:off x="627680" y="1425677"/>
            <a:ext cx="8790602" cy="4541622"/>
            <a:chOff x="953165" y="1330303"/>
            <a:chExt cx="10285670" cy="4942587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C7E0351-819B-B65B-A94E-C68E9B0474AD}"/>
                </a:ext>
              </a:extLst>
            </p:cNvPr>
            <p:cNvGrpSpPr/>
            <p:nvPr/>
          </p:nvGrpSpPr>
          <p:grpSpPr>
            <a:xfrm>
              <a:off x="953165" y="1330303"/>
              <a:ext cx="1960508" cy="4942587"/>
              <a:chOff x="953165" y="1330303"/>
              <a:chExt cx="1960508" cy="4942587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163035B-FC96-7763-DCC7-916F9AE521B1}"/>
                  </a:ext>
                </a:extLst>
              </p:cNvPr>
              <p:cNvGrpSpPr/>
              <p:nvPr/>
            </p:nvGrpSpPr>
            <p:grpSpPr>
              <a:xfrm>
                <a:off x="953165" y="1330303"/>
                <a:ext cx="1960508" cy="4942587"/>
                <a:chOff x="1124451" y="1887252"/>
                <a:chExt cx="1322305" cy="3333629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E56B45E2-3E68-30E2-5992-ED35DEA471C1}"/>
                    </a:ext>
                  </a:extLst>
                </p:cNvPr>
                <p:cNvSpPr/>
                <p:nvPr/>
              </p:nvSpPr>
              <p:spPr>
                <a:xfrm>
                  <a:off x="1124451" y="1887252"/>
                  <a:ext cx="1322305" cy="2508188"/>
                </a:xfrm>
                <a:custGeom>
                  <a:avLst/>
                  <a:gdLst>
                    <a:gd name="connsiteX0" fmla="*/ 1322225 w 1322305"/>
                    <a:gd name="connsiteY0" fmla="*/ 661152 h 2508188"/>
                    <a:gd name="connsiteX1" fmla="*/ 661002 w 1322305"/>
                    <a:gd name="connsiteY1" fmla="*/ -70 h 2508188"/>
                    <a:gd name="connsiteX2" fmla="*/ 661002 w 1322305"/>
                    <a:gd name="connsiteY2" fmla="*/ -70 h 2508188"/>
                    <a:gd name="connsiteX3" fmla="*/ -81 w 1322305"/>
                    <a:gd name="connsiteY3" fmla="*/ 661152 h 2508188"/>
                    <a:gd name="connsiteX4" fmla="*/ -81 w 1322305"/>
                    <a:gd name="connsiteY4" fmla="*/ 2508118 h 2508188"/>
                    <a:gd name="connsiteX5" fmla="*/ 95261 w 1322305"/>
                    <a:gd name="connsiteY5" fmla="*/ 2442220 h 2508188"/>
                    <a:gd name="connsiteX6" fmla="*/ 439977 w 1322305"/>
                    <a:gd name="connsiteY6" fmla="*/ 1655455 h 2508188"/>
                    <a:gd name="connsiteX7" fmla="*/ 1226743 w 1322305"/>
                    <a:gd name="connsiteY7" fmla="*/ 2000171 h 2508188"/>
                    <a:gd name="connsiteX8" fmla="*/ 1226743 w 1322305"/>
                    <a:gd name="connsiteY8" fmla="*/ 2442220 h 2508188"/>
                    <a:gd name="connsiteX9" fmla="*/ 1322225 w 1322305"/>
                    <a:gd name="connsiteY9" fmla="*/ 2508118 h 2508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22305" h="2508188">
                      <a:moveTo>
                        <a:pt x="1322225" y="661152"/>
                      </a:moveTo>
                      <a:cubicBezTo>
                        <a:pt x="1321145" y="296417"/>
                        <a:pt x="1025740" y="1008"/>
                        <a:pt x="661002" y="-70"/>
                      </a:cubicBezTo>
                      <a:lnTo>
                        <a:pt x="661002" y="-70"/>
                      </a:lnTo>
                      <a:cubicBezTo>
                        <a:pt x="296292" y="1008"/>
                        <a:pt x="920" y="296440"/>
                        <a:pt x="-81" y="661152"/>
                      </a:cubicBezTo>
                      <a:lnTo>
                        <a:pt x="-81" y="2508118"/>
                      </a:lnTo>
                      <a:cubicBezTo>
                        <a:pt x="30480" y="2484437"/>
                        <a:pt x="62308" y="2462438"/>
                        <a:pt x="95261" y="2442220"/>
                      </a:cubicBezTo>
                      <a:cubicBezTo>
                        <a:pt x="-26806" y="2129766"/>
                        <a:pt x="127529" y="1777520"/>
                        <a:pt x="439977" y="1655455"/>
                      </a:cubicBezTo>
                      <a:cubicBezTo>
                        <a:pt x="752432" y="1533389"/>
                        <a:pt x="1104677" y="1687730"/>
                        <a:pt x="1226743" y="2000171"/>
                      </a:cubicBezTo>
                      <a:cubicBezTo>
                        <a:pt x="1282265" y="2142286"/>
                        <a:pt x="1282265" y="2300105"/>
                        <a:pt x="1226743" y="2442220"/>
                      </a:cubicBezTo>
                      <a:cubicBezTo>
                        <a:pt x="1259720" y="2462480"/>
                        <a:pt x="1291589" y="2484465"/>
                        <a:pt x="1322225" y="25081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EF701CFA-7427-5143-D590-3553F20B152D}"/>
                    </a:ext>
                  </a:extLst>
                </p:cNvPr>
                <p:cNvSpPr/>
                <p:nvPr/>
              </p:nvSpPr>
              <p:spPr>
                <a:xfrm>
                  <a:off x="1277558" y="2810804"/>
                  <a:ext cx="1015950" cy="1927164"/>
                </a:xfrm>
                <a:custGeom>
                  <a:avLst/>
                  <a:gdLst>
                    <a:gd name="connsiteX0" fmla="*/ -81 w 1015950"/>
                    <a:gd name="connsiteY0" fmla="*/ 1419119 h 1927164"/>
                    <a:gd name="connsiteX1" fmla="*/ 507894 w 1015950"/>
                    <a:gd name="connsiteY1" fmla="*/ 1927094 h 1927164"/>
                    <a:gd name="connsiteX2" fmla="*/ 507894 w 1015950"/>
                    <a:gd name="connsiteY2" fmla="*/ 1927094 h 1927164"/>
                    <a:gd name="connsiteX3" fmla="*/ 1015870 w 1015950"/>
                    <a:gd name="connsiteY3" fmla="*/ 1419119 h 1927164"/>
                    <a:gd name="connsiteX4" fmla="*/ 1015870 w 1015950"/>
                    <a:gd name="connsiteY4" fmla="*/ -70 h 1927164"/>
                    <a:gd name="connsiteX5" fmla="*/ 942540 w 1015950"/>
                    <a:gd name="connsiteY5" fmla="*/ 50545 h 1927164"/>
                    <a:gd name="connsiteX6" fmla="*/ 677631 w 1015950"/>
                    <a:gd name="connsiteY6" fmla="*/ 654927 h 1927164"/>
                    <a:gd name="connsiteX7" fmla="*/ 73248 w 1015950"/>
                    <a:gd name="connsiteY7" fmla="*/ 390018 h 1927164"/>
                    <a:gd name="connsiteX8" fmla="*/ 73248 w 1015950"/>
                    <a:gd name="connsiteY8" fmla="*/ 50545 h 1927164"/>
                    <a:gd name="connsiteX9" fmla="*/ -81 w 1015950"/>
                    <a:gd name="connsiteY9" fmla="*/ -70 h 192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5950" h="1927164">
                      <a:moveTo>
                        <a:pt x="-81" y="1419119"/>
                      </a:moveTo>
                      <a:cubicBezTo>
                        <a:pt x="766" y="1699312"/>
                        <a:pt x="227702" y="1926253"/>
                        <a:pt x="507894" y="1927094"/>
                      </a:cubicBezTo>
                      <a:lnTo>
                        <a:pt x="507894" y="1927094"/>
                      </a:lnTo>
                      <a:cubicBezTo>
                        <a:pt x="788087" y="1926253"/>
                        <a:pt x="1015028" y="1699312"/>
                        <a:pt x="1015870" y="1419119"/>
                      </a:cubicBezTo>
                      <a:lnTo>
                        <a:pt x="1015870" y="-70"/>
                      </a:lnTo>
                      <a:cubicBezTo>
                        <a:pt x="992385" y="18143"/>
                        <a:pt x="967904" y="35052"/>
                        <a:pt x="942540" y="50545"/>
                      </a:cubicBezTo>
                      <a:cubicBezTo>
                        <a:pt x="1036284" y="290596"/>
                        <a:pt x="917682" y="561184"/>
                        <a:pt x="677631" y="654927"/>
                      </a:cubicBezTo>
                      <a:cubicBezTo>
                        <a:pt x="437580" y="748671"/>
                        <a:pt x="166992" y="630068"/>
                        <a:pt x="73248" y="390018"/>
                      </a:cubicBezTo>
                      <a:cubicBezTo>
                        <a:pt x="30625" y="280879"/>
                        <a:pt x="30625" y="159683"/>
                        <a:pt x="73248" y="50545"/>
                      </a:cubicBezTo>
                      <a:cubicBezTo>
                        <a:pt x="47885" y="35052"/>
                        <a:pt x="23404" y="18143"/>
                        <a:pt x="-81" y="-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FFFFF"/>
                    </a:gs>
                    <a:gs pos="100000">
                      <a:srgbClr val="FFFFFF"/>
                    </a:gs>
                  </a:gsLst>
                  <a:lin ang="16200000" scaled="1"/>
                </a:gra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5278CEC0-E9E0-FF8A-11FD-06D2217296C4}"/>
                    </a:ext>
                  </a:extLst>
                </p:cNvPr>
                <p:cNvSpPr/>
                <p:nvPr/>
              </p:nvSpPr>
              <p:spPr>
                <a:xfrm>
                  <a:off x="1178822" y="2702563"/>
                  <a:ext cx="1214093" cy="2518318"/>
                </a:xfrm>
                <a:custGeom>
                  <a:avLst/>
                  <a:gdLst>
                    <a:gd name="connsiteX0" fmla="*/ 1214013 w 1214093"/>
                    <a:gd name="connsiteY0" fmla="*/ 781171 h 2518318"/>
                    <a:gd name="connsiteX1" fmla="*/ 1214013 w 1214093"/>
                    <a:gd name="connsiteY1" fmla="*/ 759158 h 2518318"/>
                    <a:gd name="connsiteX2" fmla="*/ 1214013 w 1214093"/>
                    <a:gd name="connsiteY2" fmla="*/ -70 h 2518318"/>
                    <a:gd name="connsiteX3" fmla="*/ -52 w 1214093"/>
                    <a:gd name="connsiteY3" fmla="*/ -70 h 2518318"/>
                    <a:gd name="connsiteX4" fmla="*/ -52 w 1214093"/>
                    <a:gd name="connsiteY4" fmla="*/ 759158 h 2518318"/>
                    <a:gd name="connsiteX5" fmla="*/ -52 w 1214093"/>
                    <a:gd name="connsiteY5" fmla="*/ 781171 h 2518318"/>
                    <a:gd name="connsiteX6" fmla="*/ -52 w 1214093"/>
                    <a:gd name="connsiteY6" fmla="*/ 803043 h 2518318"/>
                    <a:gd name="connsiteX7" fmla="*/ -52 w 1214093"/>
                    <a:gd name="connsiteY7" fmla="*/ 2075575 h 2518318"/>
                    <a:gd name="connsiteX8" fmla="*/ 131324 w 1214093"/>
                    <a:gd name="connsiteY8" fmla="*/ 2300890 h 2518318"/>
                    <a:gd name="connsiteX9" fmla="*/ 501754 w 1214093"/>
                    <a:gd name="connsiteY9" fmla="*/ 2493536 h 2518318"/>
                    <a:gd name="connsiteX10" fmla="*/ 703654 w 1214093"/>
                    <a:gd name="connsiteY10" fmla="*/ 2493536 h 2518318"/>
                    <a:gd name="connsiteX11" fmla="*/ 1080955 w 1214093"/>
                    <a:gd name="connsiteY11" fmla="*/ 2299908 h 2518318"/>
                    <a:gd name="connsiteX12" fmla="*/ 1213452 w 1214093"/>
                    <a:gd name="connsiteY12" fmla="*/ 2074173 h 2518318"/>
                    <a:gd name="connsiteX13" fmla="*/ 1213452 w 1214093"/>
                    <a:gd name="connsiteY13" fmla="*/ 802483 h 2518318"/>
                    <a:gd name="connsiteX14" fmla="*/ 1214013 w 1214093"/>
                    <a:gd name="connsiteY14" fmla="*/ 781171 h 2518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214093" h="2518318">
                      <a:moveTo>
                        <a:pt x="1214013" y="781171"/>
                      </a:moveTo>
                      <a:cubicBezTo>
                        <a:pt x="1214013" y="773740"/>
                        <a:pt x="1214013" y="767150"/>
                        <a:pt x="1214013" y="759158"/>
                      </a:cubicBezTo>
                      <a:lnTo>
                        <a:pt x="1214013" y="-70"/>
                      </a:lnTo>
                      <a:lnTo>
                        <a:pt x="-52" y="-70"/>
                      </a:lnTo>
                      <a:lnTo>
                        <a:pt x="-52" y="759158"/>
                      </a:lnTo>
                      <a:cubicBezTo>
                        <a:pt x="-52" y="766449"/>
                        <a:pt x="-52" y="773179"/>
                        <a:pt x="-52" y="781171"/>
                      </a:cubicBezTo>
                      <a:cubicBezTo>
                        <a:pt x="-52" y="789163"/>
                        <a:pt x="-52" y="795192"/>
                        <a:pt x="-52" y="803043"/>
                      </a:cubicBezTo>
                      <a:lnTo>
                        <a:pt x="-52" y="2075575"/>
                      </a:lnTo>
                      <a:cubicBezTo>
                        <a:pt x="-1470" y="2169248"/>
                        <a:pt x="49110" y="2255981"/>
                        <a:pt x="131324" y="2300890"/>
                      </a:cubicBezTo>
                      <a:lnTo>
                        <a:pt x="501754" y="2493536"/>
                      </a:lnTo>
                      <a:cubicBezTo>
                        <a:pt x="565016" y="2526485"/>
                        <a:pt x="640392" y="2526485"/>
                        <a:pt x="703654" y="2493536"/>
                      </a:cubicBezTo>
                      <a:lnTo>
                        <a:pt x="1080955" y="2299908"/>
                      </a:lnTo>
                      <a:cubicBezTo>
                        <a:pt x="1163734" y="2255238"/>
                        <a:pt x="1214812" y="2168225"/>
                        <a:pt x="1213452" y="2074173"/>
                      </a:cubicBezTo>
                      <a:lnTo>
                        <a:pt x="1213452" y="802483"/>
                      </a:lnTo>
                      <a:cubicBezTo>
                        <a:pt x="1213733" y="795753"/>
                        <a:pt x="1214013" y="788462"/>
                        <a:pt x="1214013" y="78117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BAF3F3B9-BC98-65C0-4508-D2C90193AC5C}"/>
                    </a:ext>
                  </a:extLst>
                </p:cNvPr>
                <p:cNvSpPr/>
                <p:nvPr/>
              </p:nvSpPr>
              <p:spPr>
                <a:xfrm>
                  <a:off x="1277558" y="2810804"/>
                  <a:ext cx="1015950" cy="1927164"/>
                </a:xfrm>
                <a:custGeom>
                  <a:avLst/>
                  <a:gdLst>
                    <a:gd name="connsiteX0" fmla="*/ -81 w 1015950"/>
                    <a:gd name="connsiteY0" fmla="*/ 1419119 h 1927164"/>
                    <a:gd name="connsiteX1" fmla="*/ 507894 w 1015950"/>
                    <a:gd name="connsiteY1" fmla="*/ 1927094 h 1927164"/>
                    <a:gd name="connsiteX2" fmla="*/ 507894 w 1015950"/>
                    <a:gd name="connsiteY2" fmla="*/ 1927094 h 1927164"/>
                    <a:gd name="connsiteX3" fmla="*/ 1015870 w 1015950"/>
                    <a:gd name="connsiteY3" fmla="*/ 1419119 h 1927164"/>
                    <a:gd name="connsiteX4" fmla="*/ 1015870 w 1015950"/>
                    <a:gd name="connsiteY4" fmla="*/ -70 h 1927164"/>
                    <a:gd name="connsiteX5" fmla="*/ 942540 w 1015950"/>
                    <a:gd name="connsiteY5" fmla="*/ 50545 h 1927164"/>
                    <a:gd name="connsiteX6" fmla="*/ 677631 w 1015950"/>
                    <a:gd name="connsiteY6" fmla="*/ 654927 h 1927164"/>
                    <a:gd name="connsiteX7" fmla="*/ 73248 w 1015950"/>
                    <a:gd name="connsiteY7" fmla="*/ 390018 h 1927164"/>
                    <a:gd name="connsiteX8" fmla="*/ 73248 w 1015950"/>
                    <a:gd name="connsiteY8" fmla="*/ 50545 h 1927164"/>
                    <a:gd name="connsiteX9" fmla="*/ -81 w 1015950"/>
                    <a:gd name="connsiteY9" fmla="*/ -70 h 192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5950" h="1927164">
                      <a:moveTo>
                        <a:pt x="-81" y="1419119"/>
                      </a:moveTo>
                      <a:cubicBezTo>
                        <a:pt x="766" y="1699312"/>
                        <a:pt x="227702" y="1926253"/>
                        <a:pt x="507894" y="1927094"/>
                      </a:cubicBezTo>
                      <a:lnTo>
                        <a:pt x="507894" y="1927094"/>
                      </a:lnTo>
                      <a:cubicBezTo>
                        <a:pt x="788087" y="1926253"/>
                        <a:pt x="1015028" y="1699312"/>
                        <a:pt x="1015870" y="1419119"/>
                      </a:cubicBezTo>
                      <a:lnTo>
                        <a:pt x="1015870" y="-70"/>
                      </a:lnTo>
                      <a:cubicBezTo>
                        <a:pt x="992385" y="18143"/>
                        <a:pt x="967904" y="35052"/>
                        <a:pt x="942540" y="50545"/>
                      </a:cubicBezTo>
                      <a:cubicBezTo>
                        <a:pt x="1036284" y="290596"/>
                        <a:pt x="917682" y="561184"/>
                        <a:pt x="677631" y="654927"/>
                      </a:cubicBezTo>
                      <a:cubicBezTo>
                        <a:pt x="437580" y="748671"/>
                        <a:pt x="166992" y="630068"/>
                        <a:pt x="73248" y="390018"/>
                      </a:cubicBezTo>
                      <a:cubicBezTo>
                        <a:pt x="30625" y="280879"/>
                        <a:pt x="30625" y="159683"/>
                        <a:pt x="73248" y="50545"/>
                      </a:cubicBezTo>
                      <a:cubicBezTo>
                        <a:pt x="47885" y="35052"/>
                        <a:pt x="23404" y="18143"/>
                        <a:pt x="-81" y="-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FFFFF"/>
                    </a:gs>
                    <a:gs pos="100000">
                      <a:srgbClr val="FFFFFF"/>
                    </a:gs>
                  </a:gsLst>
                  <a:lin ang="16200000" scaled="1"/>
                </a:gra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609045D7-7083-4F9D-0E1A-FA3D65818D82}"/>
                    </a:ext>
                  </a:extLst>
                </p:cNvPr>
                <p:cNvSpPr/>
                <p:nvPr/>
              </p:nvSpPr>
              <p:spPr>
                <a:xfrm>
                  <a:off x="1124451" y="2025213"/>
                  <a:ext cx="1322305" cy="2392392"/>
                </a:xfrm>
                <a:custGeom>
                  <a:avLst/>
                  <a:gdLst>
                    <a:gd name="connsiteX0" fmla="*/ -81 w 1322305"/>
                    <a:gd name="connsiteY0" fmla="*/ 661152 h 2508188"/>
                    <a:gd name="connsiteX1" fmla="*/ -81 w 1322305"/>
                    <a:gd name="connsiteY1" fmla="*/ 2508118 h 2508188"/>
                    <a:gd name="connsiteX2" fmla="*/ 1322225 w 1322305"/>
                    <a:gd name="connsiteY2" fmla="*/ 2508118 h 2508188"/>
                    <a:gd name="connsiteX3" fmla="*/ 1322225 w 1322305"/>
                    <a:gd name="connsiteY3" fmla="*/ 661152 h 2508188"/>
                    <a:gd name="connsiteX4" fmla="*/ 661002 w 1322305"/>
                    <a:gd name="connsiteY4" fmla="*/ -70 h 2508188"/>
                    <a:gd name="connsiteX5" fmla="*/ 661002 w 1322305"/>
                    <a:gd name="connsiteY5" fmla="*/ -70 h 2508188"/>
                    <a:gd name="connsiteX6" fmla="*/ -81 w 1322305"/>
                    <a:gd name="connsiteY6" fmla="*/ 661152 h 2508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22305" h="2508188">
                      <a:moveTo>
                        <a:pt x="-81" y="661152"/>
                      </a:moveTo>
                      <a:lnTo>
                        <a:pt x="-81" y="2508118"/>
                      </a:lnTo>
                      <a:cubicBezTo>
                        <a:pt x="389124" y="2206614"/>
                        <a:pt x="933020" y="2206614"/>
                        <a:pt x="1322225" y="2508118"/>
                      </a:cubicBezTo>
                      <a:lnTo>
                        <a:pt x="1322225" y="661152"/>
                      </a:lnTo>
                      <a:cubicBezTo>
                        <a:pt x="1321145" y="296417"/>
                        <a:pt x="1025740" y="1008"/>
                        <a:pt x="661002" y="-70"/>
                      </a:cubicBezTo>
                      <a:lnTo>
                        <a:pt x="661002" y="-70"/>
                      </a:lnTo>
                      <a:cubicBezTo>
                        <a:pt x="296292" y="1008"/>
                        <a:pt x="920" y="296440"/>
                        <a:pt x="-81" y="6611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984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E0250254-3C48-8744-AD38-997B4F06CA35}"/>
                    </a:ext>
                  </a:extLst>
                </p:cNvPr>
                <p:cNvSpPr/>
                <p:nvPr/>
              </p:nvSpPr>
              <p:spPr>
                <a:xfrm rot="16757401">
                  <a:off x="1378884" y="3818653"/>
                  <a:ext cx="803322" cy="860318"/>
                </a:xfrm>
                <a:custGeom>
                  <a:avLst/>
                  <a:gdLst>
                    <a:gd name="connsiteX0" fmla="*/ 860238 w 860318"/>
                    <a:gd name="connsiteY0" fmla="*/ 430089 h 860318"/>
                    <a:gd name="connsiteX1" fmla="*/ 430079 w 860318"/>
                    <a:gd name="connsiteY1" fmla="*/ 860249 h 860318"/>
                    <a:gd name="connsiteX2" fmla="*/ -81 w 860318"/>
                    <a:gd name="connsiteY2" fmla="*/ 430089 h 860318"/>
                    <a:gd name="connsiteX3" fmla="*/ 430079 w 860318"/>
                    <a:gd name="connsiteY3" fmla="*/ -70 h 860318"/>
                    <a:gd name="connsiteX4" fmla="*/ 860238 w 860318"/>
                    <a:gd name="connsiteY4" fmla="*/ 430089 h 860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0318" h="860318">
                      <a:moveTo>
                        <a:pt x="860238" y="430089"/>
                      </a:moveTo>
                      <a:cubicBezTo>
                        <a:pt x="860238" y="667660"/>
                        <a:pt x="667649" y="860249"/>
                        <a:pt x="430079" y="860249"/>
                      </a:cubicBezTo>
                      <a:cubicBezTo>
                        <a:pt x="192508" y="860249"/>
                        <a:pt x="-81" y="667660"/>
                        <a:pt x="-81" y="430089"/>
                      </a:cubicBezTo>
                      <a:cubicBezTo>
                        <a:pt x="-81" y="192519"/>
                        <a:pt x="192508" y="-70"/>
                        <a:pt x="430079" y="-70"/>
                      </a:cubicBezTo>
                      <a:cubicBezTo>
                        <a:pt x="667649" y="-70"/>
                        <a:pt x="860238" y="192519"/>
                        <a:pt x="860238" y="43008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dirty="0"/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897E13C-B4B5-4AE1-1B8D-ECC17CEE97E9}"/>
                  </a:ext>
                </a:extLst>
              </p:cNvPr>
              <p:cNvSpPr txBox="1"/>
              <p:nvPr/>
            </p:nvSpPr>
            <p:spPr>
              <a:xfrm>
                <a:off x="1033777" y="1810123"/>
                <a:ext cx="1859714" cy="2294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Coin-Based System: 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US" sz="14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Users purchase coins to access gyms, ensuring a steady revenue stream.</a:t>
                </a:r>
                <a:r>
                  <a:rPr lang="en-IN" sz="1400" b="0" i="0" dirty="0">
                    <a:solidFill>
                      <a:schemeClr val="bg1"/>
                    </a:solidFill>
                    <a:effectLst/>
                    <a:latin typeface="Bahnschrift" panose="020B0502040204020203" pitchFamily="34" charset="0"/>
                  </a:rPr>
                  <a:t>, preferences, and behaviours.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9151C96-7C4A-CA22-AABA-E44D27784A6C}"/>
                  </a:ext>
                </a:extLst>
              </p:cNvPr>
              <p:cNvSpPr txBox="1"/>
              <p:nvPr/>
            </p:nvSpPr>
            <p:spPr>
              <a:xfrm>
                <a:off x="1717655" y="5688353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01</a:t>
                </a:r>
                <a:endParaRPr lang="en-IN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3888509E-B406-DB94-FC68-573A7FF6EA1C}"/>
                </a:ext>
              </a:extLst>
            </p:cNvPr>
            <p:cNvGrpSpPr/>
            <p:nvPr/>
          </p:nvGrpSpPr>
          <p:grpSpPr>
            <a:xfrm>
              <a:off x="3728219" y="1330303"/>
              <a:ext cx="1960508" cy="4942587"/>
              <a:chOff x="3728219" y="1330303"/>
              <a:chExt cx="1960508" cy="4942587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2C0AB59-0752-668D-17E3-29BCC3F232EF}"/>
                  </a:ext>
                </a:extLst>
              </p:cNvPr>
              <p:cNvGrpSpPr/>
              <p:nvPr/>
            </p:nvGrpSpPr>
            <p:grpSpPr>
              <a:xfrm>
                <a:off x="3728219" y="1330303"/>
                <a:ext cx="1960508" cy="4942587"/>
                <a:chOff x="1124451" y="1887252"/>
                <a:chExt cx="1322305" cy="3333629"/>
              </a:xfrm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61DE2140-52EC-1705-CB6F-0311887362F2}"/>
                    </a:ext>
                  </a:extLst>
                </p:cNvPr>
                <p:cNvSpPr/>
                <p:nvPr/>
              </p:nvSpPr>
              <p:spPr>
                <a:xfrm>
                  <a:off x="1124451" y="1887252"/>
                  <a:ext cx="1322305" cy="2508188"/>
                </a:xfrm>
                <a:custGeom>
                  <a:avLst/>
                  <a:gdLst>
                    <a:gd name="connsiteX0" fmla="*/ 1322225 w 1322305"/>
                    <a:gd name="connsiteY0" fmla="*/ 661152 h 2508188"/>
                    <a:gd name="connsiteX1" fmla="*/ 661002 w 1322305"/>
                    <a:gd name="connsiteY1" fmla="*/ -70 h 2508188"/>
                    <a:gd name="connsiteX2" fmla="*/ 661002 w 1322305"/>
                    <a:gd name="connsiteY2" fmla="*/ -70 h 2508188"/>
                    <a:gd name="connsiteX3" fmla="*/ -81 w 1322305"/>
                    <a:gd name="connsiteY3" fmla="*/ 661152 h 2508188"/>
                    <a:gd name="connsiteX4" fmla="*/ -81 w 1322305"/>
                    <a:gd name="connsiteY4" fmla="*/ 2508118 h 2508188"/>
                    <a:gd name="connsiteX5" fmla="*/ 95261 w 1322305"/>
                    <a:gd name="connsiteY5" fmla="*/ 2442220 h 2508188"/>
                    <a:gd name="connsiteX6" fmla="*/ 439977 w 1322305"/>
                    <a:gd name="connsiteY6" fmla="*/ 1655455 h 2508188"/>
                    <a:gd name="connsiteX7" fmla="*/ 1226743 w 1322305"/>
                    <a:gd name="connsiteY7" fmla="*/ 2000171 h 2508188"/>
                    <a:gd name="connsiteX8" fmla="*/ 1226743 w 1322305"/>
                    <a:gd name="connsiteY8" fmla="*/ 2442220 h 2508188"/>
                    <a:gd name="connsiteX9" fmla="*/ 1322225 w 1322305"/>
                    <a:gd name="connsiteY9" fmla="*/ 2508118 h 2508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22305" h="2508188">
                      <a:moveTo>
                        <a:pt x="1322225" y="661152"/>
                      </a:moveTo>
                      <a:cubicBezTo>
                        <a:pt x="1321145" y="296417"/>
                        <a:pt x="1025740" y="1008"/>
                        <a:pt x="661002" y="-70"/>
                      </a:cubicBezTo>
                      <a:lnTo>
                        <a:pt x="661002" y="-70"/>
                      </a:lnTo>
                      <a:cubicBezTo>
                        <a:pt x="296292" y="1008"/>
                        <a:pt x="920" y="296440"/>
                        <a:pt x="-81" y="661152"/>
                      </a:cubicBezTo>
                      <a:lnTo>
                        <a:pt x="-81" y="2508118"/>
                      </a:lnTo>
                      <a:cubicBezTo>
                        <a:pt x="30480" y="2484437"/>
                        <a:pt x="62308" y="2462438"/>
                        <a:pt x="95261" y="2442220"/>
                      </a:cubicBezTo>
                      <a:cubicBezTo>
                        <a:pt x="-26806" y="2129766"/>
                        <a:pt x="127529" y="1777520"/>
                        <a:pt x="439977" y="1655455"/>
                      </a:cubicBezTo>
                      <a:cubicBezTo>
                        <a:pt x="752432" y="1533389"/>
                        <a:pt x="1104677" y="1687730"/>
                        <a:pt x="1226743" y="2000171"/>
                      </a:cubicBezTo>
                      <a:cubicBezTo>
                        <a:pt x="1282265" y="2142286"/>
                        <a:pt x="1282265" y="2300105"/>
                        <a:pt x="1226743" y="2442220"/>
                      </a:cubicBezTo>
                      <a:cubicBezTo>
                        <a:pt x="1259720" y="2462480"/>
                        <a:pt x="1291589" y="2484465"/>
                        <a:pt x="1322225" y="25081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6130DF15-043E-6DD4-6E24-C4025F7355E1}"/>
                    </a:ext>
                  </a:extLst>
                </p:cNvPr>
                <p:cNvSpPr/>
                <p:nvPr/>
              </p:nvSpPr>
              <p:spPr>
                <a:xfrm>
                  <a:off x="1277558" y="2810804"/>
                  <a:ext cx="1015950" cy="1927164"/>
                </a:xfrm>
                <a:custGeom>
                  <a:avLst/>
                  <a:gdLst>
                    <a:gd name="connsiteX0" fmla="*/ -81 w 1015950"/>
                    <a:gd name="connsiteY0" fmla="*/ 1419119 h 1927164"/>
                    <a:gd name="connsiteX1" fmla="*/ 507894 w 1015950"/>
                    <a:gd name="connsiteY1" fmla="*/ 1927094 h 1927164"/>
                    <a:gd name="connsiteX2" fmla="*/ 507894 w 1015950"/>
                    <a:gd name="connsiteY2" fmla="*/ 1927094 h 1927164"/>
                    <a:gd name="connsiteX3" fmla="*/ 1015870 w 1015950"/>
                    <a:gd name="connsiteY3" fmla="*/ 1419119 h 1927164"/>
                    <a:gd name="connsiteX4" fmla="*/ 1015870 w 1015950"/>
                    <a:gd name="connsiteY4" fmla="*/ -70 h 1927164"/>
                    <a:gd name="connsiteX5" fmla="*/ 942540 w 1015950"/>
                    <a:gd name="connsiteY5" fmla="*/ 50545 h 1927164"/>
                    <a:gd name="connsiteX6" fmla="*/ 677631 w 1015950"/>
                    <a:gd name="connsiteY6" fmla="*/ 654927 h 1927164"/>
                    <a:gd name="connsiteX7" fmla="*/ 73248 w 1015950"/>
                    <a:gd name="connsiteY7" fmla="*/ 390018 h 1927164"/>
                    <a:gd name="connsiteX8" fmla="*/ 73248 w 1015950"/>
                    <a:gd name="connsiteY8" fmla="*/ 50545 h 1927164"/>
                    <a:gd name="connsiteX9" fmla="*/ -81 w 1015950"/>
                    <a:gd name="connsiteY9" fmla="*/ -70 h 192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5950" h="1927164">
                      <a:moveTo>
                        <a:pt x="-81" y="1419119"/>
                      </a:moveTo>
                      <a:cubicBezTo>
                        <a:pt x="766" y="1699312"/>
                        <a:pt x="227702" y="1926253"/>
                        <a:pt x="507894" y="1927094"/>
                      </a:cubicBezTo>
                      <a:lnTo>
                        <a:pt x="507894" y="1927094"/>
                      </a:lnTo>
                      <a:cubicBezTo>
                        <a:pt x="788087" y="1926253"/>
                        <a:pt x="1015028" y="1699312"/>
                        <a:pt x="1015870" y="1419119"/>
                      </a:cubicBezTo>
                      <a:lnTo>
                        <a:pt x="1015870" y="-70"/>
                      </a:lnTo>
                      <a:cubicBezTo>
                        <a:pt x="992385" y="18143"/>
                        <a:pt x="967904" y="35052"/>
                        <a:pt x="942540" y="50545"/>
                      </a:cubicBezTo>
                      <a:cubicBezTo>
                        <a:pt x="1036284" y="290596"/>
                        <a:pt x="917682" y="561184"/>
                        <a:pt x="677631" y="654927"/>
                      </a:cubicBezTo>
                      <a:cubicBezTo>
                        <a:pt x="437580" y="748671"/>
                        <a:pt x="166992" y="630068"/>
                        <a:pt x="73248" y="390018"/>
                      </a:cubicBezTo>
                      <a:cubicBezTo>
                        <a:pt x="30625" y="280879"/>
                        <a:pt x="30625" y="159683"/>
                        <a:pt x="73248" y="50545"/>
                      </a:cubicBezTo>
                      <a:cubicBezTo>
                        <a:pt x="47885" y="35052"/>
                        <a:pt x="23404" y="18143"/>
                        <a:pt x="-81" y="-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FFFFF"/>
                    </a:gs>
                    <a:gs pos="100000">
                      <a:srgbClr val="FFFFFF"/>
                    </a:gs>
                  </a:gsLst>
                  <a:lin ang="16200000" scaled="1"/>
                </a:gra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C14A4BF6-B27E-96D7-3DFF-F1C247956851}"/>
                    </a:ext>
                  </a:extLst>
                </p:cNvPr>
                <p:cNvSpPr/>
                <p:nvPr/>
              </p:nvSpPr>
              <p:spPr>
                <a:xfrm>
                  <a:off x="1178822" y="2702563"/>
                  <a:ext cx="1214093" cy="2518318"/>
                </a:xfrm>
                <a:custGeom>
                  <a:avLst/>
                  <a:gdLst>
                    <a:gd name="connsiteX0" fmla="*/ 1214013 w 1214093"/>
                    <a:gd name="connsiteY0" fmla="*/ 781171 h 2518318"/>
                    <a:gd name="connsiteX1" fmla="*/ 1214013 w 1214093"/>
                    <a:gd name="connsiteY1" fmla="*/ 759158 h 2518318"/>
                    <a:gd name="connsiteX2" fmla="*/ 1214013 w 1214093"/>
                    <a:gd name="connsiteY2" fmla="*/ -70 h 2518318"/>
                    <a:gd name="connsiteX3" fmla="*/ -52 w 1214093"/>
                    <a:gd name="connsiteY3" fmla="*/ -70 h 2518318"/>
                    <a:gd name="connsiteX4" fmla="*/ -52 w 1214093"/>
                    <a:gd name="connsiteY4" fmla="*/ 759158 h 2518318"/>
                    <a:gd name="connsiteX5" fmla="*/ -52 w 1214093"/>
                    <a:gd name="connsiteY5" fmla="*/ 781171 h 2518318"/>
                    <a:gd name="connsiteX6" fmla="*/ -52 w 1214093"/>
                    <a:gd name="connsiteY6" fmla="*/ 803043 h 2518318"/>
                    <a:gd name="connsiteX7" fmla="*/ -52 w 1214093"/>
                    <a:gd name="connsiteY7" fmla="*/ 2075575 h 2518318"/>
                    <a:gd name="connsiteX8" fmla="*/ 131324 w 1214093"/>
                    <a:gd name="connsiteY8" fmla="*/ 2300890 h 2518318"/>
                    <a:gd name="connsiteX9" fmla="*/ 501754 w 1214093"/>
                    <a:gd name="connsiteY9" fmla="*/ 2493536 h 2518318"/>
                    <a:gd name="connsiteX10" fmla="*/ 703654 w 1214093"/>
                    <a:gd name="connsiteY10" fmla="*/ 2493536 h 2518318"/>
                    <a:gd name="connsiteX11" fmla="*/ 1080955 w 1214093"/>
                    <a:gd name="connsiteY11" fmla="*/ 2299908 h 2518318"/>
                    <a:gd name="connsiteX12" fmla="*/ 1213452 w 1214093"/>
                    <a:gd name="connsiteY12" fmla="*/ 2074173 h 2518318"/>
                    <a:gd name="connsiteX13" fmla="*/ 1213452 w 1214093"/>
                    <a:gd name="connsiteY13" fmla="*/ 802483 h 2518318"/>
                    <a:gd name="connsiteX14" fmla="*/ 1214013 w 1214093"/>
                    <a:gd name="connsiteY14" fmla="*/ 781171 h 2518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214093" h="2518318">
                      <a:moveTo>
                        <a:pt x="1214013" y="781171"/>
                      </a:moveTo>
                      <a:cubicBezTo>
                        <a:pt x="1214013" y="773740"/>
                        <a:pt x="1214013" y="767150"/>
                        <a:pt x="1214013" y="759158"/>
                      </a:cubicBezTo>
                      <a:lnTo>
                        <a:pt x="1214013" y="-70"/>
                      </a:lnTo>
                      <a:lnTo>
                        <a:pt x="-52" y="-70"/>
                      </a:lnTo>
                      <a:lnTo>
                        <a:pt x="-52" y="759158"/>
                      </a:lnTo>
                      <a:cubicBezTo>
                        <a:pt x="-52" y="766449"/>
                        <a:pt x="-52" y="773179"/>
                        <a:pt x="-52" y="781171"/>
                      </a:cubicBezTo>
                      <a:cubicBezTo>
                        <a:pt x="-52" y="789163"/>
                        <a:pt x="-52" y="795192"/>
                        <a:pt x="-52" y="803043"/>
                      </a:cubicBezTo>
                      <a:lnTo>
                        <a:pt x="-52" y="2075575"/>
                      </a:lnTo>
                      <a:cubicBezTo>
                        <a:pt x="-1470" y="2169248"/>
                        <a:pt x="49110" y="2255981"/>
                        <a:pt x="131324" y="2300890"/>
                      </a:cubicBezTo>
                      <a:lnTo>
                        <a:pt x="501754" y="2493536"/>
                      </a:lnTo>
                      <a:cubicBezTo>
                        <a:pt x="565016" y="2526485"/>
                        <a:pt x="640392" y="2526485"/>
                        <a:pt x="703654" y="2493536"/>
                      </a:cubicBezTo>
                      <a:lnTo>
                        <a:pt x="1080955" y="2299908"/>
                      </a:lnTo>
                      <a:cubicBezTo>
                        <a:pt x="1163734" y="2255238"/>
                        <a:pt x="1214812" y="2168225"/>
                        <a:pt x="1213452" y="2074173"/>
                      </a:cubicBezTo>
                      <a:lnTo>
                        <a:pt x="1213452" y="802483"/>
                      </a:lnTo>
                      <a:cubicBezTo>
                        <a:pt x="1213733" y="795753"/>
                        <a:pt x="1214013" y="788462"/>
                        <a:pt x="1214013" y="78117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05A8B843-5840-AA63-9B8F-13C4C5CD6B25}"/>
                    </a:ext>
                  </a:extLst>
                </p:cNvPr>
                <p:cNvSpPr/>
                <p:nvPr/>
              </p:nvSpPr>
              <p:spPr>
                <a:xfrm>
                  <a:off x="1277558" y="2810804"/>
                  <a:ext cx="1015950" cy="1927164"/>
                </a:xfrm>
                <a:custGeom>
                  <a:avLst/>
                  <a:gdLst>
                    <a:gd name="connsiteX0" fmla="*/ -81 w 1015950"/>
                    <a:gd name="connsiteY0" fmla="*/ 1419119 h 1927164"/>
                    <a:gd name="connsiteX1" fmla="*/ 507894 w 1015950"/>
                    <a:gd name="connsiteY1" fmla="*/ 1927094 h 1927164"/>
                    <a:gd name="connsiteX2" fmla="*/ 507894 w 1015950"/>
                    <a:gd name="connsiteY2" fmla="*/ 1927094 h 1927164"/>
                    <a:gd name="connsiteX3" fmla="*/ 1015870 w 1015950"/>
                    <a:gd name="connsiteY3" fmla="*/ 1419119 h 1927164"/>
                    <a:gd name="connsiteX4" fmla="*/ 1015870 w 1015950"/>
                    <a:gd name="connsiteY4" fmla="*/ -70 h 1927164"/>
                    <a:gd name="connsiteX5" fmla="*/ 942540 w 1015950"/>
                    <a:gd name="connsiteY5" fmla="*/ 50545 h 1927164"/>
                    <a:gd name="connsiteX6" fmla="*/ 677631 w 1015950"/>
                    <a:gd name="connsiteY6" fmla="*/ 654927 h 1927164"/>
                    <a:gd name="connsiteX7" fmla="*/ 73248 w 1015950"/>
                    <a:gd name="connsiteY7" fmla="*/ 390018 h 1927164"/>
                    <a:gd name="connsiteX8" fmla="*/ 73248 w 1015950"/>
                    <a:gd name="connsiteY8" fmla="*/ 50545 h 1927164"/>
                    <a:gd name="connsiteX9" fmla="*/ -81 w 1015950"/>
                    <a:gd name="connsiteY9" fmla="*/ -70 h 192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5950" h="1927164">
                      <a:moveTo>
                        <a:pt x="-81" y="1419119"/>
                      </a:moveTo>
                      <a:cubicBezTo>
                        <a:pt x="766" y="1699312"/>
                        <a:pt x="227702" y="1926253"/>
                        <a:pt x="507894" y="1927094"/>
                      </a:cubicBezTo>
                      <a:lnTo>
                        <a:pt x="507894" y="1927094"/>
                      </a:lnTo>
                      <a:cubicBezTo>
                        <a:pt x="788087" y="1926253"/>
                        <a:pt x="1015028" y="1699312"/>
                        <a:pt x="1015870" y="1419119"/>
                      </a:cubicBezTo>
                      <a:lnTo>
                        <a:pt x="1015870" y="-70"/>
                      </a:lnTo>
                      <a:cubicBezTo>
                        <a:pt x="992385" y="18143"/>
                        <a:pt x="967904" y="35052"/>
                        <a:pt x="942540" y="50545"/>
                      </a:cubicBezTo>
                      <a:cubicBezTo>
                        <a:pt x="1036284" y="290596"/>
                        <a:pt x="917682" y="561184"/>
                        <a:pt x="677631" y="654927"/>
                      </a:cubicBezTo>
                      <a:cubicBezTo>
                        <a:pt x="437580" y="748671"/>
                        <a:pt x="166992" y="630068"/>
                        <a:pt x="73248" y="390018"/>
                      </a:cubicBezTo>
                      <a:cubicBezTo>
                        <a:pt x="30625" y="280879"/>
                        <a:pt x="30625" y="159683"/>
                        <a:pt x="73248" y="50545"/>
                      </a:cubicBezTo>
                      <a:cubicBezTo>
                        <a:pt x="47885" y="35052"/>
                        <a:pt x="23404" y="18143"/>
                        <a:pt x="-81" y="-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FFFFF"/>
                    </a:gs>
                    <a:gs pos="100000">
                      <a:srgbClr val="FFFFFF"/>
                    </a:gs>
                  </a:gsLst>
                  <a:lin ang="16200000" scaled="1"/>
                </a:gra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3A9D271B-0C31-0D5D-B148-3D6F609A3DEC}"/>
                    </a:ext>
                  </a:extLst>
                </p:cNvPr>
                <p:cNvSpPr/>
                <p:nvPr/>
              </p:nvSpPr>
              <p:spPr>
                <a:xfrm>
                  <a:off x="1124451" y="2003048"/>
                  <a:ext cx="1322305" cy="2392392"/>
                </a:xfrm>
                <a:custGeom>
                  <a:avLst/>
                  <a:gdLst>
                    <a:gd name="connsiteX0" fmla="*/ -81 w 1322305"/>
                    <a:gd name="connsiteY0" fmla="*/ 661152 h 2508188"/>
                    <a:gd name="connsiteX1" fmla="*/ -81 w 1322305"/>
                    <a:gd name="connsiteY1" fmla="*/ 2508118 h 2508188"/>
                    <a:gd name="connsiteX2" fmla="*/ 1322225 w 1322305"/>
                    <a:gd name="connsiteY2" fmla="*/ 2508118 h 2508188"/>
                    <a:gd name="connsiteX3" fmla="*/ 1322225 w 1322305"/>
                    <a:gd name="connsiteY3" fmla="*/ 661152 h 2508188"/>
                    <a:gd name="connsiteX4" fmla="*/ 661002 w 1322305"/>
                    <a:gd name="connsiteY4" fmla="*/ -70 h 2508188"/>
                    <a:gd name="connsiteX5" fmla="*/ 661002 w 1322305"/>
                    <a:gd name="connsiteY5" fmla="*/ -70 h 2508188"/>
                    <a:gd name="connsiteX6" fmla="*/ -81 w 1322305"/>
                    <a:gd name="connsiteY6" fmla="*/ 661152 h 2508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22305" h="2508188">
                      <a:moveTo>
                        <a:pt x="-81" y="661152"/>
                      </a:moveTo>
                      <a:lnTo>
                        <a:pt x="-81" y="2508118"/>
                      </a:lnTo>
                      <a:cubicBezTo>
                        <a:pt x="389124" y="2206614"/>
                        <a:pt x="933020" y="2206614"/>
                        <a:pt x="1322225" y="2508118"/>
                      </a:cubicBezTo>
                      <a:lnTo>
                        <a:pt x="1322225" y="661152"/>
                      </a:lnTo>
                      <a:cubicBezTo>
                        <a:pt x="1321145" y="296417"/>
                        <a:pt x="1025740" y="1008"/>
                        <a:pt x="661002" y="-70"/>
                      </a:cubicBezTo>
                      <a:lnTo>
                        <a:pt x="661002" y="-70"/>
                      </a:lnTo>
                      <a:cubicBezTo>
                        <a:pt x="296292" y="1008"/>
                        <a:pt x="920" y="296440"/>
                        <a:pt x="-81" y="6611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984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US" sz="14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94FEB942-9CBB-5F50-38A9-03AC98EDBBBE}"/>
                    </a:ext>
                  </a:extLst>
                </p:cNvPr>
                <p:cNvSpPr/>
                <p:nvPr/>
              </p:nvSpPr>
              <p:spPr>
                <a:xfrm rot="16757401">
                  <a:off x="1384163" y="3817818"/>
                  <a:ext cx="805013" cy="860318"/>
                </a:xfrm>
                <a:custGeom>
                  <a:avLst/>
                  <a:gdLst>
                    <a:gd name="connsiteX0" fmla="*/ 860238 w 860318"/>
                    <a:gd name="connsiteY0" fmla="*/ 430089 h 860318"/>
                    <a:gd name="connsiteX1" fmla="*/ 430079 w 860318"/>
                    <a:gd name="connsiteY1" fmla="*/ 860249 h 860318"/>
                    <a:gd name="connsiteX2" fmla="*/ -81 w 860318"/>
                    <a:gd name="connsiteY2" fmla="*/ 430089 h 860318"/>
                    <a:gd name="connsiteX3" fmla="*/ 430079 w 860318"/>
                    <a:gd name="connsiteY3" fmla="*/ -70 h 860318"/>
                    <a:gd name="connsiteX4" fmla="*/ 860238 w 860318"/>
                    <a:gd name="connsiteY4" fmla="*/ 430089 h 860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0318" h="860318">
                      <a:moveTo>
                        <a:pt x="860238" y="430089"/>
                      </a:moveTo>
                      <a:cubicBezTo>
                        <a:pt x="860238" y="667660"/>
                        <a:pt x="667649" y="860249"/>
                        <a:pt x="430079" y="860249"/>
                      </a:cubicBezTo>
                      <a:cubicBezTo>
                        <a:pt x="192508" y="860249"/>
                        <a:pt x="-81" y="667660"/>
                        <a:pt x="-81" y="430089"/>
                      </a:cubicBezTo>
                      <a:cubicBezTo>
                        <a:pt x="-81" y="192519"/>
                        <a:pt x="192508" y="-70"/>
                        <a:pt x="430079" y="-70"/>
                      </a:cubicBezTo>
                      <a:cubicBezTo>
                        <a:pt x="667649" y="-70"/>
                        <a:pt x="860238" y="192519"/>
                        <a:pt x="860238" y="43008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B53B2D7-613B-0EE4-6A5C-2C8225AD00AD}"/>
                  </a:ext>
                </a:extLst>
              </p:cNvPr>
              <p:cNvSpPr txBox="1"/>
              <p:nvPr/>
            </p:nvSpPr>
            <p:spPr>
              <a:xfrm>
                <a:off x="4469465" y="5688353"/>
                <a:ext cx="47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02</a:t>
                </a:r>
                <a:endParaRPr lang="en-IN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06AEBE41-137F-AA65-EA65-6DC296CBDA74}"/>
                </a:ext>
              </a:extLst>
            </p:cNvPr>
            <p:cNvGrpSpPr/>
            <p:nvPr/>
          </p:nvGrpSpPr>
          <p:grpSpPr>
            <a:xfrm>
              <a:off x="6503273" y="1330303"/>
              <a:ext cx="1960508" cy="4942587"/>
              <a:chOff x="6503273" y="1330303"/>
              <a:chExt cx="1960508" cy="4942587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EFFB171-205F-1D4F-4B01-F9585CA6F308}"/>
                  </a:ext>
                </a:extLst>
              </p:cNvPr>
              <p:cNvGrpSpPr/>
              <p:nvPr/>
            </p:nvGrpSpPr>
            <p:grpSpPr>
              <a:xfrm>
                <a:off x="6503273" y="1330303"/>
                <a:ext cx="1960508" cy="4942587"/>
                <a:chOff x="1124451" y="1887252"/>
                <a:chExt cx="1322305" cy="3333629"/>
              </a:xfrm>
            </p:grpSpPr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53887F6A-AD54-2436-6506-06FD9CCC45FC}"/>
                    </a:ext>
                  </a:extLst>
                </p:cNvPr>
                <p:cNvSpPr/>
                <p:nvPr/>
              </p:nvSpPr>
              <p:spPr>
                <a:xfrm>
                  <a:off x="1124451" y="1887252"/>
                  <a:ext cx="1322305" cy="2508188"/>
                </a:xfrm>
                <a:custGeom>
                  <a:avLst/>
                  <a:gdLst>
                    <a:gd name="connsiteX0" fmla="*/ 1322225 w 1322305"/>
                    <a:gd name="connsiteY0" fmla="*/ 661152 h 2508188"/>
                    <a:gd name="connsiteX1" fmla="*/ 661002 w 1322305"/>
                    <a:gd name="connsiteY1" fmla="*/ -70 h 2508188"/>
                    <a:gd name="connsiteX2" fmla="*/ 661002 w 1322305"/>
                    <a:gd name="connsiteY2" fmla="*/ -70 h 2508188"/>
                    <a:gd name="connsiteX3" fmla="*/ -81 w 1322305"/>
                    <a:gd name="connsiteY3" fmla="*/ 661152 h 2508188"/>
                    <a:gd name="connsiteX4" fmla="*/ -81 w 1322305"/>
                    <a:gd name="connsiteY4" fmla="*/ 2508118 h 2508188"/>
                    <a:gd name="connsiteX5" fmla="*/ 95261 w 1322305"/>
                    <a:gd name="connsiteY5" fmla="*/ 2442220 h 2508188"/>
                    <a:gd name="connsiteX6" fmla="*/ 439977 w 1322305"/>
                    <a:gd name="connsiteY6" fmla="*/ 1655455 h 2508188"/>
                    <a:gd name="connsiteX7" fmla="*/ 1226743 w 1322305"/>
                    <a:gd name="connsiteY7" fmla="*/ 2000171 h 2508188"/>
                    <a:gd name="connsiteX8" fmla="*/ 1226743 w 1322305"/>
                    <a:gd name="connsiteY8" fmla="*/ 2442220 h 2508188"/>
                    <a:gd name="connsiteX9" fmla="*/ 1322225 w 1322305"/>
                    <a:gd name="connsiteY9" fmla="*/ 2508118 h 2508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22305" h="2508188">
                      <a:moveTo>
                        <a:pt x="1322225" y="661152"/>
                      </a:moveTo>
                      <a:cubicBezTo>
                        <a:pt x="1321145" y="296417"/>
                        <a:pt x="1025740" y="1008"/>
                        <a:pt x="661002" y="-70"/>
                      </a:cubicBezTo>
                      <a:lnTo>
                        <a:pt x="661002" y="-70"/>
                      </a:lnTo>
                      <a:cubicBezTo>
                        <a:pt x="296292" y="1008"/>
                        <a:pt x="920" y="296440"/>
                        <a:pt x="-81" y="661152"/>
                      </a:cubicBezTo>
                      <a:lnTo>
                        <a:pt x="-81" y="2508118"/>
                      </a:lnTo>
                      <a:cubicBezTo>
                        <a:pt x="30480" y="2484437"/>
                        <a:pt x="62308" y="2462438"/>
                        <a:pt x="95261" y="2442220"/>
                      </a:cubicBezTo>
                      <a:cubicBezTo>
                        <a:pt x="-26806" y="2129766"/>
                        <a:pt x="127529" y="1777520"/>
                        <a:pt x="439977" y="1655455"/>
                      </a:cubicBezTo>
                      <a:cubicBezTo>
                        <a:pt x="752432" y="1533389"/>
                        <a:pt x="1104677" y="1687730"/>
                        <a:pt x="1226743" y="2000171"/>
                      </a:cubicBezTo>
                      <a:cubicBezTo>
                        <a:pt x="1282265" y="2142286"/>
                        <a:pt x="1282265" y="2300105"/>
                        <a:pt x="1226743" y="2442220"/>
                      </a:cubicBezTo>
                      <a:cubicBezTo>
                        <a:pt x="1259720" y="2462480"/>
                        <a:pt x="1291589" y="2484465"/>
                        <a:pt x="1322225" y="25081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76FDBA13-C219-C499-ACE1-AFABC497492C}"/>
                    </a:ext>
                  </a:extLst>
                </p:cNvPr>
                <p:cNvSpPr/>
                <p:nvPr/>
              </p:nvSpPr>
              <p:spPr>
                <a:xfrm>
                  <a:off x="1277558" y="2810804"/>
                  <a:ext cx="1015950" cy="1927164"/>
                </a:xfrm>
                <a:custGeom>
                  <a:avLst/>
                  <a:gdLst>
                    <a:gd name="connsiteX0" fmla="*/ -81 w 1015950"/>
                    <a:gd name="connsiteY0" fmla="*/ 1419119 h 1927164"/>
                    <a:gd name="connsiteX1" fmla="*/ 507894 w 1015950"/>
                    <a:gd name="connsiteY1" fmla="*/ 1927094 h 1927164"/>
                    <a:gd name="connsiteX2" fmla="*/ 507894 w 1015950"/>
                    <a:gd name="connsiteY2" fmla="*/ 1927094 h 1927164"/>
                    <a:gd name="connsiteX3" fmla="*/ 1015870 w 1015950"/>
                    <a:gd name="connsiteY3" fmla="*/ 1419119 h 1927164"/>
                    <a:gd name="connsiteX4" fmla="*/ 1015870 w 1015950"/>
                    <a:gd name="connsiteY4" fmla="*/ -70 h 1927164"/>
                    <a:gd name="connsiteX5" fmla="*/ 942540 w 1015950"/>
                    <a:gd name="connsiteY5" fmla="*/ 50545 h 1927164"/>
                    <a:gd name="connsiteX6" fmla="*/ 677631 w 1015950"/>
                    <a:gd name="connsiteY6" fmla="*/ 654927 h 1927164"/>
                    <a:gd name="connsiteX7" fmla="*/ 73248 w 1015950"/>
                    <a:gd name="connsiteY7" fmla="*/ 390018 h 1927164"/>
                    <a:gd name="connsiteX8" fmla="*/ 73248 w 1015950"/>
                    <a:gd name="connsiteY8" fmla="*/ 50545 h 1927164"/>
                    <a:gd name="connsiteX9" fmla="*/ -81 w 1015950"/>
                    <a:gd name="connsiteY9" fmla="*/ -70 h 192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5950" h="1927164">
                      <a:moveTo>
                        <a:pt x="-81" y="1419119"/>
                      </a:moveTo>
                      <a:cubicBezTo>
                        <a:pt x="766" y="1699312"/>
                        <a:pt x="227702" y="1926253"/>
                        <a:pt x="507894" y="1927094"/>
                      </a:cubicBezTo>
                      <a:lnTo>
                        <a:pt x="507894" y="1927094"/>
                      </a:lnTo>
                      <a:cubicBezTo>
                        <a:pt x="788087" y="1926253"/>
                        <a:pt x="1015028" y="1699312"/>
                        <a:pt x="1015870" y="1419119"/>
                      </a:cubicBezTo>
                      <a:lnTo>
                        <a:pt x="1015870" y="-70"/>
                      </a:lnTo>
                      <a:cubicBezTo>
                        <a:pt x="992385" y="18143"/>
                        <a:pt x="967904" y="35052"/>
                        <a:pt x="942540" y="50545"/>
                      </a:cubicBezTo>
                      <a:cubicBezTo>
                        <a:pt x="1036284" y="290596"/>
                        <a:pt x="917682" y="561184"/>
                        <a:pt x="677631" y="654927"/>
                      </a:cubicBezTo>
                      <a:cubicBezTo>
                        <a:pt x="437580" y="748671"/>
                        <a:pt x="166992" y="630068"/>
                        <a:pt x="73248" y="390018"/>
                      </a:cubicBezTo>
                      <a:cubicBezTo>
                        <a:pt x="30625" y="280879"/>
                        <a:pt x="30625" y="159683"/>
                        <a:pt x="73248" y="50545"/>
                      </a:cubicBezTo>
                      <a:cubicBezTo>
                        <a:pt x="47885" y="35052"/>
                        <a:pt x="23404" y="18143"/>
                        <a:pt x="-81" y="-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FFFFF"/>
                    </a:gs>
                    <a:gs pos="100000">
                      <a:srgbClr val="FFFFFF"/>
                    </a:gs>
                  </a:gsLst>
                  <a:lin ang="16200000" scaled="1"/>
                </a:gra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8545F51A-A26B-DBB4-0531-5DF8BFD7899C}"/>
                    </a:ext>
                  </a:extLst>
                </p:cNvPr>
                <p:cNvSpPr/>
                <p:nvPr/>
              </p:nvSpPr>
              <p:spPr>
                <a:xfrm>
                  <a:off x="1178822" y="2702563"/>
                  <a:ext cx="1214093" cy="2518318"/>
                </a:xfrm>
                <a:custGeom>
                  <a:avLst/>
                  <a:gdLst>
                    <a:gd name="connsiteX0" fmla="*/ 1214013 w 1214093"/>
                    <a:gd name="connsiteY0" fmla="*/ 781171 h 2518318"/>
                    <a:gd name="connsiteX1" fmla="*/ 1214013 w 1214093"/>
                    <a:gd name="connsiteY1" fmla="*/ 759158 h 2518318"/>
                    <a:gd name="connsiteX2" fmla="*/ 1214013 w 1214093"/>
                    <a:gd name="connsiteY2" fmla="*/ -70 h 2518318"/>
                    <a:gd name="connsiteX3" fmla="*/ -52 w 1214093"/>
                    <a:gd name="connsiteY3" fmla="*/ -70 h 2518318"/>
                    <a:gd name="connsiteX4" fmla="*/ -52 w 1214093"/>
                    <a:gd name="connsiteY4" fmla="*/ 759158 h 2518318"/>
                    <a:gd name="connsiteX5" fmla="*/ -52 w 1214093"/>
                    <a:gd name="connsiteY5" fmla="*/ 781171 h 2518318"/>
                    <a:gd name="connsiteX6" fmla="*/ -52 w 1214093"/>
                    <a:gd name="connsiteY6" fmla="*/ 803043 h 2518318"/>
                    <a:gd name="connsiteX7" fmla="*/ -52 w 1214093"/>
                    <a:gd name="connsiteY7" fmla="*/ 2075575 h 2518318"/>
                    <a:gd name="connsiteX8" fmla="*/ 131324 w 1214093"/>
                    <a:gd name="connsiteY8" fmla="*/ 2300890 h 2518318"/>
                    <a:gd name="connsiteX9" fmla="*/ 501754 w 1214093"/>
                    <a:gd name="connsiteY9" fmla="*/ 2493536 h 2518318"/>
                    <a:gd name="connsiteX10" fmla="*/ 703654 w 1214093"/>
                    <a:gd name="connsiteY10" fmla="*/ 2493536 h 2518318"/>
                    <a:gd name="connsiteX11" fmla="*/ 1080955 w 1214093"/>
                    <a:gd name="connsiteY11" fmla="*/ 2299908 h 2518318"/>
                    <a:gd name="connsiteX12" fmla="*/ 1213452 w 1214093"/>
                    <a:gd name="connsiteY12" fmla="*/ 2074173 h 2518318"/>
                    <a:gd name="connsiteX13" fmla="*/ 1213452 w 1214093"/>
                    <a:gd name="connsiteY13" fmla="*/ 802483 h 2518318"/>
                    <a:gd name="connsiteX14" fmla="*/ 1214013 w 1214093"/>
                    <a:gd name="connsiteY14" fmla="*/ 781171 h 2518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214093" h="2518318">
                      <a:moveTo>
                        <a:pt x="1214013" y="781171"/>
                      </a:moveTo>
                      <a:cubicBezTo>
                        <a:pt x="1214013" y="773740"/>
                        <a:pt x="1214013" y="767150"/>
                        <a:pt x="1214013" y="759158"/>
                      </a:cubicBezTo>
                      <a:lnTo>
                        <a:pt x="1214013" y="-70"/>
                      </a:lnTo>
                      <a:lnTo>
                        <a:pt x="-52" y="-70"/>
                      </a:lnTo>
                      <a:lnTo>
                        <a:pt x="-52" y="759158"/>
                      </a:lnTo>
                      <a:cubicBezTo>
                        <a:pt x="-52" y="766449"/>
                        <a:pt x="-52" y="773179"/>
                        <a:pt x="-52" y="781171"/>
                      </a:cubicBezTo>
                      <a:cubicBezTo>
                        <a:pt x="-52" y="789163"/>
                        <a:pt x="-52" y="795192"/>
                        <a:pt x="-52" y="803043"/>
                      </a:cubicBezTo>
                      <a:lnTo>
                        <a:pt x="-52" y="2075575"/>
                      </a:lnTo>
                      <a:cubicBezTo>
                        <a:pt x="-1470" y="2169248"/>
                        <a:pt x="49110" y="2255981"/>
                        <a:pt x="131324" y="2300890"/>
                      </a:cubicBezTo>
                      <a:lnTo>
                        <a:pt x="501754" y="2493536"/>
                      </a:lnTo>
                      <a:cubicBezTo>
                        <a:pt x="565016" y="2526485"/>
                        <a:pt x="640392" y="2526485"/>
                        <a:pt x="703654" y="2493536"/>
                      </a:cubicBezTo>
                      <a:lnTo>
                        <a:pt x="1080955" y="2299908"/>
                      </a:lnTo>
                      <a:cubicBezTo>
                        <a:pt x="1163734" y="2255238"/>
                        <a:pt x="1214812" y="2168225"/>
                        <a:pt x="1213452" y="2074173"/>
                      </a:cubicBezTo>
                      <a:lnTo>
                        <a:pt x="1213452" y="802483"/>
                      </a:lnTo>
                      <a:cubicBezTo>
                        <a:pt x="1213733" y="795753"/>
                        <a:pt x="1214013" y="788462"/>
                        <a:pt x="1214013" y="78117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BF2CD253-9601-FEE1-4F5B-C35CE3108D93}"/>
                    </a:ext>
                  </a:extLst>
                </p:cNvPr>
                <p:cNvSpPr/>
                <p:nvPr/>
              </p:nvSpPr>
              <p:spPr>
                <a:xfrm>
                  <a:off x="1277558" y="2810804"/>
                  <a:ext cx="1015950" cy="1927164"/>
                </a:xfrm>
                <a:custGeom>
                  <a:avLst/>
                  <a:gdLst>
                    <a:gd name="connsiteX0" fmla="*/ -81 w 1015950"/>
                    <a:gd name="connsiteY0" fmla="*/ 1419119 h 1927164"/>
                    <a:gd name="connsiteX1" fmla="*/ 507894 w 1015950"/>
                    <a:gd name="connsiteY1" fmla="*/ 1927094 h 1927164"/>
                    <a:gd name="connsiteX2" fmla="*/ 507894 w 1015950"/>
                    <a:gd name="connsiteY2" fmla="*/ 1927094 h 1927164"/>
                    <a:gd name="connsiteX3" fmla="*/ 1015870 w 1015950"/>
                    <a:gd name="connsiteY3" fmla="*/ 1419119 h 1927164"/>
                    <a:gd name="connsiteX4" fmla="*/ 1015870 w 1015950"/>
                    <a:gd name="connsiteY4" fmla="*/ -70 h 1927164"/>
                    <a:gd name="connsiteX5" fmla="*/ 942540 w 1015950"/>
                    <a:gd name="connsiteY5" fmla="*/ 50545 h 1927164"/>
                    <a:gd name="connsiteX6" fmla="*/ 677631 w 1015950"/>
                    <a:gd name="connsiteY6" fmla="*/ 654927 h 1927164"/>
                    <a:gd name="connsiteX7" fmla="*/ 73248 w 1015950"/>
                    <a:gd name="connsiteY7" fmla="*/ 390018 h 1927164"/>
                    <a:gd name="connsiteX8" fmla="*/ 73248 w 1015950"/>
                    <a:gd name="connsiteY8" fmla="*/ 50545 h 1927164"/>
                    <a:gd name="connsiteX9" fmla="*/ -81 w 1015950"/>
                    <a:gd name="connsiteY9" fmla="*/ -70 h 192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5950" h="1927164">
                      <a:moveTo>
                        <a:pt x="-81" y="1419119"/>
                      </a:moveTo>
                      <a:cubicBezTo>
                        <a:pt x="766" y="1699312"/>
                        <a:pt x="227702" y="1926253"/>
                        <a:pt x="507894" y="1927094"/>
                      </a:cubicBezTo>
                      <a:lnTo>
                        <a:pt x="507894" y="1927094"/>
                      </a:lnTo>
                      <a:cubicBezTo>
                        <a:pt x="788087" y="1926253"/>
                        <a:pt x="1015028" y="1699312"/>
                        <a:pt x="1015870" y="1419119"/>
                      </a:cubicBezTo>
                      <a:lnTo>
                        <a:pt x="1015870" y="-70"/>
                      </a:lnTo>
                      <a:cubicBezTo>
                        <a:pt x="992385" y="18143"/>
                        <a:pt x="967904" y="35052"/>
                        <a:pt x="942540" y="50545"/>
                      </a:cubicBezTo>
                      <a:cubicBezTo>
                        <a:pt x="1036284" y="290596"/>
                        <a:pt x="917682" y="561184"/>
                        <a:pt x="677631" y="654927"/>
                      </a:cubicBezTo>
                      <a:cubicBezTo>
                        <a:pt x="437580" y="748671"/>
                        <a:pt x="166992" y="630068"/>
                        <a:pt x="73248" y="390018"/>
                      </a:cubicBezTo>
                      <a:cubicBezTo>
                        <a:pt x="30625" y="280879"/>
                        <a:pt x="30625" y="159683"/>
                        <a:pt x="73248" y="50545"/>
                      </a:cubicBezTo>
                      <a:cubicBezTo>
                        <a:pt x="47885" y="35052"/>
                        <a:pt x="23404" y="18143"/>
                        <a:pt x="-81" y="-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FFFFF"/>
                    </a:gs>
                    <a:gs pos="100000">
                      <a:srgbClr val="FFFFFF"/>
                    </a:gs>
                  </a:gsLst>
                  <a:lin ang="16200000" scaled="1"/>
                </a:gra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EB20EBED-1DCB-5E60-00F6-7561C6726131}"/>
                    </a:ext>
                  </a:extLst>
                </p:cNvPr>
                <p:cNvSpPr/>
                <p:nvPr/>
              </p:nvSpPr>
              <p:spPr>
                <a:xfrm>
                  <a:off x="1124451" y="2003048"/>
                  <a:ext cx="1322305" cy="2392392"/>
                </a:xfrm>
                <a:custGeom>
                  <a:avLst/>
                  <a:gdLst>
                    <a:gd name="connsiteX0" fmla="*/ -81 w 1322305"/>
                    <a:gd name="connsiteY0" fmla="*/ 661152 h 2508188"/>
                    <a:gd name="connsiteX1" fmla="*/ -81 w 1322305"/>
                    <a:gd name="connsiteY1" fmla="*/ 2508118 h 2508188"/>
                    <a:gd name="connsiteX2" fmla="*/ 1322225 w 1322305"/>
                    <a:gd name="connsiteY2" fmla="*/ 2508118 h 2508188"/>
                    <a:gd name="connsiteX3" fmla="*/ 1322225 w 1322305"/>
                    <a:gd name="connsiteY3" fmla="*/ 661152 h 2508188"/>
                    <a:gd name="connsiteX4" fmla="*/ 661002 w 1322305"/>
                    <a:gd name="connsiteY4" fmla="*/ -70 h 2508188"/>
                    <a:gd name="connsiteX5" fmla="*/ 661002 w 1322305"/>
                    <a:gd name="connsiteY5" fmla="*/ -70 h 2508188"/>
                    <a:gd name="connsiteX6" fmla="*/ -81 w 1322305"/>
                    <a:gd name="connsiteY6" fmla="*/ 661152 h 2508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22305" h="2508188">
                      <a:moveTo>
                        <a:pt x="-81" y="661152"/>
                      </a:moveTo>
                      <a:lnTo>
                        <a:pt x="-81" y="2508118"/>
                      </a:lnTo>
                      <a:cubicBezTo>
                        <a:pt x="389124" y="2206614"/>
                        <a:pt x="933020" y="2206614"/>
                        <a:pt x="1322225" y="2508118"/>
                      </a:cubicBezTo>
                      <a:lnTo>
                        <a:pt x="1322225" y="661152"/>
                      </a:lnTo>
                      <a:cubicBezTo>
                        <a:pt x="1321145" y="296417"/>
                        <a:pt x="1025740" y="1008"/>
                        <a:pt x="661002" y="-70"/>
                      </a:cubicBezTo>
                      <a:lnTo>
                        <a:pt x="661002" y="-70"/>
                      </a:lnTo>
                      <a:cubicBezTo>
                        <a:pt x="296292" y="1008"/>
                        <a:pt x="920" y="296440"/>
                        <a:pt x="-81" y="6611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984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IN" dirty="0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006F0269-6061-2E0A-FAF3-9F666117CC96}"/>
                    </a:ext>
                  </a:extLst>
                </p:cNvPr>
                <p:cNvSpPr/>
                <p:nvPr/>
              </p:nvSpPr>
              <p:spPr>
                <a:xfrm rot="16757401">
                  <a:off x="1403504" y="3858852"/>
                  <a:ext cx="758458" cy="860318"/>
                </a:xfrm>
                <a:custGeom>
                  <a:avLst/>
                  <a:gdLst>
                    <a:gd name="connsiteX0" fmla="*/ 860238 w 860318"/>
                    <a:gd name="connsiteY0" fmla="*/ 430089 h 860318"/>
                    <a:gd name="connsiteX1" fmla="*/ 430079 w 860318"/>
                    <a:gd name="connsiteY1" fmla="*/ 860249 h 860318"/>
                    <a:gd name="connsiteX2" fmla="*/ -81 w 860318"/>
                    <a:gd name="connsiteY2" fmla="*/ 430089 h 860318"/>
                    <a:gd name="connsiteX3" fmla="*/ 430079 w 860318"/>
                    <a:gd name="connsiteY3" fmla="*/ -70 h 860318"/>
                    <a:gd name="connsiteX4" fmla="*/ 860238 w 860318"/>
                    <a:gd name="connsiteY4" fmla="*/ 430089 h 860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0318" h="860318">
                      <a:moveTo>
                        <a:pt x="860238" y="430089"/>
                      </a:moveTo>
                      <a:cubicBezTo>
                        <a:pt x="860238" y="667660"/>
                        <a:pt x="667649" y="860249"/>
                        <a:pt x="430079" y="860249"/>
                      </a:cubicBezTo>
                      <a:cubicBezTo>
                        <a:pt x="192508" y="860249"/>
                        <a:pt x="-81" y="667660"/>
                        <a:pt x="-81" y="430089"/>
                      </a:cubicBezTo>
                      <a:cubicBezTo>
                        <a:pt x="-81" y="192519"/>
                        <a:pt x="192508" y="-70"/>
                        <a:pt x="430079" y="-70"/>
                      </a:cubicBezTo>
                      <a:cubicBezTo>
                        <a:pt x="667649" y="-70"/>
                        <a:pt x="860238" y="192519"/>
                        <a:pt x="860238" y="43008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dirty="0"/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7C7884D-901A-3956-C2FA-1C027ED66DAB}"/>
                  </a:ext>
                </a:extLst>
              </p:cNvPr>
              <p:cNvSpPr txBox="1"/>
              <p:nvPr/>
            </p:nvSpPr>
            <p:spPr>
              <a:xfrm>
                <a:off x="6560088" y="1784531"/>
                <a:ext cx="1859714" cy="2143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Membership Plans:</a:t>
                </a:r>
              </a:p>
              <a:p>
                <a:pPr algn="ctr">
                  <a:spcAft>
                    <a:spcPts val="600"/>
                  </a:spcAft>
                </a:pPr>
                <a:endParaRPr lang="en-US" sz="1400" b="1" dirty="0">
                  <a:solidFill>
                    <a:srgbClr val="FF0000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400" dirty="0">
                    <a:solidFill>
                      <a:schemeClr val="bg2"/>
                    </a:solidFill>
                    <a:latin typeface="Bahnschrift" panose="020B0502040204020203" pitchFamily="34" charset="0"/>
                  </a:rPr>
                  <a:t>Offer flexible coin packages (e.g., daily, weekly, or monthly bundles).</a:t>
                </a:r>
                <a:endParaRPr lang="en-IN" sz="1400" b="1" i="0" dirty="0">
                  <a:solidFill>
                    <a:schemeClr val="bg2"/>
                  </a:solidFill>
                  <a:effectLst/>
                  <a:latin typeface="Bahnschrift" panose="020B0502040204020203" pitchFamily="34" charset="0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4D981BD-2CBB-7D6D-4AAF-7582E7EFA0D0}"/>
                  </a:ext>
                </a:extLst>
              </p:cNvPr>
              <p:cNvSpPr txBox="1"/>
              <p:nvPr/>
            </p:nvSpPr>
            <p:spPr>
              <a:xfrm>
                <a:off x="7244519" y="5688353"/>
                <a:ext cx="47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03</a:t>
                </a:r>
                <a:endParaRPr lang="en-IN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B2EA9A7-6BC5-212A-70A3-F700DD9926D5}"/>
                </a:ext>
              </a:extLst>
            </p:cNvPr>
            <p:cNvGrpSpPr/>
            <p:nvPr/>
          </p:nvGrpSpPr>
          <p:grpSpPr>
            <a:xfrm>
              <a:off x="9278327" y="1330303"/>
              <a:ext cx="1960508" cy="4942587"/>
              <a:chOff x="9278327" y="1330303"/>
              <a:chExt cx="1960508" cy="494258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4D51E9CF-5B9A-BD68-F55F-F4093C227F7C}"/>
                  </a:ext>
                </a:extLst>
              </p:cNvPr>
              <p:cNvGrpSpPr/>
              <p:nvPr/>
            </p:nvGrpSpPr>
            <p:grpSpPr>
              <a:xfrm>
                <a:off x="9278327" y="1330303"/>
                <a:ext cx="1960508" cy="4942587"/>
                <a:chOff x="1124451" y="1887252"/>
                <a:chExt cx="1322305" cy="3333629"/>
              </a:xfrm>
            </p:grpSpPr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C7BE982D-36F9-C7A5-BAB2-3FD8FBB54E12}"/>
                    </a:ext>
                  </a:extLst>
                </p:cNvPr>
                <p:cNvSpPr/>
                <p:nvPr/>
              </p:nvSpPr>
              <p:spPr>
                <a:xfrm>
                  <a:off x="1124451" y="1887252"/>
                  <a:ext cx="1322305" cy="2508188"/>
                </a:xfrm>
                <a:custGeom>
                  <a:avLst/>
                  <a:gdLst>
                    <a:gd name="connsiteX0" fmla="*/ 1322225 w 1322305"/>
                    <a:gd name="connsiteY0" fmla="*/ 661152 h 2508188"/>
                    <a:gd name="connsiteX1" fmla="*/ 661002 w 1322305"/>
                    <a:gd name="connsiteY1" fmla="*/ -70 h 2508188"/>
                    <a:gd name="connsiteX2" fmla="*/ 661002 w 1322305"/>
                    <a:gd name="connsiteY2" fmla="*/ -70 h 2508188"/>
                    <a:gd name="connsiteX3" fmla="*/ -81 w 1322305"/>
                    <a:gd name="connsiteY3" fmla="*/ 661152 h 2508188"/>
                    <a:gd name="connsiteX4" fmla="*/ -81 w 1322305"/>
                    <a:gd name="connsiteY4" fmla="*/ 2508118 h 2508188"/>
                    <a:gd name="connsiteX5" fmla="*/ 95261 w 1322305"/>
                    <a:gd name="connsiteY5" fmla="*/ 2442220 h 2508188"/>
                    <a:gd name="connsiteX6" fmla="*/ 439977 w 1322305"/>
                    <a:gd name="connsiteY6" fmla="*/ 1655455 h 2508188"/>
                    <a:gd name="connsiteX7" fmla="*/ 1226743 w 1322305"/>
                    <a:gd name="connsiteY7" fmla="*/ 2000171 h 2508188"/>
                    <a:gd name="connsiteX8" fmla="*/ 1226743 w 1322305"/>
                    <a:gd name="connsiteY8" fmla="*/ 2442220 h 2508188"/>
                    <a:gd name="connsiteX9" fmla="*/ 1322225 w 1322305"/>
                    <a:gd name="connsiteY9" fmla="*/ 2508118 h 2508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22305" h="2508188">
                      <a:moveTo>
                        <a:pt x="1322225" y="661152"/>
                      </a:moveTo>
                      <a:cubicBezTo>
                        <a:pt x="1321145" y="296417"/>
                        <a:pt x="1025740" y="1008"/>
                        <a:pt x="661002" y="-70"/>
                      </a:cubicBezTo>
                      <a:lnTo>
                        <a:pt x="661002" y="-70"/>
                      </a:lnTo>
                      <a:cubicBezTo>
                        <a:pt x="296292" y="1008"/>
                        <a:pt x="920" y="296440"/>
                        <a:pt x="-81" y="661152"/>
                      </a:cubicBezTo>
                      <a:lnTo>
                        <a:pt x="-81" y="2508118"/>
                      </a:lnTo>
                      <a:cubicBezTo>
                        <a:pt x="30480" y="2484437"/>
                        <a:pt x="62308" y="2462438"/>
                        <a:pt x="95261" y="2442220"/>
                      </a:cubicBezTo>
                      <a:cubicBezTo>
                        <a:pt x="-26806" y="2129766"/>
                        <a:pt x="127529" y="1777520"/>
                        <a:pt x="439977" y="1655455"/>
                      </a:cubicBezTo>
                      <a:cubicBezTo>
                        <a:pt x="752432" y="1533389"/>
                        <a:pt x="1104677" y="1687730"/>
                        <a:pt x="1226743" y="2000171"/>
                      </a:cubicBezTo>
                      <a:cubicBezTo>
                        <a:pt x="1282265" y="2142286"/>
                        <a:pt x="1282265" y="2300105"/>
                        <a:pt x="1226743" y="2442220"/>
                      </a:cubicBezTo>
                      <a:cubicBezTo>
                        <a:pt x="1259720" y="2462480"/>
                        <a:pt x="1291589" y="2484465"/>
                        <a:pt x="1322225" y="25081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5D374D55-A7F7-2AFE-265D-A3857A65A2F1}"/>
                    </a:ext>
                  </a:extLst>
                </p:cNvPr>
                <p:cNvSpPr/>
                <p:nvPr/>
              </p:nvSpPr>
              <p:spPr>
                <a:xfrm>
                  <a:off x="1277558" y="2810804"/>
                  <a:ext cx="1015950" cy="1927164"/>
                </a:xfrm>
                <a:custGeom>
                  <a:avLst/>
                  <a:gdLst>
                    <a:gd name="connsiteX0" fmla="*/ -81 w 1015950"/>
                    <a:gd name="connsiteY0" fmla="*/ 1419119 h 1927164"/>
                    <a:gd name="connsiteX1" fmla="*/ 507894 w 1015950"/>
                    <a:gd name="connsiteY1" fmla="*/ 1927094 h 1927164"/>
                    <a:gd name="connsiteX2" fmla="*/ 507894 w 1015950"/>
                    <a:gd name="connsiteY2" fmla="*/ 1927094 h 1927164"/>
                    <a:gd name="connsiteX3" fmla="*/ 1015870 w 1015950"/>
                    <a:gd name="connsiteY3" fmla="*/ 1419119 h 1927164"/>
                    <a:gd name="connsiteX4" fmla="*/ 1015870 w 1015950"/>
                    <a:gd name="connsiteY4" fmla="*/ -70 h 1927164"/>
                    <a:gd name="connsiteX5" fmla="*/ 942540 w 1015950"/>
                    <a:gd name="connsiteY5" fmla="*/ 50545 h 1927164"/>
                    <a:gd name="connsiteX6" fmla="*/ 677631 w 1015950"/>
                    <a:gd name="connsiteY6" fmla="*/ 654927 h 1927164"/>
                    <a:gd name="connsiteX7" fmla="*/ 73248 w 1015950"/>
                    <a:gd name="connsiteY7" fmla="*/ 390018 h 1927164"/>
                    <a:gd name="connsiteX8" fmla="*/ 73248 w 1015950"/>
                    <a:gd name="connsiteY8" fmla="*/ 50545 h 1927164"/>
                    <a:gd name="connsiteX9" fmla="*/ -81 w 1015950"/>
                    <a:gd name="connsiteY9" fmla="*/ -70 h 192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5950" h="1927164">
                      <a:moveTo>
                        <a:pt x="-81" y="1419119"/>
                      </a:moveTo>
                      <a:cubicBezTo>
                        <a:pt x="766" y="1699312"/>
                        <a:pt x="227702" y="1926253"/>
                        <a:pt x="507894" y="1927094"/>
                      </a:cubicBezTo>
                      <a:lnTo>
                        <a:pt x="507894" y="1927094"/>
                      </a:lnTo>
                      <a:cubicBezTo>
                        <a:pt x="788087" y="1926253"/>
                        <a:pt x="1015028" y="1699312"/>
                        <a:pt x="1015870" y="1419119"/>
                      </a:cubicBezTo>
                      <a:lnTo>
                        <a:pt x="1015870" y="-70"/>
                      </a:lnTo>
                      <a:cubicBezTo>
                        <a:pt x="992385" y="18143"/>
                        <a:pt x="967904" y="35052"/>
                        <a:pt x="942540" y="50545"/>
                      </a:cubicBezTo>
                      <a:cubicBezTo>
                        <a:pt x="1036284" y="290596"/>
                        <a:pt x="917682" y="561184"/>
                        <a:pt x="677631" y="654927"/>
                      </a:cubicBezTo>
                      <a:cubicBezTo>
                        <a:pt x="437580" y="748671"/>
                        <a:pt x="166992" y="630068"/>
                        <a:pt x="73248" y="390018"/>
                      </a:cubicBezTo>
                      <a:cubicBezTo>
                        <a:pt x="30625" y="280879"/>
                        <a:pt x="30625" y="159683"/>
                        <a:pt x="73248" y="50545"/>
                      </a:cubicBezTo>
                      <a:cubicBezTo>
                        <a:pt x="47885" y="35052"/>
                        <a:pt x="23404" y="18143"/>
                        <a:pt x="-81" y="-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FFFFF"/>
                    </a:gs>
                    <a:gs pos="100000">
                      <a:srgbClr val="FFFFFF"/>
                    </a:gs>
                  </a:gsLst>
                  <a:lin ang="16200000" scaled="1"/>
                </a:gra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182D2A72-26C8-67A7-6C78-EBAAC9DB8BBE}"/>
                    </a:ext>
                  </a:extLst>
                </p:cNvPr>
                <p:cNvSpPr/>
                <p:nvPr/>
              </p:nvSpPr>
              <p:spPr>
                <a:xfrm>
                  <a:off x="1178822" y="2702563"/>
                  <a:ext cx="1214093" cy="2518318"/>
                </a:xfrm>
                <a:custGeom>
                  <a:avLst/>
                  <a:gdLst>
                    <a:gd name="connsiteX0" fmla="*/ 1214013 w 1214093"/>
                    <a:gd name="connsiteY0" fmla="*/ 781171 h 2518318"/>
                    <a:gd name="connsiteX1" fmla="*/ 1214013 w 1214093"/>
                    <a:gd name="connsiteY1" fmla="*/ 759158 h 2518318"/>
                    <a:gd name="connsiteX2" fmla="*/ 1214013 w 1214093"/>
                    <a:gd name="connsiteY2" fmla="*/ -70 h 2518318"/>
                    <a:gd name="connsiteX3" fmla="*/ -52 w 1214093"/>
                    <a:gd name="connsiteY3" fmla="*/ -70 h 2518318"/>
                    <a:gd name="connsiteX4" fmla="*/ -52 w 1214093"/>
                    <a:gd name="connsiteY4" fmla="*/ 759158 h 2518318"/>
                    <a:gd name="connsiteX5" fmla="*/ -52 w 1214093"/>
                    <a:gd name="connsiteY5" fmla="*/ 781171 h 2518318"/>
                    <a:gd name="connsiteX6" fmla="*/ -52 w 1214093"/>
                    <a:gd name="connsiteY6" fmla="*/ 803043 h 2518318"/>
                    <a:gd name="connsiteX7" fmla="*/ -52 w 1214093"/>
                    <a:gd name="connsiteY7" fmla="*/ 2075575 h 2518318"/>
                    <a:gd name="connsiteX8" fmla="*/ 131324 w 1214093"/>
                    <a:gd name="connsiteY8" fmla="*/ 2300890 h 2518318"/>
                    <a:gd name="connsiteX9" fmla="*/ 501754 w 1214093"/>
                    <a:gd name="connsiteY9" fmla="*/ 2493536 h 2518318"/>
                    <a:gd name="connsiteX10" fmla="*/ 703654 w 1214093"/>
                    <a:gd name="connsiteY10" fmla="*/ 2493536 h 2518318"/>
                    <a:gd name="connsiteX11" fmla="*/ 1080955 w 1214093"/>
                    <a:gd name="connsiteY11" fmla="*/ 2299908 h 2518318"/>
                    <a:gd name="connsiteX12" fmla="*/ 1213452 w 1214093"/>
                    <a:gd name="connsiteY12" fmla="*/ 2074173 h 2518318"/>
                    <a:gd name="connsiteX13" fmla="*/ 1213452 w 1214093"/>
                    <a:gd name="connsiteY13" fmla="*/ 802483 h 2518318"/>
                    <a:gd name="connsiteX14" fmla="*/ 1214013 w 1214093"/>
                    <a:gd name="connsiteY14" fmla="*/ 781171 h 2518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214093" h="2518318">
                      <a:moveTo>
                        <a:pt x="1214013" y="781171"/>
                      </a:moveTo>
                      <a:cubicBezTo>
                        <a:pt x="1214013" y="773740"/>
                        <a:pt x="1214013" y="767150"/>
                        <a:pt x="1214013" y="759158"/>
                      </a:cubicBezTo>
                      <a:lnTo>
                        <a:pt x="1214013" y="-70"/>
                      </a:lnTo>
                      <a:lnTo>
                        <a:pt x="-52" y="-70"/>
                      </a:lnTo>
                      <a:lnTo>
                        <a:pt x="-52" y="759158"/>
                      </a:lnTo>
                      <a:cubicBezTo>
                        <a:pt x="-52" y="766449"/>
                        <a:pt x="-52" y="773179"/>
                        <a:pt x="-52" y="781171"/>
                      </a:cubicBezTo>
                      <a:cubicBezTo>
                        <a:pt x="-52" y="789163"/>
                        <a:pt x="-52" y="795192"/>
                        <a:pt x="-52" y="803043"/>
                      </a:cubicBezTo>
                      <a:lnTo>
                        <a:pt x="-52" y="2075575"/>
                      </a:lnTo>
                      <a:cubicBezTo>
                        <a:pt x="-1470" y="2169248"/>
                        <a:pt x="49110" y="2255981"/>
                        <a:pt x="131324" y="2300890"/>
                      </a:cubicBezTo>
                      <a:lnTo>
                        <a:pt x="501754" y="2493536"/>
                      </a:lnTo>
                      <a:cubicBezTo>
                        <a:pt x="565016" y="2526485"/>
                        <a:pt x="640392" y="2526485"/>
                        <a:pt x="703654" y="2493536"/>
                      </a:cubicBezTo>
                      <a:lnTo>
                        <a:pt x="1080955" y="2299908"/>
                      </a:lnTo>
                      <a:cubicBezTo>
                        <a:pt x="1163734" y="2255238"/>
                        <a:pt x="1214812" y="2168225"/>
                        <a:pt x="1213452" y="2074173"/>
                      </a:cubicBezTo>
                      <a:lnTo>
                        <a:pt x="1213452" y="802483"/>
                      </a:lnTo>
                      <a:cubicBezTo>
                        <a:pt x="1213733" y="795753"/>
                        <a:pt x="1214013" y="788462"/>
                        <a:pt x="1214013" y="78117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C121EC1F-657D-BD72-28B0-F1F6EF0AB950}"/>
                    </a:ext>
                  </a:extLst>
                </p:cNvPr>
                <p:cNvSpPr/>
                <p:nvPr/>
              </p:nvSpPr>
              <p:spPr>
                <a:xfrm>
                  <a:off x="1277558" y="2810804"/>
                  <a:ext cx="1015950" cy="1927164"/>
                </a:xfrm>
                <a:custGeom>
                  <a:avLst/>
                  <a:gdLst>
                    <a:gd name="connsiteX0" fmla="*/ -81 w 1015950"/>
                    <a:gd name="connsiteY0" fmla="*/ 1419119 h 1927164"/>
                    <a:gd name="connsiteX1" fmla="*/ 507894 w 1015950"/>
                    <a:gd name="connsiteY1" fmla="*/ 1927094 h 1927164"/>
                    <a:gd name="connsiteX2" fmla="*/ 507894 w 1015950"/>
                    <a:gd name="connsiteY2" fmla="*/ 1927094 h 1927164"/>
                    <a:gd name="connsiteX3" fmla="*/ 1015870 w 1015950"/>
                    <a:gd name="connsiteY3" fmla="*/ 1419119 h 1927164"/>
                    <a:gd name="connsiteX4" fmla="*/ 1015870 w 1015950"/>
                    <a:gd name="connsiteY4" fmla="*/ -70 h 1927164"/>
                    <a:gd name="connsiteX5" fmla="*/ 942540 w 1015950"/>
                    <a:gd name="connsiteY5" fmla="*/ 50545 h 1927164"/>
                    <a:gd name="connsiteX6" fmla="*/ 677631 w 1015950"/>
                    <a:gd name="connsiteY6" fmla="*/ 654927 h 1927164"/>
                    <a:gd name="connsiteX7" fmla="*/ 73248 w 1015950"/>
                    <a:gd name="connsiteY7" fmla="*/ 390018 h 1927164"/>
                    <a:gd name="connsiteX8" fmla="*/ 73248 w 1015950"/>
                    <a:gd name="connsiteY8" fmla="*/ 50545 h 1927164"/>
                    <a:gd name="connsiteX9" fmla="*/ -81 w 1015950"/>
                    <a:gd name="connsiteY9" fmla="*/ -70 h 192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5950" h="1927164">
                      <a:moveTo>
                        <a:pt x="-81" y="1419119"/>
                      </a:moveTo>
                      <a:cubicBezTo>
                        <a:pt x="766" y="1699312"/>
                        <a:pt x="227702" y="1926253"/>
                        <a:pt x="507894" y="1927094"/>
                      </a:cubicBezTo>
                      <a:lnTo>
                        <a:pt x="507894" y="1927094"/>
                      </a:lnTo>
                      <a:cubicBezTo>
                        <a:pt x="788087" y="1926253"/>
                        <a:pt x="1015028" y="1699312"/>
                        <a:pt x="1015870" y="1419119"/>
                      </a:cubicBezTo>
                      <a:lnTo>
                        <a:pt x="1015870" y="-70"/>
                      </a:lnTo>
                      <a:cubicBezTo>
                        <a:pt x="992385" y="18143"/>
                        <a:pt x="967904" y="35052"/>
                        <a:pt x="942540" y="50545"/>
                      </a:cubicBezTo>
                      <a:cubicBezTo>
                        <a:pt x="1036284" y="290596"/>
                        <a:pt x="917682" y="561184"/>
                        <a:pt x="677631" y="654927"/>
                      </a:cubicBezTo>
                      <a:cubicBezTo>
                        <a:pt x="437580" y="748671"/>
                        <a:pt x="166992" y="630068"/>
                        <a:pt x="73248" y="390018"/>
                      </a:cubicBezTo>
                      <a:cubicBezTo>
                        <a:pt x="30625" y="280879"/>
                        <a:pt x="30625" y="159683"/>
                        <a:pt x="73248" y="50545"/>
                      </a:cubicBezTo>
                      <a:cubicBezTo>
                        <a:pt x="47885" y="35052"/>
                        <a:pt x="23404" y="18143"/>
                        <a:pt x="-81" y="-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FFFFF"/>
                    </a:gs>
                    <a:gs pos="100000">
                      <a:srgbClr val="FFFFFF"/>
                    </a:gs>
                  </a:gsLst>
                  <a:lin ang="16200000" scaled="1"/>
                </a:gra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4E0C6AF3-F9A7-1537-2357-756AAE06D591}"/>
                    </a:ext>
                  </a:extLst>
                </p:cNvPr>
                <p:cNvSpPr/>
                <p:nvPr/>
              </p:nvSpPr>
              <p:spPr>
                <a:xfrm>
                  <a:off x="1124451" y="2003048"/>
                  <a:ext cx="1322305" cy="2392392"/>
                </a:xfrm>
                <a:custGeom>
                  <a:avLst/>
                  <a:gdLst>
                    <a:gd name="connsiteX0" fmla="*/ -81 w 1322305"/>
                    <a:gd name="connsiteY0" fmla="*/ 661152 h 2508188"/>
                    <a:gd name="connsiteX1" fmla="*/ -81 w 1322305"/>
                    <a:gd name="connsiteY1" fmla="*/ 2508118 h 2508188"/>
                    <a:gd name="connsiteX2" fmla="*/ 1322225 w 1322305"/>
                    <a:gd name="connsiteY2" fmla="*/ 2508118 h 2508188"/>
                    <a:gd name="connsiteX3" fmla="*/ 1322225 w 1322305"/>
                    <a:gd name="connsiteY3" fmla="*/ 661152 h 2508188"/>
                    <a:gd name="connsiteX4" fmla="*/ 661002 w 1322305"/>
                    <a:gd name="connsiteY4" fmla="*/ -70 h 2508188"/>
                    <a:gd name="connsiteX5" fmla="*/ 661002 w 1322305"/>
                    <a:gd name="connsiteY5" fmla="*/ -70 h 2508188"/>
                    <a:gd name="connsiteX6" fmla="*/ -81 w 1322305"/>
                    <a:gd name="connsiteY6" fmla="*/ 661152 h 2508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22305" h="2508188">
                      <a:moveTo>
                        <a:pt x="-81" y="661152"/>
                      </a:moveTo>
                      <a:lnTo>
                        <a:pt x="-81" y="2508118"/>
                      </a:lnTo>
                      <a:cubicBezTo>
                        <a:pt x="389124" y="2206614"/>
                        <a:pt x="933020" y="2206614"/>
                        <a:pt x="1322225" y="2508118"/>
                      </a:cubicBezTo>
                      <a:lnTo>
                        <a:pt x="1322225" y="661152"/>
                      </a:lnTo>
                      <a:cubicBezTo>
                        <a:pt x="1321145" y="296417"/>
                        <a:pt x="1025740" y="1008"/>
                        <a:pt x="661002" y="-70"/>
                      </a:cubicBezTo>
                      <a:lnTo>
                        <a:pt x="661002" y="-70"/>
                      </a:lnTo>
                      <a:cubicBezTo>
                        <a:pt x="296292" y="1008"/>
                        <a:pt x="920" y="296440"/>
                        <a:pt x="-81" y="6611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984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C8B1FBAD-A3ED-48FA-DDEE-7F0D55C41061}"/>
                    </a:ext>
                  </a:extLst>
                </p:cNvPr>
                <p:cNvSpPr/>
                <p:nvPr/>
              </p:nvSpPr>
              <p:spPr>
                <a:xfrm rot="16757401">
                  <a:off x="1370163" y="3835163"/>
                  <a:ext cx="806465" cy="860318"/>
                </a:xfrm>
                <a:custGeom>
                  <a:avLst/>
                  <a:gdLst>
                    <a:gd name="connsiteX0" fmla="*/ 860238 w 860318"/>
                    <a:gd name="connsiteY0" fmla="*/ 430089 h 860318"/>
                    <a:gd name="connsiteX1" fmla="*/ 430079 w 860318"/>
                    <a:gd name="connsiteY1" fmla="*/ 860249 h 860318"/>
                    <a:gd name="connsiteX2" fmla="*/ -81 w 860318"/>
                    <a:gd name="connsiteY2" fmla="*/ 430089 h 860318"/>
                    <a:gd name="connsiteX3" fmla="*/ 430079 w 860318"/>
                    <a:gd name="connsiteY3" fmla="*/ -70 h 860318"/>
                    <a:gd name="connsiteX4" fmla="*/ 860238 w 860318"/>
                    <a:gd name="connsiteY4" fmla="*/ 430089 h 860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0318" h="860318">
                      <a:moveTo>
                        <a:pt x="860238" y="430089"/>
                      </a:moveTo>
                      <a:cubicBezTo>
                        <a:pt x="860238" y="667660"/>
                        <a:pt x="667649" y="860249"/>
                        <a:pt x="430079" y="860249"/>
                      </a:cubicBezTo>
                      <a:cubicBezTo>
                        <a:pt x="192508" y="860249"/>
                        <a:pt x="-81" y="667660"/>
                        <a:pt x="-81" y="430089"/>
                      </a:cubicBezTo>
                      <a:cubicBezTo>
                        <a:pt x="-81" y="192519"/>
                        <a:pt x="192508" y="-70"/>
                        <a:pt x="430079" y="-70"/>
                      </a:cubicBezTo>
                      <a:cubicBezTo>
                        <a:pt x="667649" y="-70"/>
                        <a:pt x="860238" y="192519"/>
                        <a:pt x="860238" y="43008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9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dirty="0"/>
                </a:p>
              </p:txBody>
            </p: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D845017-AB5C-56D4-752A-214B370EE08F}"/>
                  </a:ext>
                </a:extLst>
              </p:cNvPr>
              <p:cNvSpPr txBox="1"/>
              <p:nvPr/>
            </p:nvSpPr>
            <p:spPr>
              <a:xfrm>
                <a:off x="9401549" y="1790590"/>
                <a:ext cx="1757459" cy="2277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600" b="1" dirty="0">
                    <a:solidFill>
                      <a:srgbClr val="FF0000"/>
                    </a:solidFill>
                  </a:rPr>
                  <a:t>Partnership Commission:</a:t>
                </a:r>
              </a:p>
              <a:p>
                <a:pPr algn="ctr">
                  <a:spcAft>
                    <a:spcPts val="600"/>
                  </a:spcAft>
                </a:pPr>
                <a:endParaRPr lang="en-US" sz="1600" b="1" dirty="0">
                  <a:solidFill>
                    <a:srgbClr val="FF0000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sz="1400" dirty="0">
                    <a:solidFill>
                      <a:schemeClr val="bg2"/>
                    </a:solidFill>
                    <a:latin typeface="Bahnschrift" panose="020B0502040204020203" pitchFamily="34" charset="0"/>
                  </a:rPr>
                  <a:t>BEARITT earns a percentage of gym payouts based on coin usage.</a:t>
                </a:r>
                <a:endParaRPr lang="en-IN" sz="1400" b="1" i="0" dirty="0">
                  <a:solidFill>
                    <a:schemeClr val="bg2"/>
                  </a:solidFill>
                  <a:effectLst/>
                  <a:latin typeface="Bahnschrift" panose="020B0502040204020203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EA8B9B9-9591-FAF0-4A02-02D3D333E186}"/>
                  </a:ext>
                </a:extLst>
              </p:cNvPr>
              <p:cNvSpPr txBox="1"/>
              <p:nvPr/>
            </p:nvSpPr>
            <p:spPr>
              <a:xfrm>
                <a:off x="10008352" y="5688353"/>
                <a:ext cx="5004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04</a:t>
                </a:r>
                <a:endParaRPr lang="en-IN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433C33-B151-4FA4-1723-E9A3180E488A}"/>
              </a:ext>
            </a:extLst>
          </p:cNvPr>
          <p:cNvGrpSpPr/>
          <p:nvPr/>
        </p:nvGrpSpPr>
        <p:grpSpPr>
          <a:xfrm>
            <a:off x="10114431" y="1583434"/>
            <a:ext cx="1675539" cy="4383865"/>
            <a:chOff x="9984418" y="1943084"/>
            <a:chExt cx="1675539" cy="4022699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CF9A1896-A746-55E1-F695-AADF6C2DF655}"/>
                </a:ext>
              </a:extLst>
            </p:cNvPr>
            <p:cNvSpPr/>
            <p:nvPr/>
          </p:nvSpPr>
          <p:spPr>
            <a:xfrm>
              <a:off x="10052979" y="2838846"/>
              <a:ext cx="1538420" cy="3126937"/>
            </a:xfrm>
            <a:custGeom>
              <a:avLst/>
              <a:gdLst>
                <a:gd name="connsiteX0" fmla="*/ 1214013 w 1214093"/>
                <a:gd name="connsiteY0" fmla="*/ 781171 h 2518318"/>
                <a:gd name="connsiteX1" fmla="*/ 1214013 w 1214093"/>
                <a:gd name="connsiteY1" fmla="*/ 759158 h 2518318"/>
                <a:gd name="connsiteX2" fmla="*/ 1214013 w 1214093"/>
                <a:gd name="connsiteY2" fmla="*/ -70 h 2518318"/>
                <a:gd name="connsiteX3" fmla="*/ -52 w 1214093"/>
                <a:gd name="connsiteY3" fmla="*/ -70 h 2518318"/>
                <a:gd name="connsiteX4" fmla="*/ -52 w 1214093"/>
                <a:gd name="connsiteY4" fmla="*/ 759158 h 2518318"/>
                <a:gd name="connsiteX5" fmla="*/ -52 w 1214093"/>
                <a:gd name="connsiteY5" fmla="*/ 781171 h 2518318"/>
                <a:gd name="connsiteX6" fmla="*/ -52 w 1214093"/>
                <a:gd name="connsiteY6" fmla="*/ 803043 h 2518318"/>
                <a:gd name="connsiteX7" fmla="*/ -52 w 1214093"/>
                <a:gd name="connsiteY7" fmla="*/ 2075575 h 2518318"/>
                <a:gd name="connsiteX8" fmla="*/ 131324 w 1214093"/>
                <a:gd name="connsiteY8" fmla="*/ 2300890 h 2518318"/>
                <a:gd name="connsiteX9" fmla="*/ 501754 w 1214093"/>
                <a:gd name="connsiteY9" fmla="*/ 2493536 h 2518318"/>
                <a:gd name="connsiteX10" fmla="*/ 703654 w 1214093"/>
                <a:gd name="connsiteY10" fmla="*/ 2493536 h 2518318"/>
                <a:gd name="connsiteX11" fmla="*/ 1080955 w 1214093"/>
                <a:gd name="connsiteY11" fmla="*/ 2299908 h 2518318"/>
                <a:gd name="connsiteX12" fmla="*/ 1213452 w 1214093"/>
                <a:gd name="connsiteY12" fmla="*/ 2074173 h 2518318"/>
                <a:gd name="connsiteX13" fmla="*/ 1213452 w 1214093"/>
                <a:gd name="connsiteY13" fmla="*/ 802483 h 2518318"/>
                <a:gd name="connsiteX14" fmla="*/ 1214013 w 1214093"/>
                <a:gd name="connsiteY14" fmla="*/ 781171 h 251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4093" h="2518318">
                  <a:moveTo>
                    <a:pt x="1214013" y="781171"/>
                  </a:moveTo>
                  <a:cubicBezTo>
                    <a:pt x="1214013" y="773740"/>
                    <a:pt x="1214013" y="767150"/>
                    <a:pt x="1214013" y="759158"/>
                  </a:cubicBezTo>
                  <a:lnTo>
                    <a:pt x="1214013" y="-70"/>
                  </a:lnTo>
                  <a:lnTo>
                    <a:pt x="-52" y="-70"/>
                  </a:lnTo>
                  <a:lnTo>
                    <a:pt x="-52" y="759158"/>
                  </a:lnTo>
                  <a:cubicBezTo>
                    <a:pt x="-52" y="766449"/>
                    <a:pt x="-52" y="773179"/>
                    <a:pt x="-52" y="781171"/>
                  </a:cubicBezTo>
                  <a:cubicBezTo>
                    <a:pt x="-52" y="789163"/>
                    <a:pt x="-52" y="795192"/>
                    <a:pt x="-52" y="803043"/>
                  </a:cubicBezTo>
                  <a:lnTo>
                    <a:pt x="-52" y="2075575"/>
                  </a:lnTo>
                  <a:cubicBezTo>
                    <a:pt x="-1470" y="2169248"/>
                    <a:pt x="49110" y="2255981"/>
                    <a:pt x="131324" y="2300890"/>
                  </a:cubicBezTo>
                  <a:lnTo>
                    <a:pt x="501754" y="2493536"/>
                  </a:lnTo>
                  <a:cubicBezTo>
                    <a:pt x="565016" y="2526485"/>
                    <a:pt x="640392" y="2526485"/>
                    <a:pt x="703654" y="2493536"/>
                  </a:cubicBezTo>
                  <a:lnTo>
                    <a:pt x="1080955" y="2299908"/>
                  </a:lnTo>
                  <a:cubicBezTo>
                    <a:pt x="1163734" y="2255238"/>
                    <a:pt x="1214812" y="2168225"/>
                    <a:pt x="1213452" y="2074173"/>
                  </a:cubicBezTo>
                  <a:lnTo>
                    <a:pt x="1213452" y="802483"/>
                  </a:lnTo>
                  <a:cubicBezTo>
                    <a:pt x="1213733" y="795753"/>
                    <a:pt x="1214013" y="788462"/>
                    <a:pt x="1214013" y="781171"/>
                  </a:cubicBezTo>
                  <a:close/>
                </a:path>
              </a:pathLst>
            </a:custGeom>
            <a:solidFill>
              <a:schemeClr val="accent3"/>
            </a:solidFill>
            <a:ln w="13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E1A2B67-5E99-B6A0-C0CB-A9CC4951B21D}"/>
                </a:ext>
              </a:extLst>
            </p:cNvPr>
            <p:cNvSpPr/>
            <p:nvPr/>
          </p:nvSpPr>
          <p:spPr>
            <a:xfrm>
              <a:off x="10178516" y="2946055"/>
              <a:ext cx="1287346" cy="2392915"/>
            </a:xfrm>
            <a:custGeom>
              <a:avLst/>
              <a:gdLst>
                <a:gd name="connsiteX0" fmla="*/ -81 w 1015950"/>
                <a:gd name="connsiteY0" fmla="*/ 1419119 h 1927164"/>
                <a:gd name="connsiteX1" fmla="*/ 507894 w 1015950"/>
                <a:gd name="connsiteY1" fmla="*/ 1927094 h 1927164"/>
                <a:gd name="connsiteX2" fmla="*/ 507894 w 1015950"/>
                <a:gd name="connsiteY2" fmla="*/ 1927094 h 1927164"/>
                <a:gd name="connsiteX3" fmla="*/ 1015870 w 1015950"/>
                <a:gd name="connsiteY3" fmla="*/ 1419119 h 1927164"/>
                <a:gd name="connsiteX4" fmla="*/ 1015870 w 1015950"/>
                <a:gd name="connsiteY4" fmla="*/ -70 h 1927164"/>
                <a:gd name="connsiteX5" fmla="*/ 942540 w 1015950"/>
                <a:gd name="connsiteY5" fmla="*/ 50545 h 1927164"/>
                <a:gd name="connsiteX6" fmla="*/ 677631 w 1015950"/>
                <a:gd name="connsiteY6" fmla="*/ 654927 h 1927164"/>
                <a:gd name="connsiteX7" fmla="*/ 73248 w 1015950"/>
                <a:gd name="connsiteY7" fmla="*/ 390018 h 1927164"/>
                <a:gd name="connsiteX8" fmla="*/ 73248 w 1015950"/>
                <a:gd name="connsiteY8" fmla="*/ 50545 h 1927164"/>
                <a:gd name="connsiteX9" fmla="*/ -81 w 1015950"/>
                <a:gd name="connsiteY9" fmla="*/ -70 h 1927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5950" h="1927164">
                  <a:moveTo>
                    <a:pt x="-81" y="1419119"/>
                  </a:moveTo>
                  <a:cubicBezTo>
                    <a:pt x="766" y="1699312"/>
                    <a:pt x="227702" y="1926253"/>
                    <a:pt x="507894" y="1927094"/>
                  </a:cubicBezTo>
                  <a:lnTo>
                    <a:pt x="507894" y="1927094"/>
                  </a:lnTo>
                  <a:cubicBezTo>
                    <a:pt x="788087" y="1926253"/>
                    <a:pt x="1015028" y="1699312"/>
                    <a:pt x="1015870" y="1419119"/>
                  </a:cubicBezTo>
                  <a:lnTo>
                    <a:pt x="1015870" y="-70"/>
                  </a:lnTo>
                  <a:cubicBezTo>
                    <a:pt x="992385" y="18143"/>
                    <a:pt x="967904" y="35052"/>
                    <a:pt x="942540" y="50545"/>
                  </a:cubicBezTo>
                  <a:cubicBezTo>
                    <a:pt x="1036284" y="290596"/>
                    <a:pt x="917682" y="561184"/>
                    <a:pt x="677631" y="654927"/>
                  </a:cubicBezTo>
                  <a:cubicBezTo>
                    <a:pt x="437580" y="748671"/>
                    <a:pt x="166992" y="630068"/>
                    <a:pt x="73248" y="390018"/>
                  </a:cubicBezTo>
                  <a:cubicBezTo>
                    <a:pt x="30625" y="280879"/>
                    <a:pt x="30625" y="159683"/>
                    <a:pt x="73248" y="50545"/>
                  </a:cubicBezTo>
                  <a:cubicBezTo>
                    <a:pt x="47885" y="35052"/>
                    <a:pt x="23404" y="18143"/>
                    <a:pt x="-81" y="-7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13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C4F339A-C880-AEA6-77CD-000F44B3043C}"/>
                </a:ext>
              </a:extLst>
            </p:cNvPr>
            <p:cNvSpPr/>
            <p:nvPr/>
          </p:nvSpPr>
          <p:spPr>
            <a:xfrm>
              <a:off x="9984418" y="1943084"/>
              <a:ext cx="1675539" cy="2970577"/>
            </a:xfrm>
            <a:custGeom>
              <a:avLst/>
              <a:gdLst>
                <a:gd name="connsiteX0" fmla="*/ -81 w 1322305"/>
                <a:gd name="connsiteY0" fmla="*/ 661152 h 2508188"/>
                <a:gd name="connsiteX1" fmla="*/ -81 w 1322305"/>
                <a:gd name="connsiteY1" fmla="*/ 2508118 h 2508188"/>
                <a:gd name="connsiteX2" fmla="*/ 1322225 w 1322305"/>
                <a:gd name="connsiteY2" fmla="*/ 2508118 h 2508188"/>
                <a:gd name="connsiteX3" fmla="*/ 1322225 w 1322305"/>
                <a:gd name="connsiteY3" fmla="*/ 661152 h 2508188"/>
                <a:gd name="connsiteX4" fmla="*/ 661002 w 1322305"/>
                <a:gd name="connsiteY4" fmla="*/ -70 h 2508188"/>
                <a:gd name="connsiteX5" fmla="*/ 661002 w 1322305"/>
                <a:gd name="connsiteY5" fmla="*/ -70 h 2508188"/>
                <a:gd name="connsiteX6" fmla="*/ -81 w 1322305"/>
                <a:gd name="connsiteY6" fmla="*/ 661152 h 250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2305" h="2508188">
                  <a:moveTo>
                    <a:pt x="-81" y="661152"/>
                  </a:moveTo>
                  <a:lnTo>
                    <a:pt x="-81" y="2508118"/>
                  </a:lnTo>
                  <a:cubicBezTo>
                    <a:pt x="389124" y="2206614"/>
                    <a:pt x="933020" y="2206614"/>
                    <a:pt x="1322225" y="2508118"/>
                  </a:cubicBezTo>
                  <a:lnTo>
                    <a:pt x="1322225" y="661152"/>
                  </a:lnTo>
                  <a:cubicBezTo>
                    <a:pt x="1321145" y="296417"/>
                    <a:pt x="1025740" y="1008"/>
                    <a:pt x="661002" y="-70"/>
                  </a:cubicBezTo>
                  <a:lnTo>
                    <a:pt x="661002" y="-70"/>
                  </a:lnTo>
                  <a:cubicBezTo>
                    <a:pt x="296292" y="1008"/>
                    <a:pt x="920" y="296440"/>
                    <a:pt x="-81" y="661152"/>
                  </a:cubicBezTo>
                  <a:close/>
                </a:path>
              </a:pathLst>
            </a:custGeom>
            <a:solidFill>
              <a:srgbClr val="FFFFFF"/>
            </a:solidFill>
            <a:ln w="13984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 dirty="0">
                <a:solidFill>
                  <a:schemeClr val="bg2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F2B2DE1-03A6-CB2A-7713-AC6AD9D82BA5}"/>
                </a:ext>
              </a:extLst>
            </p:cNvPr>
            <p:cNvSpPr/>
            <p:nvPr/>
          </p:nvSpPr>
          <p:spPr>
            <a:xfrm rot="16757401">
              <a:off x="10315060" y="4198474"/>
              <a:ext cx="993112" cy="1090139"/>
            </a:xfrm>
            <a:custGeom>
              <a:avLst/>
              <a:gdLst>
                <a:gd name="connsiteX0" fmla="*/ 860238 w 860318"/>
                <a:gd name="connsiteY0" fmla="*/ 430089 h 860318"/>
                <a:gd name="connsiteX1" fmla="*/ 430079 w 860318"/>
                <a:gd name="connsiteY1" fmla="*/ 860249 h 860318"/>
                <a:gd name="connsiteX2" fmla="*/ -81 w 860318"/>
                <a:gd name="connsiteY2" fmla="*/ 430089 h 860318"/>
                <a:gd name="connsiteX3" fmla="*/ 430079 w 860318"/>
                <a:gd name="connsiteY3" fmla="*/ -70 h 860318"/>
                <a:gd name="connsiteX4" fmla="*/ 860238 w 860318"/>
                <a:gd name="connsiteY4" fmla="*/ 430089 h 860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318" h="860318">
                  <a:moveTo>
                    <a:pt x="860238" y="430089"/>
                  </a:moveTo>
                  <a:cubicBezTo>
                    <a:pt x="860238" y="667660"/>
                    <a:pt x="667649" y="860249"/>
                    <a:pt x="430079" y="860249"/>
                  </a:cubicBezTo>
                  <a:cubicBezTo>
                    <a:pt x="192508" y="860249"/>
                    <a:pt x="-81" y="667660"/>
                    <a:pt x="-81" y="430089"/>
                  </a:cubicBezTo>
                  <a:cubicBezTo>
                    <a:pt x="-81" y="192519"/>
                    <a:pt x="192508" y="-70"/>
                    <a:pt x="430079" y="-70"/>
                  </a:cubicBezTo>
                  <a:cubicBezTo>
                    <a:pt x="667649" y="-70"/>
                    <a:pt x="860238" y="192519"/>
                    <a:pt x="860238" y="430089"/>
                  </a:cubicBezTo>
                  <a:close/>
                </a:path>
              </a:pathLst>
            </a:custGeom>
            <a:solidFill>
              <a:schemeClr val="accent3"/>
            </a:solidFill>
            <a:ln w="13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73E651A-FAFD-2379-AE0E-EF7BF6654D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856" y="4361496"/>
            <a:ext cx="476383" cy="476383"/>
          </a:xfrm>
          <a:prstGeom prst="rect">
            <a:avLst/>
          </a:prstGeom>
        </p:spPr>
      </p:pic>
      <p:pic>
        <p:nvPicPr>
          <p:cNvPr id="18" name="Picture 17" descr="A white icon with a black background&#10;&#10;AI-generated content may be incorrect.">
            <a:extLst>
              <a:ext uri="{FF2B5EF4-FFF2-40B4-BE49-F238E27FC236}">
                <a16:creationId xmlns:a16="http://schemas.microsoft.com/office/drawing/2014/main" id="{978017A2-3FCE-A3AD-933F-58DF43594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560" y="4414366"/>
            <a:ext cx="527254" cy="527254"/>
          </a:xfrm>
          <a:prstGeom prst="rect">
            <a:avLst/>
          </a:prstGeom>
        </p:spPr>
      </p:pic>
      <p:pic>
        <p:nvPicPr>
          <p:cNvPr id="20" name="Picture 19" descr="A white handshake in a black background&#10;&#10;AI-generated content may be incorrect.">
            <a:extLst>
              <a:ext uri="{FF2B5EF4-FFF2-40B4-BE49-F238E27FC236}">
                <a16:creationId xmlns:a16="http://schemas.microsoft.com/office/drawing/2014/main" id="{CDDBBCC4-20B2-3287-5A3C-754E7F65D3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073" y="4391565"/>
            <a:ext cx="622700" cy="622700"/>
          </a:xfrm>
          <a:prstGeom prst="rect">
            <a:avLst/>
          </a:prstGeom>
        </p:spPr>
      </p:pic>
      <p:pic>
        <p:nvPicPr>
          <p:cNvPr id="21" name="Picture 20" descr="A group of people with their arms raised&#10;&#10;AI-generated content may be incorrect.">
            <a:extLst>
              <a:ext uri="{FF2B5EF4-FFF2-40B4-BE49-F238E27FC236}">
                <a16:creationId xmlns:a16="http://schemas.microsoft.com/office/drawing/2014/main" id="{D1E2914D-D584-48A1-2811-F18CFCA0C4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794" y="4319631"/>
            <a:ext cx="644431" cy="64443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45FC58D-FF2E-7684-644D-BDCF9A245A8B}"/>
              </a:ext>
            </a:extLst>
          </p:cNvPr>
          <p:cNvSpPr txBox="1"/>
          <p:nvPr/>
        </p:nvSpPr>
        <p:spPr>
          <a:xfrm>
            <a:off x="3039138" y="1840927"/>
            <a:ext cx="15958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In-App Purchases: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chemeClr val="bg2"/>
                </a:solidFill>
                <a:latin typeface="Bahnschrift" panose="020B0502040204020203" pitchFamily="34" charset="0"/>
              </a:rPr>
              <a:t>Generate revenue through personalized diet plans, workout guides, and fitness products</a:t>
            </a:r>
            <a:endParaRPr lang="en-IN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80EE71-3DB7-EA57-18C0-B3E0AEA3873B}"/>
              </a:ext>
            </a:extLst>
          </p:cNvPr>
          <p:cNvSpPr txBox="1"/>
          <p:nvPr/>
        </p:nvSpPr>
        <p:spPr>
          <a:xfrm>
            <a:off x="10114431" y="1881948"/>
            <a:ext cx="16755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Community Challenges:</a:t>
            </a:r>
          </a:p>
          <a:p>
            <a:pPr algn="ctr"/>
            <a:endParaRPr lang="en-US" sz="1400" b="1" dirty="0">
              <a:solidFill>
                <a:srgbClr val="FF0000"/>
              </a:solidFill>
            </a:endParaRPr>
          </a:p>
          <a:p>
            <a:pPr algn="ctr"/>
            <a:endParaRPr lang="en-US" sz="1400" b="1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chemeClr val="bg2"/>
                </a:solidFill>
                <a:latin typeface="Bahnschrift" panose="020B0502040204020203" pitchFamily="34" charset="0"/>
              </a:rPr>
              <a:t>Sponsored events and branded fitness campaigns can add revenue streams.</a:t>
            </a:r>
            <a:endParaRPr lang="en-IN" sz="1400" dirty="0">
              <a:solidFill>
                <a:schemeClr val="bg2"/>
              </a:solidFill>
              <a:latin typeface="Bahnschrift" panose="020B0502040204020203" pitchFamily="34" charset="0"/>
            </a:endParaRPr>
          </a:p>
        </p:txBody>
      </p:sp>
      <p:pic>
        <p:nvPicPr>
          <p:cNvPr id="27" name="Picture 26" descr="A white hand holding a ball&#10;&#10;AI-generated content may be incorrect.">
            <a:extLst>
              <a:ext uri="{FF2B5EF4-FFF2-40B4-BE49-F238E27FC236}">
                <a16:creationId xmlns:a16="http://schemas.microsoft.com/office/drawing/2014/main" id="{3FB8FB3E-97FD-1F1F-827A-437EFB018F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66" y="4365940"/>
            <a:ext cx="611857" cy="61185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8C18491-347A-3E59-9204-698CD728D3C7}"/>
              </a:ext>
            </a:extLst>
          </p:cNvPr>
          <p:cNvSpPr txBox="1"/>
          <p:nvPr/>
        </p:nvSpPr>
        <p:spPr>
          <a:xfrm>
            <a:off x="10720662" y="5406489"/>
            <a:ext cx="584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Montserrat" panose="00000500000000000000" pitchFamily="2" charset="0"/>
              </a:rPr>
              <a:t>05</a:t>
            </a:r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07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44AA-1826-A60A-09BD-7BA2C73A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38" y="2673753"/>
            <a:ext cx="11211046" cy="1704372"/>
          </a:xfrm>
        </p:spPr>
        <p:txBody>
          <a:bodyPr/>
          <a:lstStyle/>
          <a:p>
            <a:r>
              <a:rPr lang="en-IN" sz="6000" b="1" dirty="0">
                <a:solidFill>
                  <a:schemeClr val="bg1"/>
                </a:solidFill>
                <a:latin typeface="Agency FB" panose="020B0503020202020204" pitchFamily="34" charset="0"/>
              </a:rPr>
              <a:t>Financial Overview</a:t>
            </a:r>
          </a:p>
        </p:txBody>
      </p:sp>
    </p:spTree>
    <p:extLst>
      <p:ext uri="{BB962C8B-B14F-4D97-AF65-F5344CB8AC3E}">
        <p14:creationId xmlns:p14="http://schemas.microsoft.com/office/powerpoint/2010/main" val="1817246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F651-FB65-13FB-7B06-45D5B25B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15959" y="2644335"/>
            <a:ext cx="10515600" cy="78466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CF1D3E3-A8AB-CDA8-3272-F1FF81BB5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859340"/>
            <a:ext cx="671732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Total Startup Costs: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₹3,00,000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ahnschrift" panose="020B0502040204020203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Expected Break-even Point: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6-9 months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with ra</a:t>
            </a:r>
            <a:r>
              <a:rPr lang="en-US" alt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pid revenue generation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1" dirty="0">
                <a:solidFill>
                  <a:schemeClr val="bg1"/>
                </a:solidFill>
                <a:latin typeface="Bahnschrift" panose="020B0502040204020203" pitchFamily="34" charset="0"/>
              </a:rPr>
              <a:t>Projected ROI for Investors:</a:t>
            </a:r>
            <a:r>
              <a:rPr lang="en-US" alt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2000" b="1" dirty="0">
                <a:solidFill>
                  <a:schemeClr val="bg1"/>
                </a:solidFill>
                <a:latin typeface="Bahnschrift" panose="020B0502040204020203" pitchFamily="34" charset="0"/>
              </a:rPr>
              <a:t>2.5x – 5x</a:t>
            </a:r>
            <a:r>
              <a:rPr lang="en-US" alt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return within 3 years.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4DFD42-37C0-A1A5-E5C5-E166DB9D5916}"/>
              </a:ext>
            </a:extLst>
          </p:cNvPr>
          <p:cNvCxnSpPr/>
          <p:nvPr/>
        </p:nvCxnSpPr>
        <p:spPr>
          <a:xfrm>
            <a:off x="3573782" y="1859340"/>
            <a:ext cx="0" cy="2286000"/>
          </a:xfrm>
          <a:prstGeom prst="lin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961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5E0D53A-4AB1-49F6-9A10-EB9D540A6B20}"/>
              </a:ext>
            </a:extLst>
          </p:cNvPr>
          <p:cNvSpPr txBox="1"/>
          <p:nvPr/>
        </p:nvSpPr>
        <p:spPr>
          <a:xfrm>
            <a:off x="17828" y="22352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Investment Presentation Template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455449-3FD0-4798-A05A-7E138425ECC7}"/>
              </a:ext>
            </a:extLst>
          </p:cNvPr>
          <p:cNvGrpSpPr/>
          <p:nvPr/>
        </p:nvGrpSpPr>
        <p:grpSpPr>
          <a:xfrm>
            <a:off x="733076" y="751848"/>
            <a:ext cx="9608249" cy="4912070"/>
            <a:chOff x="1347296" y="1121676"/>
            <a:chExt cx="9608249" cy="491207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A172193-DCE3-40CF-9C29-84382518DDEF}"/>
                </a:ext>
              </a:extLst>
            </p:cNvPr>
            <p:cNvSpPr txBox="1"/>
            <p:nvPr/>
          </p:nvSpPr>
          <p:spPr>
            <a:xfrm>
              <a:off x="8376240" y="1121676"/>
              <a:ext cx="2579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rPr>
                <a:t>, sed do eiusmod.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E30962-D1E2-4A08-BFC5-4E60D73956F1}"/>
                </a:ext>
              </a:extLst>
            </p:cNvPr>
            <p:cNvSpPr txBox="1"/>
            <p:nvPr/>
          </p:nvSpPr>
          <p:spPr>
            <a:xfrm>
              <a:off x="8375814" y="2645441"/>
              <a:ext cx="2579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rPr>
                <a:t>, sed do eiusmod.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9ADEDEA-A5FC-4B1F-953F-3DDC973C45CC}"/>
                </a:ext>
              </a:extLst>
            </p:cNvPr>
            <p:cNvSpPr txBox="1"/>
            <p:nvPr/>
          </p:nvSpPr>
          <p:spPr>
            <a:xfrm>
              <a:off x="8375814" y="5692115"/>
              <a:ext cx="2579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rPr>
                <a:t>g elit, sed do eius</a:t>
              </a: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3B02B16-08B3-4D0B-9B95-7B765376F16F}"/>
                </a:ext>
              </a:extLst>
            </p:cNvPr>
            <p:cNvGrpSpPr/>
            <p:nvPr/>
          </p:nvGrpSpPr>
          <p:grpSpPr>
            <a:xfrm>
              <a:off x="1347296" y="1952080"/>
              <a:ext cx="3530940" cy="3530934"/>
              <a:chOff x="9706033" y="3904554"/>
              <a:chExt cx="1220583" cy="1220583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00EE2FE5-EB3E-486B-BEF8-E00EE785A237}"/>
                  </a:ext>
                </a:extLst>
              </p:cNvPr>
              <p:cNvSpPr/>
              <p:nvPr/>
            </p:nvSpPr>
            <p:spPr>
              <a:xfrm>
                <a:off x="9706033" y="3904554"/>
                <a:ext cx="1220583" cy="12205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B5813D8B-D7C1-4E73-ADE1-786BAD064B4A}"/>
                  </a:ext>
                </a:extLst>
              </p:cNvPr>
              <p:cNvSpPr/>
              <p:nvPr/>
            </p:nvSpPr>
            <p:spPr>
              <a:xfrm>
                <a:off x="9772328" y="3970849"/>
                <a:ext cx="1087995" cy="108799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5495E9E-05A5-45E7-BECF-0133CC3DAFEA}"/>
                </a:ext>
              </a:extLst>
            </p:cNvPr>
            <p:cNvGrpSpPr/>
            <p:nvPr/>
          </p:nvGrpSpPr>
          <p:grpSpPr>
            <a:xfrm>
              <a:off x="2156482" y="2322083"/>
              <a:ext cx="1911100" cy="1819390"/>
              <a:chOff x="2421869" y="1888992"/>
              <a:chExt cx="1911100" cy="1819390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480D95-6F67-40D5-A4CB-7F6B7368A422}"/>
                  </a:ext>
                </a:extLst>
              </p:cNvPr>
              <p:cNvSpPr txBox="1"/>
              <p:nvPr/>
            </p:nvSpPr>
            <p:spPr>
              <a:xfrm>
                <a:off x="2421869" y="2754275"/>
                <a:ext cx="1911100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Georgia" panose="02040502050405020303" pitchFamily="18" charset="0"/>
                    <a:cs typeface="Arial" panose="020B0604020202020204" pitchFamily="34" charset="0"/>
                  </a:rPr>
                  <a:t>Investing</a:t>
                </a:r>
              </a:p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Georgia" panose="02040502050405020303" pitchFamily="18" charset="0"/>
                    <a:cs typeface="Arial" panose="020B0604020202020204" pitchFamily="34" charset="0"/>
                  </a:rPr>
                  <a:t>Strategy</a:t>
                </a:r>
              </a:p>
            </p:txBody>
          </p:sp>
          <p:pic>
            <p:nvPicPr>
              <p:cNvPr id="1026" name="Picture 2" descr="Investment Strategy Icons - Download Free Vector Icons | Noun Project">
                <a:extLst>
                  <a:ext uri="{FF2B5EF4-FFF2-40B4-BE49-F238E27FC236}">
                    <a16:creationId xmlns:a16="http://schemas.microsoft.com/office/drawing/2014/main" id="{8AAF9937-0B86-459E-A34A-307B803C0B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3467" y="1888992"/>
                <a:ext cx="807905" cy="8079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90" name="Connector: Elbow 89">
              <a:extLst>
                <a:ext uri="{FF2B5EF4-FFF2-40B4-BE49-F238E27FC236}">
                  <a16:creationId xmlns:a16="http://schemas.microsoft.com/office/drawing/2014/main" id="{C08A2321-1D73-44D7-BED7-52A09545FD9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969667" y="-394324"/>
              <a:ext cx="488772" cy="4204037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2B3878F8-67D4-4EE2-8066-78AF97889E7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938687" y="3656361"/>
              <a:ext cx="550733" cy="4204037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6CB93226-AB24-4896-B976-ADD6CF9BA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7505" y="2987072"/>
              <a:ext cx="2438567" cy="730475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: Elbow 97">
              <a:extLst>
                <a:ext uri="{FF2B5EF4-FFF2-40B4-BE49-F238E27FC236}">
                  <a16:creationId xmlns:a16="http://schemas.microsoft.com/office/drawing/2014/main" id="{A3599FBB-27BE-46F9-A222-401854C53196}"/>
                </a:ext>
              </a:extLst>
            </p:cNvPr>
            <p:cNvCxnSpPr>
              <a:cxnSpLocks/>
            </p:cNvCxnSpPr>
            <p:nvPr/>
          </p:nvCxnSpPr>
          <p:spPr>
            <a:xfrm>
              <a:off x="4877505" y="3717547"/>
              <a:ext cx="2438567" cy="792863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E9AFA53-F40B-2A0D-BF72-4D8FF4657E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744" y="850003"/>
            <a:ext cx="589280" cy="589280"/>
          </a:xfrm>
          <a:prstGeom prst="rect">
            <a:avLst/>
          </a:prstGeom>
        </p:spPr>
      </p:pic>
      <p:pic>
        <p:nvPicPr>
          <p:cNvPr id="4098" name="Picture 2" descr="Megaphone ">
            <a:extLst>
              <a:ext uri="{FF2B5EF4-FFF2-40B4-BE49-F238E27FC236}">
                <a16:creationId xmlns:a16="http://schemas.microsoft.com/office/drawing/2014/main" id="{BFD5FE37-9143-7A9A-E3B5-DE6D76987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424" y="223242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ile ">
            <a:extLst>
              <a:ext uri="{FF2B5EF4-FFF2-40B4-BE49-F238E27FC236}">
                <a16:creationId xmlns:a16="http://schemas.microsoft.com/office/drawing/2014/main" id="{C4BEF083-90F2-49B1-4363-553A88B9F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744" y="374415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Building ">
            <a:extLst>
              <a:ext uri="{FF2B5EF4-FFF2-40B4-BE49-F238E27FC236}">
                <a16:creationId xmlns:a16="http://schemas.microsoft.com/office/drawing/2014/main" id="{990358B5-0102-A4C5-B331-0547AAB42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424" y="5279097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42B63E-02BF-2412-E2FC-D5F329A956F1}"/>
              </a:ext>
            </a:extLst>
          </p:cNvPr>
          <p:cNvSpPr txBox="1"/>
          <p:nvPr/>
        </p:nvSpPr>
        <p:spPr>
          <a:xfrm>
            <a:off x="7422916" y="967291"/>
            <a:ext cx="5012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  <a:t>MVP App &amp; Website Development: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 ₹1,20,000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86517-0AD3-35DA-C9C3-5A77B1163A8F}"/>
              </a:ext>
            </a:extLst>
          </p:cNvPr>
          <p:cNvSpPr txBox="1"/>
          <p:nvPr/>
        </p:nvSpPr>
        <p:spPr>
          <a:xfrm>
            <a:off x="7422916" y="2379713"/>
            <a:ext cx="6215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Marketing &amp; Branding:</a:t>
            </a: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 ₹75,000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EDE860-724E-AA28-4E71-188F18C67520}"/>
              </a:ext>
            </a:extLst>
          </p:cNvPr>
          <p:cNvSpPr txBox="1"/>
          <p:nvPr/>
        </p:nvSpPr>
        <p:spPr>
          <a:xfrm>
            <a:off x="7541935" y="3936050"/>
            <a:ext cx="6215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Legal &amp; Compliance:</a:t>
            </a: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 ₹25,000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11F183-4EAC-89A4-F6C2-8F3432CEC8D2}"/>
              </a:ext>
            </a:extLst>
          </p:cNvPr>
          <p:cNvSpPr txBox="1"/>
          <p:nvPr/>
        </p:nvSpPr>
        <p:spPr>
          <a:xfrm>
            <a:off x="7422916" y="5388551"/>
            <a:ext cx="6881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Operational Expenses:</a:t>
            </a: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 ₹80,000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FC3204-72A6-B4D6-0657-BCF520B6787D}"/>
              </a:ext>
            </a:extLst>
          </p:cNvPr>
          <p:cNvSpPr txBox="1"/>
          <p:nvPr/>
        </p:nvSpPr>
        <p:spPr>
          <a:xfrm>
            <a:off x="1046931" y="3849513"/>
            <a:ext cx="29017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b="1" dirty="0">
                <a:solidFill>
                  <a:srgbClr val="FF0000"/>
                </a:solidFill>
              </a:rPr>
              <a:t>Total Investment Required:</a:t>
            </a:r>
            <a:r>
              <a:rPr lang="en-IN" sz="1600" dirty="0">
                <a:solidFill>
                  <a:srgbClr val="FF0000"/>
                </a:solidFill>
              </a:rPr>
              <a:t> </a:t>
            </a:r>
            <a:r>
              <a:rPr lang="en-IN" sz="1600" b="1" dirty="0">
                <a:solidFill>
                  <a:srgbClr val="FF0000"/>
                </a:solidFill>
              </a:rPr>
              <a:t>₹3,00,000</a:t>
            </a:r>
            <a:endParaRPr lang="en-I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152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1A8034-D24C-B397-9A19-CE2C0D844B31}"/>
              </a:ext>
            </a:extLst>
          </p:cNvPr>
          <p:cNvGrpSpPr/>
          <p:nvPr/>
        </p:nvGrpSpPr>
        <p:grpSpPr>
          <a:xfrm>
            <a:off x="640478" y="693974"/>
            <a:ext cx="9608249" cy="4832049"/>
            <a:chOff x="1347296" y="1121676"/>
            <a:chExt cx="9608249" cy="483204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0FE786-5070-38EF-BCB3-9150D739AA88}"/>
                </a:ext>
              </a:extLst>
            </p:cNvPr>
            <p:cNvSpPr txBox="1"/>
            <p:nvPr/>
          </p:nvSpPr>
          <p:spPr>
            <a:xfrm>
              <a:off x="8376240" y="1121676"/>
              <a:ext cx="2579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rPr>
                <a:t>, sed do eiusmod.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4BCAD2-591A-D9DC-DFC5-1B6092BF3ED3}"/>
                </a:ext>
              </a:extLst>
            </p:cNvPr>
            <p:cNvSpPr txBox="1"/>
            <p:nvPr/>
          </p:nvSpPr>
          <p:spPr>
            <a:xfrm>
              <a:off x="8375814" y="2645441"/>
              <a:ext cx="2579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rPr>
                <a:t>, sed do eiusmod.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FE7FA6-B85F-39BC-BF54-E71941A14CE6}"/>
                </a:ext>
              </a:extLst>
            </p:cNvPr>
            <p:cNvSpPr txBox="1"/>
            <p:nvPr/>
          </p:nvSpPr>
          <p:spPr>
            <a:xfrm>
              <a:off x="8375814" y="5692115"/>
              <a:ext cx="2579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rPr>
                <a:t>g elit, sed do eius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A2024D4-B639-1820-1D33-8314ED41ED61}"/>
                </a:ext>
              </a:extLst>
            </p:cNvPr>
            <p:cNvGrpSpPr/>
            <p:nvPr/>
          </p:nvGrpSpPr>
          <p:grpSpPr>
            <a:xfrm>
              <a:off x="1347296" y="1952080"/>
              <a:ext cx="3530940" cy="3530934"/>
              <a:chOff x="9706033" y="3904554"/>
              <a:chExt cx="1220583" cy="1220583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E2ACE56-92CE-AFD6-B42D-C33DC383201D}"/>
                  </a:ext>
                </a:extLst>
              </p:cNvPr>
              <p:cNvSpPr/>
              <p:nvPr/>
            </p:nvSpPr>
            <p:spPr>
              <a:xfrm>
                <a:off x="9706033" y="3904554"/>
                <a:ext cx="1220583" cy="1220583"/>
              </a:xfrm>
              <a:prstGeom prst="ellipse">
                <a:avLst/>
              </a:prstGeom>
              <a:ln w="136525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413F6A4-725E-37DD-B185-8A736B077820}"/>
                  </a:ext>
                </a:extLst>
              </p:cNvPr>
              <p:cNvSpPr/>
              <p:nvPr/>
            </p:nvSpPr>
            <p:spPr>
              <a:xfrm>
                <a:off x="9772328" y="3970849"/>
                <a:ext cx="1087995" cy="108799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2A3953-D637-D91A-33F8-F5E2B46D8358}"/>
                </a:ext>
              </a:extLst>
            </p:cNvPr>
            <p:cNvSpPr txBox="1"/>
            <p:nvPr/>
          </p:nvSpPr>
          <p:spPr>
            <a:xfrm>
              <a:off x="1539073" y="3240493"/>
              <a:ext cx="3147385" cy="954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Monthly &amp; Yearly Expenses </a:t>
              </a:r>
              <a:endParaRPr lang="en-US" sz="28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BD0680-169E-F6CC-A44D-0E2FD34C63AF}"/>
              </a:ext>
            </a:extLst>
          </p:cNvPr>
          <p:cNvSpPr txBox="1"/>
          <p:nvPr/>
        </p:nvSpPr>
        <p:spPr>
          <a:xfrm>
            <a:off x="5265672" y="4116535"/>
            <a:ext cx="42085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FF0000"/>
                </a:solidFill>
              </a:rPr>
              <a:t>Total Monthly Expenses: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b="1" dirty="0">
                <a:solidFill>
                  <a:srgbClr val="FF0000"/>
                </a:solidFill>
              </a:rPr>
              <a:t>₹92,500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FF0000"/>
                </a:solidFill>
              </a:rPr>
              <a:t>Total Yearly Expenses: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b="1" dirty="0">
                <a:solidFill>
                  <a:srgbClr val="FF0000"/>
                </a:solidFill>
              </a:rPr>
              <a:t>₹10,80,000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A81120-9840-E04D-DD53-638C0352C9E8}"/>
              </a:ext>
            </a:extLst>
          </p:cNvPr>
          <p:cNvSpPr txBox="1"/>
          <p:nvPr/>
        </p:nvSpPr>
        <p:spPr>
          <a:xfrm>
            <a:off x="5265672" y="1450330"/>
            <a:ext cx="60940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  <a:t>✅ Tech Costs (Servers, Maintenance): ₹15,000</a:t>
            </a:r>
          </a:p>
          <a:p>
            <a:b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  <a:t>✅ Marketing &amp; Ads: ₹30,000</a:t>
            </a:r>
          </a:p>
          <a:p>
            <a:b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  <a:t>✅ Operational Expenses: ₹40,000</a:t>
            </a:r>
          </a:p>
          <a:p>
            <a:b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  <a:t>✅ Legal &amp; Miscellaneous: ₹7,500</a:t>
            </a:r>
            <a:endParaRPr lang="en-IN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227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Output image">
            <a:extLst>
              <a:ext uri="{FF2B5EF4-FFF2-40B4-BE49-F238E27FC236}">
                <a16:creationId xmlns:a16="http://schemas.microsoft.com/office/drawing/2014/main" id="{61197AB8-D3D9-E5B7-441F-134DE1AEC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065" y="1401130"/>
            <a:ext cx="6065135" cy="422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1F9E5F-0E82-4A4A-A181-CEED60495C2D}"/>
              </a:ext>
            </a:extLst>
          </p:cNvPr>
          <p:cNvSpPr txBox="1"/>
          <p:nvPr/>
        </p:nvSpPr>
        <p:spPr>
          <a:xfrm>
            <a:off x="2529068" y="1918166"/>
            <a:ext cx="25117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₹60,000 – ₹1,20,000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1F4ADFA-E423-60D5-B3FD-070E5E9F63BA}"/>
              </a:ext>
            </a:extLst>
          </p:cNvPr>
          <p:cNvGrpSpPr/>
          <p:nvPr/>
        </p:nvGrpSpPr>
        <p:grpSpPr>
          <a:xfrm>
            <a:off x="304800" y="1716645"/>
            <a:ext cx="8318338" cy="4017157"/>
            <a:chOff x="304800" y="1527856"/>
            <a:chExt cx="8318338" cy="446861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33F9F2-421A-659E-7DB6-82F4BE31FCCF}"/>
                </a:ext>
              </a:extLst>
            </p:cNvPr>
            <p:cNvSpPr txBox="1"/>
            <p:nvPr/>
          </p:nvSpPr>
          <p:spPr>
            <a:xfrm>
              <a:off x="304800" y="1527856"/>
              <a:ext cx="29255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Gym Membership Subscriptions: </a:t>
              </a:r>
              <a:endParaRPr lang="en-IN" sz="1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3D9F17-6218-507F-75D5-E5E6C6845D79}"/>
                </a:ext>
              </a:extLst>
            </p:cNvPr>
            <p:cNvSpPr txBox="1"/>
            <p:nvPr/>
          </p:nvSpPr>
          <p:spPr>
            <a:xfrm>
              <a:off x="304800" y="2501511"/>
              <a:ext cx="6094070" cy="3766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Trainer Hiring Fees:         ₹25,000 – ₹60,000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6760C1-A757-0821-8527-6DCDE196BFC0}"/>
                </a:ext>
              </a:extLst>
            </p:cNvPr>
            <p:cNvSpPr txBox="1"/>
            <p:nvPr/>
          </p:nvSpPr>
          <p:spPr>
            <a:xfrm>
              <a:off x="304800" y="3336665"/>
              <a:ext cx="219533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Freelance Trainer CV Uploads</a:t>
              </a:r>
              <a:endParaRPr lang="en-IN" sz="1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B728FA-4DAF-2935-F5C1-507D0D06F68E}"/>
                </a:ext>
              </a:extLst>
            </p:cNvPr>
            <p:cNvSpPr txBox="1"/>
            <p:nvPr/>
          </p:nvSpPr>
          <p:spPr>
            <a:xfrm>
              <a:off x="2529068" y="3372234"/>
              <a:ext cx="60940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₹15,000 – ₹35,000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086F32-430D-62BC-870B-FFC6DC9864DA}"/>
                </a:ext>
              </a:extLst>
            </p:cNvPr>
            <p:cNvSpPr txBox="1"/>
            <p:nvPr/>
          </p:nvSpPr>
          <p:spPr>
            <a:xfrm>
              <a:off x="304800" y="4198831"/>
              <a:ext cx="256572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Advertisements &amp; Sponsorships: </a:t>
              </a:r>
              <a:endParaRPr lang="en-IN" sz="16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FF7A3A-0FD4-94AA-3799-602D75FDA87F}"/>
                </a:ext>
              </a:extLst>
            </p:cNvPr>
            <p:cNvSpPr txBox="1"/>
            <p:nvPr/>
          </p:nvSpPr>
          <p:spPr>
            <a:xfrm>
              <a:off x="2500132" y="4391184"/>
              <a:ext cx="60940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₹40,000 – ₹80,000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EE72F7-B247-DF9F-55EB-4238F2AA57E9}"/>
                </a:ext>
              </a:extLst>
            </p:cNvPr>
            <p:cNvSpPr txBox="1"/>
            <p:nvPr/>
          </p:nvSpPr>
          <p:spPr>
            <a:xfrm>
              <a:off x="304800" y="5165478"/>
              <a:ext cx="219533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Premium Features (Bootcamps, Nutrition): </a:t>
              </a:r>
              <a:endParaRPr lang="en-IN" sz="16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DD78E3-9AD1-7B8F-D3D0-A0D904AA1BCD}"/>
                </a:ext>
              </a:extLst>
            </p:cNvPr>
            <p:cNvSpPr txBox="1"/>
            <p:nvPr/>
          </p:nvSpPr>
          <p:spPr>
            <a:xfrm>
              <a:off x="2500132" y="5422628"/>
              <a:ext cx="60940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₹20,000 – ₹50,000</a:t>
              </a:r>
              <a:endParaRPr lang="en-IN" sz="1600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E266EE7-8329-4B1F-2B84-0D0863FDE201}"/>
              </a:ext>
            </a:extLst>
          </p:cNvPr>
          <p:cNvSpPr txBox="1"/>
          <p:nvPr/>
        </p:nvSpPr>
        <p:spPr>
          <a:xfrm>
            <a:off x="7086600" y="639347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Total Monthly Revenue: ₹1,60,000 – ₹3,45,000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CA6244-6117-402F-72FB-B46D06C388E1}"/>
              </a:ext>
            </a:extLst>
          </p:cNvPr>
          <p:cNvSpPr txBox="1"/>
          <p:nvPr/>
        </p:nvSpPr>
        <p:spPr>
          <a:xfrm>
            <a:off x="304800" y="285178"/>
            <a:ext cx="65917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Estimated Monthly Revenue</a:t>
            </a:r>
          </a:p>
        </p:txBody>
      </p:sp>
    </p:spTree>
    <p:extLst>
      <p:ext uri="{BB962C8B-B14F-4D97-AF65-F5344CB8AC3E}">
        <p14:creationId xmlns:p14="http://schemas.microsoft.com/office/powerpoint/2010/main" val="3667621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D47E8D-BC4C-B9EF-F24E-2D6FFB20B6DC}"/>
              </a:ext>
            </a:extLst>
          </p:cNvPr>
          <p:cNvSpPr txBox="1"/>
          <p:nvPr/>
        </p:nvSpPr>
        <p:spPr>
          <a:xfrm>
            <a:off x="3753092" y="480878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Tiered Pricing Structure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172D50-4AFB-4A91-BC0E-C26560A5B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54" y="2219477"/>
            <a:ext cx="585514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Tier 1 (Budget-Friendly):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₹500 – ₹1,500 (40%users)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Tier 2 (Mid-Range):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₹1,500 – ₹3,000 (35% users)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Tier 3 (Premium):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₹3,000 – ₹5,000+ (20% users)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Tier 4 (Luxury):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₹5,000+ (5% users) </a:t>
            </a:r>
          </a:p>
        </p:txBody>
      </p:sp>
      <p:pic>
        <p:nvPicPr>
          <p:cNvPr id="6147" name="Picture 3" descr="Output image">
            <a:extLst>
              <a:ext uri="{FF2B5EF4-FFF2-40B4-BE49-F238E27FC236}">
                <a16:creationId xmlns:a16="http://schemas.microsoft.com/office/drawing/2014/main" id="{9532E3AD-AE52-84D4-3659-04720D565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133" y="1770928"/>
            <a:ext cx="4528880" cy="417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874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A134C-B552-4726-98AA-70685C424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5706" y="743743"/>
            <a:ext cx="10515600" cy="78466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Agency FB" panose="020B0503020202020204" pitchFamily="34" charset="0"/>
              </a:rPr>
              <a:t>Driving Efficiency for Growth</a:t>
            </a:r>
            <a:endParaRPr lang="en-US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27B93D8-F203-4FBB-BED9-49ED0B7AFD27}"/>
              </a:ext>
            </a:extLst>
          </p:cNvPr>
          <p:cNvGrpSpPr/>
          <p:nvPr/>
        </p:nvGrpSpPr>
        <p:grpSpPr>
          <a:xfrm>
            <a:off x="7169202" y="1357276"/>
            <a:ext cx="4767852" cy="5500724"/>
            <a:chOff x="7556058" y="3453108"/>
            <a:chExt cx="8957210" cy="10334034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94206D13-DD1C-4789-9D8B-295A2C4E9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6025" y="636503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36B39B9D-E299-415C-8FAB-F569B1CA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6058" y="7305756"/>
              <a:ext cx="1421663" cy="1158107"/>
            </a:xfrm>
            <a:custGeom>
              <a:avLst/>
              <a:gdLst>
                <a:gd name="T0" fmla="*/ 280 w 280"/>
                <a:gd name="T1" fmla="*/ 27 h 228"/>
                <a:gd name="T2" fmla="*/ 247 w 280"/>
                <a:gd name="T3" fmla="*/ 36 h 228"/>
                <a:gd name="T4" fmla="*/ 272 w 280"/>
                <a:gd name="T5" fmla="*/ 5 h 228"/>
                <a:gd name="T6" fmla="*/ 236 w 280"/>
                <a:gd name="T7" fmla="*/ 19 h 228"/>
                <a:gd name="T8" fmla="*/ 194 w 280"/>
                <a:gd name="T9" fmla="*/ 0 h 228"/>
                <a:gd name="T10" fmla="*/ 136 w 280"/>
                <a:gd name="T11" fmla="*/ 58 h 228"/>
                <a:gd name="T12" fmla="*/ 138 w 280"/>
                <a:gd name="T13" fmla="*/ 71 h 228"/>
                <a:gd name="T14" fmla="*/ 19 w 280"/>
                <a:gd name="T15" fmla="*/ 11 h 228"/>
                <a:gd name="T16" fmla="*/ 12 w 280"/>
                <a:gd name="T17" fmla="*/ 40 h 228"/>
                <a:gd name="T18" fmla="*/ 37 w 280"/>
                <a:gd name="T19" fmla="*/ 88 h 228"/>
                <a:gd name="T20" fmla="*/ 11 w 280"/>
                <a:gd name="T21" fmla="*/ 80 h 228"/>
                <a:gd name="T22" fmla="*/ 11 w 280"/>
                <a:gd name="T23" fmla="*/ 81 h 228"/>
                <a:gd name="T24" fmla="*/ 57 w 280"/>
                <a:gd name="T25" fmla="*/ 138 h 228"/>
                <a:gd name="T26" fmla="*/ 42 w 280"/>
                <a:gd name="T27" fmla="*/ 140 h 228"/>
                <a:gd name="T28" fmla="*/ 31 w 280"/>
                <a:gd name="T29" fmla="*/ 139 h 228"/>
                <a:gd name="T30" fmla="*/ 85 w 280"/>
                <a:gd name="T31" fmla="*/ 178 h 228"/>
                <a:gd name="T32" fmla="*/ 14 w 280"/>
                <a:gd name="T33" fmla="*/ 203 h 228"/>
                <a:gd name="T34" fmla="*/ 0 w 280"/>
                <a:gd name="T35" fmla="*/ 202 h 228"/>
                <a:gd name="T36" fmla="*/ 88 w 280"/>
                <a:gd name="T37" fmla="*/ 228 h 228"/>
                <a:gd name="T38" fmla="*/ 251 w 280"/>
                <a:gd name="T39" fmla="*/ 65 h 228"/>
                <a:gd name="T40" fmla="*/ 251 w 280"/>
                <a:gd name="T41" fmla="*/ 57 h 228"/>
                <a:gd name="T42" fmla="*/ 280 w 280"/>
                <a:gd name="T43" fmla="*/ 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0" h="228">
                  <a:moveTo>
                    <a:pt x="280" y="27"/>
                  </a:moveTo>
                  <a:cubicBezTo>
                    <a:pt x="270" y="32"/>
                    <a:pt x="259" y="35"/>
                    <a:pt x="247" y="36"/>
                  </a:cubicBezTo>
                  <a:cubicBezTo>
                    <a:pt x="259" y="29"/>
                    <a:pt x="268" y="18"/>
                    <a:pt x="272" y="5"/>
                  </a:cubicBezTo>
                  <a:cubicBezTo>
                    <a:pt x="261" y="11"/>
                    <a:pt x="249" y="16"/>
                    <a:pt x="236" y="19"/>
                  </a:cubicBezTo>
                  <a:cubicBezTo>
                    <a:pt x="225" y="7"/>
                    <a:pt x="210" y="0"/>
                    <a:pt x="194" y="0"/>
                  </a:cubicBezTo>
                  <a:cubicBezTo>
                    <a:pt x="162" y="0"/>
                    <a:pt x="136" y="26"/>
                    <a:pt x="136" y="58"/>
                  </a:cubicBezTo>
                  <a:cubicBezTo>
                    <a:pt x="136" y="62"/>
                    <a:pt x="137" y="67"/>
                    <a:pt x="138" y="71"/>
                  </a:cubicBezTo>
                  <a:cubicBezTo>
                    <a:pt x="90" y="69"/>
                    <a:pt x="48" y="46"/>
                    <a:pt x="19" y="11"/>
                  </a:cubicBezTo>
                  <a:cubicBezTo>
                    <a:pt x="14" y="19"/>
                    <a:pt x="12" y="29"/>
                    <a:pt x="12" y="40"/>
                  </a:cubicBezTo>
                  <a:cubicBezTo>
                    <a:pt x="12" y="60"/>
                    <a:pt x="22" y="77"/>
                    <a:pt x="37" y="88"/>
                  </a:cubicBezTo>
                  <a:cubicBezTo>
                    <a:pt x="28" y="87"/>
                    <a:pt x="19" y="85"/>
                    <a:pt x="11" y="80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109"/>
                    <a:pt x="31" y="132"/>
                    <a:pt x="57" y="138"/>
                  </a:cubicBezTo>
                  <a:cubicBezTo>
                    <a:pt x="52" y="139"/>
                    <a:pt x="47" y="140"/>
                    <a:pt x="42" y="140"/>
                  </a:cubicBezTo>
                  <a:cubicBezTo>
                    <a:pt x="38" y="140"/>
                    <a:pt x="35" y="139"/>
                    <a:pt x="31" y="139"/>
                  </a:cubicBezTo>
                  <a:cubicBezTo>
                    <a:pt x="39" y="161"/>
                    <a:pt x="60" y="178"/>
                    <a:pt x="85" y="178"/>
                  </a:cubicBezTo>
                  <a:cubicBezTo>
                    <a:pt x="65" y="194"/>
                    <a:pt x="40" y="203"/>
                    <a:pt x="14" y="203"/>
                  </a:cubicBezTo>
                  <a:cubicBezTo>
                    <a:pt x="9" y="203"/>
                    <a:pt x="4" y="203"/>
                    <a:pt x="0" y="202"/>
                  </a:cubicBezTo>
                  <a:cubicBezTo>
                    <a:pt x="25" y="219"/>
                    <a:pt x="55" y="228"/>
                    <a:pt x="88" y="228"/>
                  </a:cubicBezTo>
                  <a:cubicBezTo>
                    <a:pt x="194" y="228"/>
                    <a:pt x="251" y="140"/>
                    <a:pt x="251" y="65"/>
                  </a:cubicBezTo>
                  <a:cubicBezTo>
                    <a:pt x="251" y="62"/>
                    <a:pt x="251" y="60"/>
                    <a:pt x="251" y="57"/>
                  </a:cubicBezTo>
                  <a:cubicBezTo>
                    <a:pt x="263" y="49"/>
                    <a:pt x="272" y="39"/>
                    <a:pt x="28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27" name="Freeform 37">
              <a:extLst>
                <a:ext uri="{FF2B5EF4-FFF2-40B4-BE49-F238E27FC236}">
                  <a16:creationId xmlns:a16="http://schemas.microsoft.com/office/drawing/2014/main" id="{099CD557-9D36-4722-B207-D97689A84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1253" y="7007893"/>
              <a:ext cx="3946093" cy="6779249"/>
            </a:xfrm>
            <a:custGeom>
              <a:avLst/>
              <a:gdLst>
                <a:gd name="T0" fmla="*/ 470 w 588"/>
                <a:gd name="T1" fmla="*/ 274 h 1010"/>
                <a:gd name="T2" fmla="*/ 543 w 588"/>
                <a:gd name="T3" fmla="*/ 164 h 1010"/>
                <a:gd name="T4" fmla="*/ 588 w 588"/>
                <a:gd name="T5" fmla="*/ 13 h 1010"/>
                <a:gd name="T6" fmla="*/ 580 w 588"/>
                <a:gd name="T7" fmla="*/ 9 h 1010"/>
                <a:gd name="T8" fmla="*/ 531 w 588"/>
                <a:gd name="T9" fmla="*/ 143 h 1010"/>
                <a:gd name="T10" fmla="*/ 456 w 588"/>
                <a:gd name="T11" fmla="*/ 237 h 1010"/>
                <a:gd name="T12" fmla="*/ 454 w 588"/>
                <a:gd name="T13" fmla="*/ 238 h 1010"/>
                <a:gd name="T14" fmla="*/ 310 w 588"/>
                <a:gd name="T15" fmla="*/ 0 h 1010"/>
                <a:gd name="T16" fmla="*/ 272 w 588"/>
                <a:gd name="T17" fmla="*/ 25 h 1010"/>
                <a:gd name="T18" fmla="*/ 401 w 588"/>
                <a:gd name="T19" fmla="*/ 434 h 1010"/>
                <a:gd name="T20" fmla="*/ 234 w 588"/>
                <a:gd name="T21" fmla="*/ 365 h 1010"/>
                <a:gd name="T22" fmla="*/ 106 w 588"/>
                <a:gd name="T23" fmla="*/ 257 h 1010"/>
                <a:gd name="T24" fmla="*/ 12 w 588"/>
                <a:gd name="T25" fmla="*/ 95 h 1010"/>
                <a:gd name="T26" fmla="*/ 0 w 588"/>
                <a:gd name="T27" fmla="*/ 101 h 1010"/>
                <a:gd name="T28" fmla="*/ 90 w 588"/>
                <a:gd name="T29" fmla="*/ 284 h 1010"/>
                <a:gd name="T30" fmla="*/ 218 w 588"/>
                <a:gd name="T31" fmla="*/ 413 h 1010"/>
                <a:gd name="T32" fmla="*/ 406 w 588"/>
                <a:gd name="T33" fmla="*/ 511 h 1010"/>
                <a:gd name="T34" fmla="*/ 331 w 588"/>
                <a:gd name="T35" fmla="*/ 1010 h 1010"/>
                <a:gd name="T36" fmla="*/ 557 w 588"/>
                <a:gd name="T37" fmla="*/ 1010 h 1010"/>
                <a:gd name="T38" fmla="*/ 546 w 588"/>
                <a:gd name="T39" fmla="*/ 509 h 1010"/>
                <a:gd name="T40" fmla="*/ 470 w 588"/>
                <a:gd name="T41" fmla="*/ 274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8" h="1010">
                  <a:moveTo>
                    <a:pt x="470" y="274"/>
                  </a:moveTo>
                  <a:cubicBezTo>
                    <a:pt x="498" y="243"/>
                    <a:pt x="523" y="207"/>
                    <a:pt x="543" y="164"/>
                  </a:cubicBezTo>
                  <a:cubicBezTo>
                    <a:pt x="564" y="120"/>
                    <a:pt x="581" y="71"/>
                    <a:pt x="588" y="13"/>
                  </a:cubicBezTo>
                  <a:cubicBezTo>
                    <a:pt x="580" y="9"/>
                    <a:pt x="580" y="9"/>
                    <a:pt x="580" y="9"/>
                  </a:cubicBezTo>
                  <a:cubicBezTo>
                    <a:pt x="571" y="60"/>
                    <a:pt x="552" y="106"/>
                    <a:pt x="531" y="143"/>
                  </a:cubicBezTo>
                  <a:cubicBezTo>
                    <a:pt x="509" y="181"/>
                    <a:pt x="483" y="212"/>
                    <a:pt x="456" y="237"/>
                  </a:cubicBezTo>
                  <a:cubicBezTo>
                    <a:pt x="455" y="238"/>
                    <a:pt x="455" y="238"/>
                    <a:pt x="454" y="238"/>
                  </a:cubicBezTo>
                  <a:cubicBezTo>
                    <a:pt x="415" y="153"/>
                    <a:pt x="366" y="73"/>
                    <a:pt x="310" y="0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346" y="158"/>
                    <a:pt x="386" y="295"/>
                    <a:pt x="401" y="434"/>
                  </a:cubicBezTo>
                  <a:cubicBezTo>
                    <a:pt x="344" y="419"/>
                    <a:pt x="287" y="397"/>
                    <a:pt x="234" y="365"/>
                  </a:cubicBezTo>
                  <a:cubicBezTo>
                    <a:pt x="188" y="337"/>
                    <a:pt x="145" y="301"/>
                    <a:pt x="106" y="257"/>
                  </a:cubicBezTo>
                  <a:cubicBezTo>
                    <a:pt x="68" y="212"/>
                    <a:pt x="32" y="157"/>
                    <a:pt x="12" y="9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18" y="172"/>
                    <a:pt x="52" y="232"/>
                    <a:pt x="90" y="284"/>
                  </a:cubicBezTo>
                  <a:cubicBezTo>
                    <a:pt x="128" y="335"/>
                    <a:pt x="172" y="378"/>
                    <a:pt x="218" y="413"/>
                  </a:cubicBezTo>
                  <a:cubicBezTo>
                    <a:pt x="278" y="457"/>
                    <a:pt x="341" y="489"/>
                    <a:pt x="406" y="511"/>
                  </a:cubicBezTo>
                  <a:cubicBezTo>
                    <a:pt x="412" y="679"/>
                    <a:pt x="383" y="847"/>
                    <a:pt x="331" y="1010"/>
                  </a:cubicBezTo>
                  <a:cubicBezTo>
                    <a:pt x="557" y="1010"/>
                    <a:pt x="557" y="1010"/>
                    <a:pt x="557" y="1010"/>
                  </a:cubicBezTo>
                  <a:cubicBezTo>
                    <a:pt x="583" y="820"/>
                    <a:pt x="587" y="695"/>
                    <a:pt x="546" y="509"/>
                  </a:cubicBezTo>
                  <a:cubicBezTo>
                    <a:pt x="528" y="428"/>
                    <a:pt x="503" y="349"/>
                    <a:pt x="470" y="27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091690E3-213F-4259-B906-859D38B0F1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14393" y="6022007"/>
              <a:ext cx="767366" cy="764825"/>
            </a:xfrm>
            <a:custGeom>
              <a:avLst/>
              <a:gdLst>
                <a:gd name="T0" fmla="*/ 106 w 114"/>
                <a:gd name="T1" fmla="*/ 0 h 114"/>
                <a:gd name="T2" fmla="*/ 8 w 114"/>
                <a:gd name="T3" fmla="*/ 0 h 114"/>
                <a:gd name="T4" fmla="*/ 0 w 114"/>
                <a:gd name="T5" fmla="*/ 8 h 114"/>
                <a:gd name="T6" fmla="*/ 0 w 114"/>
                <a:gd name="T7" fmla="*/ 106 h 114"/>
                <a:gd name="T8" fmla="*/ 8 w 114"/>
                <a:gd name="T9" fmla="*/ 114 h 114"/>
                <a:gd name="T10" fmla="*/ 106 w 114"/>
                <a:gd name="T11" fmla="*/ 114 h 114"/>
                <a:gd name="T12" fmla="*/ 114 w 114"/>
                <a:gd name="T13" fmla="*/ 106 h 114"/>
                <a:gd name="T14" fmla="*/ 114 w 114"/>
                <a:gd name="T15" fmla="*/ 8 h 114"/>
                <a:gd name="T16" fmla="*/ 106 w 114"/>
                <a:gd name="T17" fmla="*/ 0 h 114"/>
                <a:gd name="T18" fmla="*/ 35 w 114"/>
                <a:gd name="T19" fmla="*/ 96 h 114"/>
                <a:gd name="T20" fmla="*/ 17 w 114"/>
                <a:gd name="T21" fmla="*/ 96 h 114"/>
                <a:gd name="T22" fmla="*/ 17 w 114"/>
                <a:gd name="T23" fmla="*/ 44 h 114"/>
                <a:gd name="T24" fmla="*/ 35 w 114"/>
                <a:gd name="T25" fmla="*/ 44 h 114"/>
                <a:gd name="T26" fmla="*/ 35 w 114"/>
                <a:gd name="T27" fmla="*/ 96 h 114"/>
                <a:gd name="T28" fmla="*/ 26 w 114"/>
                <a:gd name="T29" fmla="*/ 37 h 114"/>
                <a:gd name="T30" fmla="*/ 26 w 114"/>
                <a:gd name="T31" fmla="*/ 37 h 114"/>
                <a:gd name="T32" fmla="*/ 16 w 114"/>
                <a:gd name="T33" fmla="*/ 28 h 114"/>
                <a:gd name="T34" fmla="*/ 26 w 114"/>
                <a:gd name="T35" fmla="*/ 19 h 114"/>
                <a:gd name="T36" fmla="*/ 36 w 114"/>
                <a:gd name="T37" fmla="*/ 28 h 114"/>
                <a:gd name="T38" fmla="*/ 26 w 114"/>
                <a:gd name="T39" fmla="*/ 37 h 114"/>
                <a:gd name="T40" fmla="*/ 97 w 114"/>
                <a:gd name="T41" fmla="*/ 96 h 114"/>
                <a:gd name="T42" fmla="*/ 80 w 114"/>
                <a:gd name="T43" fmla="*/ 96 h 114"/>
                <a:gd name="T44" fmla="*/ 80 w 114"/>
                <a:gd name="T45" fmla="*/ 68 h 114"/>
                <a:gd name="T46" fmla="*/ 71 w 114"/>
                <a:gd name="T47" fmla="*/ 56 h 114"/>
                <a:gd name="T48" fmla="*/ 62 w 114"/>
                <a:gd name="T49" fmla="*/ 63 h 114"/>
                <a:gd name="T50" fmla="*/ 61 w 114"/>
                <a:gd name="T51" fmla="*/ 67 h 114"/>
                <a:gd name="T52" fmla="*/ 61 w 114"/>
                <a:gd name="T53" fmla="*/ 96 h 114"/>
                <a:gd name="T54" fmla="*/ 44 w 114"/>
                <a:gd name="T55" fmla="*/ 96 h 114"/>
                <a:gd name="T56" fmla="*/ 44 w 114"/>
                <a:gd name="T57" fmla="*/ 44 h 114"/>
                <a:gd name="T58" fmla="*/ 61 w 114"/>
                <a:gd name="T59" fmla="*/ 44 h 114"/>
                <a:gd name="T60" fmla="*/ 61 w 114"/>
                <a:gd name="T61" fmla="*/ 51 h 114"/>
                <a:gd name="T62" fmla="*/ 77 w 114"/>
                <a:gd name="T63" fmla="*/ 43 h 114"/>
                <a:gd name="T64" fmla="*/ 97 w 114"/>
                <a:gd name="T65" fmla="*/ 66 h 114"/>
                <a:gd name="T66" fmla="*/ 97 w 114"/>
                <a:gd name="T67" fmla="*/ 9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4" h="114">
                  <a:moveTo>
                    <a:pt x="10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1"/>
                    <a:pt x="4" y="114"/>
                    <a:pt x="8" y="114"/>
                  </a:cubicBezTo>
                  <a:cubicBezTo>
                    <a:pt x="106" y="114"/>
                    <a:pt x="106" y="114"/>
                    <a:pt x="106" y="114"/>
                  </a:cubicBezTo>
                  <a:cubicBezTo>
                    <a:pt x="110" y="114"/>
                    <a:pt x="114" y="111"/>
                    <a:pt x="114" y="106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3"/>
                    <a:pt x="110" y="0"/>
                    <a:pt x="106" y="0"/>
                  </a:cubicBezTo>
                  <a:close/>
                  <a:moveTo>
                    <a:pt x="35" y="96"/>
                  </a:moveTo>
                  <a:cubicBezTo>
                    <a:pt x="17" y="96"/>
                    <a:pt x="17" y="96"/>
                    <a:pt x="17" y="96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35" y="44"/>
                    <a:pt x="35" y="44"/>
                    <a:pt x="35" y="44"/>
                  </a:cubicBezTo>
                  <a:lnTo>
                    <a:pt x="35" y="96"/>
                  </a:lnTo>
                  <a:close/>
                  <a:moveTo>
                    <a:pt x="26" y="37"/>
                  </a:moveTo>
                  <a:cubicBezTo>
                    <a:pt x="26" y="37"/>
                    <a:pt x="26" y="37"/>
                    <a:pt x="26" y="37"/>
                  </a:cubicBezTo>
                  <a:cubicBezTo>
                    <a:pt x="20" y="37"/>
                    <a:pt x="16" y="33"/>
                    <a:pt x="16" y="28"/>
                  </a:cubicBezTo>
                  <a:cubicBezTo>
                    <a:pt x="16" y="23"/>
                    <a:pt x="20" y="19"/>
                    <a:pt x="26" y="19"/>
                  </a:cubicBezTo>
                  <a:cubicBezTo>
                    <a:pt x="32" y="19"/>
                    <a:pt x="36" y="23"/>
                    <a:pt x="36" y="28"/>
                  </a:cubicBezTo>
                  <a:cubicBezTo>
                    <a:pt x="36" y="33"/>
                    <a:pt x="32" y="37"/>
                    <a:pt x="26" y="37"/>
                  </a:cubicBezTo>
                  <a:close/>
                  <a:moveTo>
                    <a:pt x="97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0" y="61"/>
                    <a:pt x="77" y="56"/>
                    <a:pt x="71" y="56"/>
                  </a:cubicBezTo>
                  <a:cubicBezTo>
                    <a:pt x="66" y="56"/>
                    <a:pt x="63" y="59"/>
                    <a:pt x="62" y="63"/>
                  </a:cubicBezTo>
                  <a:cubicBezTo>
                    <a:pt x="61" y="64"/>
                    <a:pt x="61" y="65"/>
                    <a:pt x="61" y="67"/>
                  </a:cubicBezTo>
                  <a:cubicBezTo>
                    <a:pt x="61" y="96"/>
                    <a:pt x="61" y="96"/>
                    <a:pt x="61" y="96"/>
                  </a:cubicBezTo>
                  <a:cubicBezTo>
                    <a:pt x="44" y="96"/>
                    <a:pt x="44" y="96"/>
                    <a:pt x="44" y="96"/>
                  </a:cubicBezTo>
                  <a:cubicBezTo>
                    <a:pt x="44" y="96"/>
                    <a:pt x="44" y="49"/>
                    <a:pt x="44" y="44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4" y="48"/>
                    <a:pt x="68" y="43"/>
                    <a:pt x="77" y="43"/>
                  </a:cubicBezTo>
                  <a:cubicBezTo>
                    <a:pt x="88" y="43"/>
                    <a:pt x="97" y="50"/>
                    <a:pt x="97" y="66"/>
                  </a:cubicBezTo>
                  <a:lnTo>
                    <a:pt x="97" y="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FC4C41-BB3F-4403-B7A9-1E48610FEFE1}"/>
                </a:ext>
              </a:extLst>
            </p:cNvPr>
            <p:cNvGrpSpPr/>
            <p:nvPr/>
          </p:nvGrpSpPr>
          <p:grpSpPr>
            <a:xfrm>
              <a:off x="13761963" y="9304918"/>
              <a:ext cx="1455970" cy="1455963"/>
              <a:chOff x="4127501" y="4194175"/>
              <a:chExt cx="909638" cy="909637"/>
            </a:xfrm>
            <a:solidFill>
              <a:schemeClr val="accent4"/>
            </a:solidFill>
          </p:grpSpPr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24DEB50-1EF3-43A1-8164-77BDE6A78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263" y="4659313"/>
                <a:ext cx="96838" cy="192087"/>
              </a:xfrm>
              <a:custGeom>
                <a:avLst/>
                <a:gdLst>
                  <a:gd name="T0" fmla="*/ 0 w 61"/>
                  <a:gd name="T1" fmla="*/ 18 h 121"/>
                  <a:gd name="T2" fmla="*/ 22 w 61"/>
                  <a:gd name="T3" fmla="*/ 18 h 121"/>
                  <a:gd name="T4" fmla="*/ 22 w 61"/>
                  <a:gd name="T5" fmla="*/ 121 h 121"/>
                  <a:gd name="T6" fmla="*/ 40 w 61"/>
                  <a:gd name="T7" fmla="*/ 121 h 121"/>
                  <a:gd name="T8" fmla="*/ 40 w 61"/>
                  <a:gd name="T9" fmla="*/ 18 h 121"/>
                  <a:gd name="T10" fmla="*/ 61 w 61"/>
                  <a:gd name="T11" fmla="*/ 18 h 121"/>
                  <a:gd name="T12" fmla="*/ 61 w 61"/>
                  <a:gd name="T13" fmla="*/ 0 h 121"/>
                  <a:gd name="T14" fmla="*/ 0 w 61"/>
                  <a:gd name="T15" fmla="*/ 0 h 121"/>
                  <a:gd name="T16" fmla="*/ 0 w 61"/>
                  <a:gd name="T17" fmla="*/ 18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" h="121">
                    <a:moveTo>
                      <a:pt x="0" y="18"/>
                    </a:moveTo>
                    <a:lnTo>
                      <a:pt x="22" y="18"/>
                    </a:lnTo>
                    <a:lnTo>
                      <a:pt x="22" y="121"/>
                    </a:lnTo>
                    <a:lnTo>
                      <a:pt x="40" y="121"/>
                    </a:lnTo>
                    <a:lnTo>
                      <a:pt x="40" y="18"/>
                    </a:lnTo>
                    <a:lnTo>
                      <a:pt x="61" y="18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551ACE45-8AD7-413F-9D34-1689A39C5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2001" y="4440238"/>
                <a:ext cx="25400" cy="109537"/>
              </a:xfrm>
              <a:custGeom>
                <a:avLst/>
                <a:gdLst>
                  <a:gd name="T0" fmla="*/ 3 w 6"/>
                  <a:gd name="T1" fmla="*/ 26 h 26"/>
                  <a:gd name="T2" fmla="*/ 5 w 6"/>
                  <a:gd name="T3" fmla="*/ 25 h 26"/>
                  <a:gd name="T4" fmla="*/ 6 w 6"/>
                  <a:gd name="T5" fmla="*/ 23 h 26"/>
                  <a:gd name="T6" fmla="*/ 6 w 6"/>
                  <a:gd name="T7" fmla="*/ 3 h 26"/>
                  <a:gd name="T8" fmla="*/ 5 w 6"/>
                  <a:gd name="T9" fmla="*/ 1 h 26"/>
                  <a:gd name="T10" fmla="*/ 3 w 6"/>
                  <a:gd name="T11" fmla="*/ 0 h 26"/>
                  <a:gd name="T12" fmla="*/ 0 w 6"/>
                  <a:gd name="T13" fmla="*/ 1 h 26"/>
                  <a:gd name="T14" fmla="*/ 0 w 6"/>
                  <a:gd name="T15" fmla="*/ 3 h 26"/>
                  <a:gd name="T16" fmla="*/ 0 w 6"/>
                  <a:gd name="T17" fmla="*/ 23 h 26"/>
                  <a:gd name="T18" fmla="*/ 0 w 6"/>
                  <a:gd name="T19" fmla="*/ 25 h 26"/>
                  <a:gd name="T20" fmla="*/ 3 w 6"/>
                  <a:gd name="T2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26">
                    <a:moveTo>
                      <a:pt x="3" y="26"/>
                    </a:moveTo>
                    <a:cubicBezTo>
                      <a:pt x="4" y="26"/>
                      <a:pt x="5" y="26"/>
                      <a:pt x="5" y="25"/>
                    </a:cubicBezTo>
                    <a:cubicBezTo>
                      <a:pt x="6" y="25"/>
                      <a:pt x="6" y="24"/>
                      <a:pt x="6" y="2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2"/>
                      <a:pt x="6" y="1"/>
                      <a:pt x="5" y="1"/>
                    </a:cubicBezTo>
                    <a:cubicBezTo>
                      <a:pt x="5" y="0"/>
                      <a:pt x="4" y="0"/>
                      <a:pt x="3" y="0"/>
                    </a:cubicBezTo>
                    <a:cubicBezTo>
                      <a:pt x="2" y="0"/>
                      <a:pt x="1" y="0"/>
                      <a:pt x="0" y="1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1" y="26"/>
                      <a:pt x="2" y="26"/>
                      <a:pt x="3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3C51FDC6-0EC7-4CBC-9665-725C683E03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0576" y="4659313"/>
                <a:ext cx="79375" cy="192087"/>
              </a:xfrm>
              <a:custGeom>
                <a:avLst/>
                <a:gdLst>
                  <a:gd name="T0" fmla="*/ 13 w 19"/>
                  <a:gd name="T1" fmla="*/ 12 h 46"/>
                  <a:gd name="T2" fmla="*/ 9 w 19"/>
                  <a:gd name="T3" fmla="*/ 12 h 46"/>
                  <a:gd name="T4" fmla="*/ 6 w 19"/>
                  <a:gd name="T5" fmla="*/ 15 h 46"/>
                  <a:gd name="T6" fmla="*/ 6 w 19"/>
                  <a:gd name="T7" fmla="*/ 0 h 46"/>
                  <a:gd name="T8" fmla="*/ 0 w 19"/>
                  <a:gd name="T9" fmla="*/ 0 h 46"/>
                  <a:gd name="T10" fmla="*/ 0 w 19"/>
                  <a:gd name="T11" fmla="*/ 46 h 46"/>
                  <a:gd name="T12" fmla="*/ 6 w 19"/>
                  <a:gd name="T13" fmla="*/ 46 h 46"/>
                  <a:gd name="T14" fmla="*/ 6 w 19"/>
                  <a:gd name="T15" fmla="*/ 43 h 46"/>
                  <a:gd name="T16" fmla="*/ 9 w 19"/>
                  <a:gd name="T17" fmla="*/ 45 h 46"/>
                  <a:gd name="T18" fmla="*/ 13 w 19"/>
                  <a:gd name="T19" fmla="*/ 46 h 46"/>
                  <a:gd name="T20" fmla="*/ 18 w 19"/>
                  <a:gd name="T21" fmla="*/ 44 h 46"/>
                  <a:gd name="T22" fmla="*/ 19 w 19"/>
                  <a:gd name="T23" fmla="*/ 39 h 46"/>
                  <a:gd name="T24" fmla="*/ 19 w 19"/>
                  <a:gd name="T25" fmla="*/ 20 h 46"/>
                  <a:gd name="T26" fmla="*/ 17 w 19"/>
                  <a:gd name="T27" fmla="*/ 14 h 46"/>
                  <a:gd name="T28" fmla="*/ 13 w 19"/>
                  <a:gd name="T29" fmla="*/ 12 h 46"/>
                  <a:gd name="T30" fmla="*/ 12 w 19"/>
                  <a:gd name="T31" fmla="*/ 38 h 46"/>
                  <a:gd name="T32" fmla="*/ 12 w 19"/>
                  <a:gd name="T33" fmla="*/ 40 h 46"/>
                  <a:gd name="T34" fmla="*/ 10 w 19"/>
                  <a:gd name="T35" fmla="*/ 41 h 46"/>
                  <a:gd name="T36" fmla="*/ 8 w 19"/>
                  <a:gd name="T37" fmla="*/ 41 h 46"/>
                  <a:gd name="T38" fmla="*/ 6 w 19"/>
                  <a:gd name="T39" fmla="*/ 39 h 46"/>
                  <a:gd name="T40" fmla="*/ 6 w 19"/>
                  <a:gd name="T41" fmla="*/ 18 h 46"/>
                  <a:gd name="T42" fmla="*/ 8 w 19"/>
                  <a:gd name="T43" fmla="*/ 17 h 46"/>
                  <a:gd name="T44" fmla="*/ 9 w 19"/>
                  <a:gd name="T45" fmla="*/ 17 h 46"/>
                  <a:gd name="T46" fmla="*/ 11 w 19"/>
                  <a:gd name="T47" fmla="*/ 18 h 46"/>
                  <a:gd name="T48" fmla="*/ 12 w 19"/>
                  <a:gd name="T49" fmla="*/ 20 h 46"/>
                  <a:gd name="T50" fmla="*/ 12 w 19"/>
                  <a:gd name="T51" fmla="*/ 3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9" h="46">
                    <a:moveTo>
                      <a:pt x="13" y="12"/>
                    </a:moveTo>
                    <a:cubicBezTo>
                      <a:pt x="11" y="12"/>
                      <a:pt x="10" y="12"/>
                      <a:pt x="9" y="12"/>
                    </a:cubicBezTo>
                    <a:cubicBezTo>
                      <a:pt x="8" y="13"/>
                      <a:pt x="7" y="14"/>
                      <a:pt x="6" y="15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7" y="44"/>
                      <a:pt x="8" y="45"/>
                      <a:pt x="9" y="45"/>
                    </a:cubicBezTo>
                    <a:cubicBezTo>
                      <a:pt x="10" y="46"/>
                      <a:pt x="12" y="46"/>
                      <a:pt x="13" y="46"/>
                    </a:cubicBezTo>
                    <a:cubicBezTo>
                      <a:pt x="15" y="46"/>
                      <a:pt x="16" y="46"/>
                      <a:pt x="18" y="44"/>
                    </a:cubicBezTo>
                    <a:cubicBezTo>
                      <a:pt x="19" y="43"/>
                      <a:pt x="19" y="41"/>
                      <a:pt x="19" y="3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7"/>
                      <a:pt x="19" y="15"/>
                      <a:pt x="17" y="14"/>
                    </a:cubicBezTo>
                    <a:cubicBezTo>
                      <a:pt x="16" y="12"/>
                      <a:pt x="15" y="12"/>
                      <a:pt x="13" y="12"/>
                    </a:cubicBezTo>
                    <a:close/>
                    <a:moveTo>
                      <a:pt x="12" y="38"/>
                    </a:moveTo>
                    <a:cubicBezTo>
                      <a:pt x="12" y="39"/>
                      <a:pt x="12" y="40"/>
                      <a:pt x="12" y="40"/>
                    </a:cubicBezTo>
                    <a:cubicBezTo>
                      <a:pt x="11" y="41"/>
                      <a:pt x="11" y="41"/>
                      <a:pt x="10" y="41"/>
                    </a:cubicBezTo>
                    <a:cubicBezTo>
                      <a:pt x="9" y="41"/>
                      <a:pt x="9" y="41"/>
                      <a:pt x="8" y="41"/>
                    </a:cubicBezTo>
                    <a:cubicBezTo>
                      <a:pt x="8" y="40"/>
                      <a:pt x="7" y="40"/>
                      <a:pt x="6" y="39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7" y="18"/>
                      <a:pt x="7" y="17"/>
                      <a:pt x="8" y="17"/>
                    </a:cubicBezTo>
                    <a:cubicBezTo>
                      <a:pt x="8" y="17"/>
                      <a:pt x="9" y="17"/>
                      <a:pt x="9" y="17"/>
                    </a:cubicBezTo>
                    <a:cubicBezTo>
                      <a:pt x="10" y="17"/>
                      <a:pt x="11" y="17"/>
                      <a:pt x="11" y="18"/>
                    </a:cubicBezTo>
                    <a:cubicBezTo>
                      <a:pt x="12" y="18"/>
                      <a:pt x="12" y="19"/>
                      <a:pt x="12" y="20"/>
                    </a:cubicBezTo>
                    <a:lnTo>
                      <a:pt x="12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44518874-9DEF-4B95-AA8B-D18FE2BBA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801" y="4710113"/>
                <a:ext cx="84138" cy="141287"/>
              </a:xfrm>
              <a:custGeom>
                <a:avLst/>
                <a:gdLst>
                  <a:gd name="T0" fmla="*/ 13 w 20"/>
                  <a:gd name="T1" fmla="*/ 26 h 34"/>
                  <a:gd name="T2" fmla="*/ 11 w 20"/>
                  <a:gd name="T3" fmla="*/ 27 h 34"/>
                  <a:gd name="T4" fmla="*/ 9 w 20"/>
                  <a:gd name="T5" fmla="*/ 28 h 34"/>
                  <a:gd name="T6" fmla="*/ 7 w 20"/>
                  <a:gd name="T7" fmla="*/ 28 h 34"/>
                  <a:gd name="T8" fmla="*/ 7 w 20"/>
                  <a:gd name="T9" fmla="*/ 26 h 34"/>
                  <a:gd name="T10" fmla="*/ 7 w 20"/>
                  <a:gd name="T11" fmla="*/ 0 h 34"/>
                  <a:gd name="T12" fmla="*/ 0 w 20"/>
                  <a:gd name="T13" fmla="*/ 0 h 34"/>
                  <a:gd name="T14" fmla="*/ 0 w 20"/>
                  <a:gd name="T15" fmla="*/ 28 h 34"/>
                  <a:gd name="T16" fmla="*/ 1 w 20"/>
                  <a:gd name="T17" fmla="*/ 33 h 34"/>
                  <a:gd name="T18" fmla="*/ 5 w 20"/>
                  <a:gd name="T19" fmla="*/ 34 h 34"/>
                  <a:gd name="T20" fmla="*/ 9 w 20"/>
                  <a:gd name="T21" fmla="*/ 33 h 34"/>
                  <a:gd name="T22" fmla="*/ 13 w 20"/>
                  <a:gd name="T23" fmla="*/ 30 h 34"/>
                  <a:gd name="T24" fmla="*/ 13 w 20"/>
                  <a:gd name="T25" fmla="*/ 34 h 34"/>
                  <a:gd name="T26" fmla="*/ 20 w 20"/>
                  <a:gd name="T27" fmla="*/ 34 h 34"/>
                  <a:gd name="T28" fmla="*/ 20 w 20"/>
                  <a:gd name="T29" fmla="*/ 0 h 34"/>
                  <a:gd name="T30" fmla="*/ 13 w 20"/>
                  <a:gd name="T31" fmla="*/ 0 h 34"/>
                  <a:gd name="T32" fmla="*/ 13 w 20"/>
                  <a:gd name="T33" fmla="*/ 2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0" h="34">
                    <a:moveTo>
                      <a:pt x="13" y="26"/>
                    </a:moveTo>
                    <a:cubicBezTo>
                      <a:pt x="12" y="26"/>
                      <a:pt x="11" y="27"/>
                      <a:pt x="11" y="27"/>
                    </a:cubicBezTo>
                    <a:cubicBezTo>
                      <a:pt x="10" y="28"/>
                      <a:pt x="9" y="28"/>
                      <a:pt x="9" y="28"/>
                    </a:cubicBezTo>
                    <a:cubicBezTo>
                      <a:pt x="8" y="28"/>
                      <a:pt x="8" y="28"/>
                      <a:pt x="7" y="28"/>
                    </a:cubicBezTo>
                    <a:cubicBezTo>
                      <a:pt x="7" y="27"/>
                      <a:pt x="7" y="27"/>
                      <a:pt x="7" y="26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1" y="32"/>
                      <a:pt x="1" y="33"/>
                    </a:cubicBezTo>
                    <a:cubicBezTo>
                      <a:pt x="2" y="34"/>
                      <a:pt x="3" y="34"/>
                      <a:pt x="5" y="34"/>
                    </a:cubicBezTo>
                    <a:cubicBezTo>
                      <a:pt x="6" y="34"/>
                      <a:pt x="8" y="34"/>
                      <a:pt x="9" y="33"/>
                    </a:cubicBezTo>
                    <a:cubicBezTo>
                      <a:pt x="10" y="32"/>
                      <a:pt x="12" y="31"/>
                      <a:pt x="13" y="30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13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F6E2E4BC-37EA-4A2A-BA8F-8CFAB1B444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27501" y="4194175"/>
                <a:ext cx="909638" cy="909637"/>
              </a:xfrm>
              <a:custGeom>
                <a:avLst/>
                <a:gdLst>
                  <a:gd name="T0" fmla="*/ 108 w 217"/>
                  <a:gd name="T1" fmla="*/ 0 h 217"/>
                  <a:gd name="T2" fmla="*/ 0 w 217"/>
                  <a:gd name="T3" fmla="*/ 108 h 217"/>
                  <a:gd name="T4" fmla="*/ 108 w 217"/>
                  <a:gd name="T5" fmla="*/ 217 h 217"/>
                  <a:gd name="T6" fmla="*/ 217 w 217"/>
                  <a:gd name="T7" fmla="*/ 108 h 217"/>
                  <a:gd name="T8" fmla="*/ 108 w 217"/>
                  <a:gd name="T9" fmla="*/ 0 h 217"/>
                  <a:gd name="T10" fmla="*/ 126 w 217"/>
                  <a:gd name="T11" fmla="*/ 53 h 217"/>
                  <a:gd name="T12" fmla="*/ 134 w 217"/>
                  <a:gd name="T13" fmla="*/ 53 h 217"/>
                  <a:gd name="T14" fmla="*/ 134 w 217"/>
                  <a:gd name="T15" fmla="*/ 82 h 217"/>
                  <a:gd name="T16" fmla="*/ 134 w 217"/>
                  <a:gd name="T17" fmla="*/ 84 h 217"/>
                  <a:gd name="T18" fmla="*/ 136 w 217"/>
                  <a:gd name="T19" fmla="*/ 84 h 217"/>
                  <a:gd name="T20" fmla="*/ 138 w 217"/>
                  <a:gd name="T21" fmla="*/ 84 h 217"/>
                  <a:gd name="T22" fmla="*/ 140 w 217"/>
                  <a:gd name="T23" fmla="*/ 82 h 217"/>
                  <a:gd name="T24" fmla="*/ 140 w 217"/>
                  <a:gd name="T25" fmla="*/ 53 h 217"/>
                  <a:gd name="T26" fmla="*/ 148 w 217"/>
                  <a:gd name="T27" fmla="*/ 53 h 217"/>
                  <a:gd name="T28" fmla="*/ 148 w 217"/>
                  <a:gd name="T29" fmla="*/ 91 h 217"/>
                  <a:gd name="T30" fmla="*/ 140 w 217"/>
                  <a:gd name="T31" fmla="*/ 91 h 217"/>
                  <a:gd name="T32" fmla="*/ 140 w 217"/>
                  <a:gd name="T33" fmla="*/ 86 h 217"/>
                  <a:gd name="T34" fmla="*/ 136 w 217"/>
                  <a:gd name="T35" fmla="*/ 90 h 217"/>
                  <a:gd name="T36" fmla="*/ 131 w 217"/>
                  <a:gd name="T37" fmla="*/ 91 h 217"/>
                  <a:gd name="T38" fmla="*/ 127 w 217"/>
                  <a:gd name="T39" fmla="*/ 89 h 217"/>
                  <a:gd name="T40" fmla="*/ 126 w 217"/>
                  <a:gd name="T41" fmla="*/ 84 h 217"/>
                  <a:gd name="T42" fmla="*/ 126 w 217"/>
                  <a:gd name="T43" fmla="*/ 53 h 217"/>
                  <a:gd name="T44" fmla="*/ 98 w 217"/>
                  <a:gd name="T45" fmla="*/ 62 h 217"/>
                  <a:gd name="T46" fmla="*/ 101 w 217"/>
                  <a:gd name="T47" fmla="*/ 55 h 217"/>
                  <a:gd name="T48" fmla="*/ 109 w 217"/>
                  <a:gd name="T49" fmla="*/ 52 h 217"/>
                  <a:gd name="T50" fmla="*/ 117 w 217"/>
                  <a:gd name="T51" fmla="*/ 55 h 217"/>
                  <a:gd name="T52" fmla="*/ 120 w 217"/>
                  <a:gd name="T53" fmla="*/ 62 h 217"/>
                  <a:gd name="T54" fmla="*/ 120 w 217"/>
                  <a:gd name="T55" fmla="*/ 81 h 217"/>
                  <a:gd name="T56" fmla="*/ 117 w 217"/>
                  <a:gd name="T57" fmla="*/ 89 h 217"/>
                  <a:gd name="T58" fmla="*/ 109 w 217"/>
                  <a:gd name="T59" fmla="*/ 91 h 217"/>
                  <a:gd name="T60" fmla="*/ 101 w 217"/>
                  <a:gd name="T61" fmla="*/ 89 h 217"/>
                  <a:gd name="T62" fmla="*/ 98 w 217"/>
                  <a:gd name="T63" fmla="*/ 81 h 217"/>
                  <a:gd name="T64" fmla="*/ 98 w 217"/>
                  <a:gd name="T65" fmla="*/ 62 h 217"/>
                  <a:gd name="T66" fmla="*/ 77 w 217"/>
                  <a:gd name="T67" fmla="*/ 40 h 217"/>
                  <a:gd name="T68" fmla="*/ 83 w 217"/>
                  <a:gd name="T69" fmla="*/ 60 h 217"/>
                  <a:gd name="T70" fmla="*/ 83 w 217"/>
                  <a:gd name="T71" fmla="*/ 60 h 217"/>
                  <a:gd name="T72" fmla="*/ 88 w 217"/>
                  <a:gd name="T73" fmla="*/ 40 h 217"/>
                  <a:gd name="T74" fmla="*/ 97 w 217"/>
                  <a:gd name="T75" fmla="*/ 40 h 217"/>
                  <a:gd name="T76" fmla="*/ 87 w 217"/>
                  <a:gd name="T77" fmla="*/ 70 h 217"/>
                  <a:gd name="T78" fmla="*/ 87 w 217"/>
                  <a:gd name="T79" fmla="*/ 91 h 217"/>
                  <a:gd name="T80" fmla="*/ 79 w 217"/>
                  <a:gd name="T81" fmla="*/ 91 h 217"/>
                  <a:gd name="T82" fmla="*/ 79 w 217"/>
                  <a:gd name="T83" fmla="*/ 71 h 217"/>
                  <a:gd name="T84" fmla="*/ 68 w 217"/>
                  <a:gd name="T85" fmla="*/ 40 h 217"/>
                  <a:gd name="T86" fmla="*/ 77 w 217"/>
                  <a:gd name="T87" fmla="*/ 40 h 217"/>
                  <a:gd name="T88" fmla="*/ 177 w 217"/>
                  <a:gd name="T89" fmla="*/ 146 h 217"/>
                  <a:gd name="T90" fmla="*/ 152 w 217"/>
                  <a:gd name="T91" fmla="*/ 171 h 217"/>
                  <a:gd name="T92" fmla="*/ 68 w 217"/>
                  <a:gd name="T93" fmla="*/ 171 h 217"/>
                  <a:gd name="T94" fmla="*/ 43 w 217"/>
                  <a:gd name="T95" fmla="*/ 146 h 217"/>
                  <a:gd name="T96" fmla="*/ 43 w 217"/>
                  <a:gd name="T97" fmla="*/ 127 h 217"/>
                  <a:gd name="T98" fmla="*/ 68 w 217"/>
                  <a:gd name="T99" fmla="*/ 102 h 217"/>
                  <a:gd name="T100" fmla="*/ 152 w 217"/>
                  <a:gd name="T101" fmla="*/ 102 h 217"/>
                  <a:gd name="T102" fmla="*/ 177 w 217"/>
                  <a:gd name="T103" fmla="*/ 127 h 217"/>
                  <a:gd name="T104" fmla="*/ 177 w 217"/>
                  <a:gd name="T105" fmla="*/ 146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7" h="217">
                    <a:moveTo>
                      <a:pt x="108" y="0"/>
                    </a:moveTo>
                    <a:cubicBezTo>
                      <a:pt x="48" y="0"/>
                      <a:pt x="0" y="48"/>
                      <a:pt x="0" y="108"/>
                    </a:cubicBezTo>
                    <a:cubicBezTo>
                      <a:pt x="0" y="169"/>
                      <a:pt x="48" y="217"/>
                      <a:pt x="108" y="217"/>
                    </a:cubicBezTo>
                    <a:cubicBezTo>
                      <a:pt x="169" y="217"/>
                      <a:pt x="217" y="169"/>
                      <a:pt x="217" y="108"/>
                    </a:cubicBezTo>
                    <a:cubicBezTo>
                      <a:pt x="217" y="48"/>
                      <a:pt x="169" y="0"/>
                      <a:pt x="108" y="0"/>
                    </a:cubicBezTo>
                    <a:close/>
                    <a:moveTo>
                      <a:pt x="126" y="53"/>
                    </a:moveTo>
                    <a:cubicBezTo>
                      <a:pt x="134" y="53"/>
                      <a:pt x="134" y="53"/>
                      <a:pt x="134" y="53"/>
                    </a:cubicBezTo>
                    <a:cubicBezTo>
                      <a:pt x="134" y="82"/>
                      <a:pt x="134" y="82"/>
                      <a:pt x="134" y="82"/>
                    </a:cubicBezTo>
                    <a:cubicBezTo>
                      <a:pt x="134" y="83"/>
                      <a:pt x="134" y="83"/>
                      <a:pt x="134" y="84"/>
                    </a:cubicBezTo>
                    <a:cubicBezTo>
                      <a:pt x="134" y="84"/>
                      <a:pt x="135" y="84"/>
                      <a:pt x="136" y="84"/>
                    </a:cubicBezTo>
                    <a:cubicBezTo>
                      <a:pt x="136" y="84"/>
                      <a:pt x="137" y="84"/>
                      <a:pt x="138" y="84"/>
                    </a:cubicBezTo>
                    <a:cubicBezTo>
                      <a:pt x="139" y="83"/>
                      <a:pt x="139" y="82"/>
                      <a:pt x="140" y="82"/>
                    </a:cubicBezTo>
                    <a:cubicBezTo>
                      <a:pt x="140" y="53"/>
                      <a:pt x="140" y="53"/>
                      <a:pt x="140" y="53"/>
                    </a:cubicBezTo>
                    <a:cubicBezTo>
                      <a:pt x="148" y="53"/>
                      <a:pt x="148" y="53"/>
                      <a:pt x="148" y="53"/>
                    </a:cubicBezTo>
                    <a:cubicBezTo>
                      <a:pt x="148" y="91"/>
                      <a:pt x="148" y="91"/>
                      <a:pt x="148" y="91"/>
                    </a:cubicBezTo>
                    <a:cubicBezTo>
                      <a:pt x="140" y="91"/>
                      <a:pt x="140" y="91"/>
                      <a:pt x="140" y="91"/>
                    </a:cubicBezTo>
                    <a:cubicBezTo>
                      <a:pt x="140" y="86"/>
                      <a:pt x="140" y="86"/>
                      <a:pt x="140" y="86"/>
                    </a:cubicBezTo>
                    <a:cubicBezTo>
                      <a:pt x="139" y="88"/>
                      <a:pt x="137" y="89"/>
                      <a:pt x="136" y="90"/>
                    </a:cubicBezTo>
                    <a:cubicBezTo>
                      <a:pt x="134" y="91"/>
                      <a:pt x="133" y="91"/>
                      <a:pt x="131" y="91"/>
                    </a:cubicBezTo>
                    <a:cubicBezTo>
                      <a:pt x="130" y="91"/>
                      <a:pt x="128" y="91"/>
                      <a:pt x="127" y="89"/>
                    </a:cubicBezTo>
                    <a:cubicBezTo>
                      <a:pt x="126" y="88"/>
                      <a:pt x="126" y="87"/>
                      <a:pt x="126" y="84"/>
                    </a:cubicBezTo>
                    <a:lnTo>
                      <a:pt x="126" y="53"/>
                    </a:lnTo>
                    <a:close/>
                    <a:moveTo>
                      <a:pt x="98" y="62"/>
                    </a:moveTo>
                    <a:cubicBezTo>
                      <a:pt x="98" y="59"/>
                      <a:pt x="99" y="57"/>
                      <a:pt x="101" y="55"/>
                    </a:cubicBezTo>
                    <a:cubicBezTo>
                      <a:pt x="103" y="53"/>
                      <a:pt x="106" y="52"/>
                      <a:pt x="109" y="52"/>
                    </a:cubicBezTo>
                    <a:cubicBezTo>
                      <a:pt x="112" y="52"/>
                      <a:pt x="115" y="53"/>
                      <a:pt x="117" y="55"/>
                    </a:cubicBezTo>
                    <a:cubicBezTo>
                      <a:pt x="119" y="57"/>
                      <a:pt x="120" y="59"/>
                      <a:pt x="120" y="62"/>
                    </a:cubicBezTo>
                    <a:cubicBezTo>
                      <a:pt x="120" y="81"/>
                      <a:pt x="120" y="81"/>
                      <a:pt x="120" y="81"/>
                    </a:cubicBezTo>
                    <a:cubicBezTo>
                      <a:pt x="120" y="84"/>
                      <a:pt x="119" y="87"/>
                      <a:pt x="117" y="89"/>
                    </a:cubicBezTo>
                    <a:cubicBezTo>
                      <a:pt x="115" y="91"/>
                      <a:pt x="112" y="91"/>
                      <a:pt x="109" y="91"/>
                    </a:cubicBezTo>
                    <a:cubicBezTo>
                      <a:pt x="105" y="91"/>
                      <a:pt x="103" y="91"/>
                      <a:pt x="101" y="89"/>
                    </a:cubicBezTo>
                    <a:cubicBezTo>
                      <a:pt x="99" y="87"/>
                      <a:pt x="98" y="84"/>
                      <a:pt x="98" y="81"/>
                    </a:cubicBezTo>
                    <a:lnTo>
                      <a:pt x="98" y="62"/>
                    </a:lnTo>
                    <a:close/>
                    <a:moveTo>
                      <a:pt x="77" y="40"/>
                    </a:move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8" y="40"/>
                      <a:pt x="88" y="40"/>
                      <a:pt x="88" y="40"/>
                    </a:cubicBezTo>
                    <a:cubicBezTo>
                      <a:pt x="97" y="40"/>
                      <a:pt x="97" y="40"/>
                      <a:pt x="97" y="40"/>
                    </a:cubicBezTo>
                    <a:cubicBezTo>
                      <a:pt x="87" y="70"/>
                      <a:pt x="87" y="70"/>
                      <a:pt x="87" y="70"/>
                    </a:cubicBezTo>
                    <a:cubicBezTo>
                      <a:pt x="87" y="91"/>
                      <a:pt x="87" y="91"/>
                      <a:pt x="87" y="91"/>
                    </a:cubicBezTo>
                    <a:cubicBezTo>
                      <a:pt x="79" y="91"/>
                      <a:pt x="79" y="91"/>
                      <a:pt x="79" y="91"/>
                    </a:cubicBezTo>
                    <a:cubicBezTo>
                      <a:pt x="79" y="71"/>
                      <a:pt x="79" y="71"/>
                      <a:pt x="79" y="71"/>
                    </a:cubicBezTo>
                    <a:cubicBezTo>
                      <a:pt x="68" y="40"/>
                      <a:pt x="68" y="40"/>
                      <a:pt x="68" y="40"/>
                    </a:cubicBezTo>
                    <a:lnTo>
                      <a:pt x="77" y="40"/>
                    </a:lnTo>
                    <a:close/>
                    <a:moveTo>
                      <a:pt x="177" y="146"/>
                    </a:moveTo>
                    <a:cubicBezTo>
                      <a:pt x="177" y="160"/>
                      <a:pt x="166" y="171"/>
                      <a:pt x="152" y="171"/>
                    </a:cubicBezTo>
                    <a:cubicBezTo>
                      <a:pt x="68" y="171"/>
                      <a:pt x="68" y="171"/>
                      <a:pt x="68" y="171"/>
                    </a:cubicBezTo>
                    <a:cubicBezTo>
                      <a:pt x="54" y="171"/>
                      <a:pt x="43" y="160"/>
                      <a:pt x="43" y="146"/>
                    </a:cubicBezTo>
                    <a:cubicBezTo>
                      <a:pt x="43" y="127"/>
                      <a:pt x="43" y="127"/>
                      <a:pt x="43" y="127"/>
                    </a:cubicBezTo>
                    <a:cubicBezTo>
                      <a:pt x="43" y="113"/>
                      <a:pt x="54" y="102"/>
                      <a:pt x="68" y="102"/>
                    </a:cubicBezTo>
                    <a:cubicBezTo>
                      <a:pt x="152" y="102"/>
                      <a:pt x="152" y="102"/>
                      <a:pt x="152" y="102"/>
                    </a:cubicBezTo>
                    <a:cubicBezTo>
                      <a:pt x="166" y="102"/>
                      <a:pt x="177" y="113"/>
                      <a:pt x="177" y="127"/>
                    </a:cubicBezTo>
                    <a:lnTo>
                      <a:pt x="177" y="1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69B02F36-1363-4CC7-9EB9-ECC6E30591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97413" y="4705350"/>
                <a:ext cx="84138" cy="150812"/>
              </a:xfrm>
              <a:custGeom>
                <a:avLst/>
                <a:gdLst>
                  <a:gd name="T0" fmla="*/ 10 w 20"/>
                  <a:gd name="T1" fmla="*/ 0 h 36"/>
                  <a:gd name="T2" fmla="*/ 3 w 20"/>
                  <a:gd name="T3" fmla="*/ 3 h 36"/>
                  <a:gd name="T4" fmla="*/ 0 w 20"/>
                  <a:gd name="T5" fmla="*/ 10 h 36"/>
                  <a:gd name="T6" fmla="*/ 0 w 20"/>
                  <a:gd name="T7" fmla="*/ 25 h 36"/>
                  <a:gd name="T8" fmla="*/ 2 w 20"/>
                  <a:gd name="T9" fmla="*/ 33 h 36"/>
                  <a:gd name="T10" fmla="*/ 9 w 20"/>
                  <a:gd name="T11" fmla="*/ 36 h 36"/>
                  <a:gd name="T12" fmla="*/ 17 w 20"/>
                  <a:gd name="T13" fmla="*/ 33 h 36"/>
                  <a:gd name="T14" fmla="*/ 20 w 20"/>
                  <a:gd name="T15" fmla="*/ 25 h 36"/>
                  <a:gd name="T16" fmla="*/ 20 w 20"/>
                  <a:gd name="T17" fmla="*/ 23 h 36"/>
                  <a:gd name="T18" fmla="*/ 13 w 20"/>
                  <a:gd name="T19" fmla="*/ 23 h 36"/>
                  <a:gd name="T20" fmla="*/ 13 w 20"/>
                  <a:gd name="T21" fmla="*/ 25 h 36"/>
                  <a:gd name="T22" fmla="*/ 12 w 20"/>
                  <a:gd name="T23" fmla="*/ 29 h 36"/>
                  <a:gd name="T24" fmla="*/ 10 w 20"/>
                  <a:gd name="T25" fmla="*/ 30 h 36"/>
                  <a:gd name="T26" fmla="*/ 7 w 20"/>
                  <a:gd name="T27" fmla="*/ 29 h 36"/>
                  <a:gd name="T28" fmla="*/ 7 w 20"/>
                  <a:gd name="T29" fmla="*/ 25 h 36"/>
                  <a:gd name="T30" fmla="*/ 7 w 20"/>
                  <a:gd name="T31" fmla="*/ 19 h 36"/>
                  <a:gd name="T32" fmla="*/ 20 w 20"/>
                  <a:gd name="T33" fmla="*/ 19 h 36"/>
                  <a:gd name="T34" fmla="*/ 20 w 20"/>
                  <a:gd name="T35" fmla="*/ 10 h 36"/>
                  <a:gd name="T36" fmla="*/ 17 w 20"/>
                  <a:gd name="T37" fmla="*/ 3 h 36"/>
                  <a:gd name="T38" fmla="*/ 10 w 20"/>
                  <a:gd name="T39" fmla="*/ 0 h 36"/>
                  <a:gd name="T40" fmla="*/ 13 w 20"/>
                  <a:gd name="T41" fmla="*/ 13 h 36"/>
                  <a:gd name="T42" fmla="*/ 7 w 20"/>
                  <a:gd name="T43" fmla="*/ 13 h 36"/>
                  <a:gd name="T44" fmla="*/ 7 w 20"/>
                  <a:gd name="T45" fmla="*/ 10 h 36"/>
                  <a:gd name="T46" fmla="*/ 7 w 20"/>
                  <a:gd name="T47" fmla="*/ 7 h 36"/>
                  <a:gd name="T48" fmla="*/ 10 w 20"/>
                  <a:gd name="T49" fmla="*/ 6 h 36"/>
                  <a:gd name="T50" fmla="*/ 12 w 20"/>
                  <a:gd name="T51" fmla="*/ 7 h 36"/>
                  <a:gd name="T52" fmla="*/ 13 w 20"/>
                  <a:gd name="T53" fmla="*/ 10 h 36"/>
                  <a:gd name="T54" fmla="*/ 13 w 20"/>
                  <a:gd name="T55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0" h="36">
                    <a:moveTo>
                      <a:pt x="10" y="0"/>
                    </a:moveTo>
                    <a:cubicBezTo>
                      <a:pt x="7" y="0"/>
                      <a:pt x="4" y="1"/>
                      <a:pt x="3" y="3"/>
                    </a:cubicBezTo>
                    <a:cubicBezTo>
                      <a:pt x="1" y="5"/>
                      <a:pt x="0" y="7"/>
                      <a:pt x="0" y="1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8"/>
                      <a:pt x="1" y="31"/>
                      <a:pt x="2" y="33"/>
                    </a:cubicBezTo>
                    <a:cubicBezTo>
                      <a:pt x="4" y="35"/>
                      <a:pt x="6" y="36"/>
                      <a:pt x="9" y="36"/>
                    </a:cubicBezTo>
                    <a:cubicBezTo>
                      <a:pt x="13" y="36"/>
                      <a:pt x="15" y="35"/>
                      <a:pt x="17" y="33"/>
                    </a:cubicBezTo>
                    <a:cubicBezTo>
                      <a:pt x="19" y="31"/>
                      <a:pt x="20" y="29"/>
                      <a:pt x="20" y="25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13" y="27"/>
                      <a:pt x="12" y="28"/>
                      <a:pt x="12" y="29"/>
                    </a:cubicBezTo>
                    <a:cubicBezTo>
                      <a:pt x="11" y="29"/>
                      <a:pt x="11" y="30"/>
                      <a:pt x="10" y="30"/>
                    </a:cubicBezTo>
                    <a:cubicBezTo>
                      <a:pt x="8" y="30"/>
                      <a:pt x="8" y="29"/>
                      <a:pt x="7" y="29"/>
                    </a:cubicBezTo>
                    <a:cubicBezTo>
                      <a:pt x="7" y="28"/>
                      <a:pt x="7" y="27"/>
                      <a:pt x="7" y="25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7"/>
                      <a:pt x="19" y="4"/>
                      <a:pt x="17" y="3"/>
                    </a:cubicBezTo>
                    <a:cubicBezTo>
                      <a:pt x="15" y="1"/>
                      <a:pt x="13" y="0"/>
                      <a:pt x="10" y="0"/>
                    </a:cubicBezTo>
                    <a:close/>
                    <a:moveTo>
                      <a:pt x="13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7"/>
                    </a:cubicBezTo>
                    <a:cubicBezTo>
                      <a:pt x="8" y="6"/>
                      <a:pt x="9" y="6"/>
                      <a:pt x="10" y="6"/>
                    </a:cubicBezTo>
                    <a:cubicBezTo>
                      <a:pt x="11" y="6"/>
                      <a:pt x="11" y="6"/>
                      <a:pt x="12" y="7"/>
                    </a:cubicBezTo>
                    <a:cubicBezTo>
                      <a:pt x="12" y="8"/>
                      <a:pt x="13" y="9"/>
                      <a:pt x="13" y="10"/>
                    </a:cubicBezTo>
                    <a:lnTo>
                      <a:pt x="1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</p:grp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95F75658-FFE9-4A28-966C-89A0F19F3F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01333" y="7007895"/>
              <a:ext cx="1598257" cy="800397"/>
            </a:xfrm>
            <a:custGeom>
              <a:avLst/>
              <a:gdLst>
                <a:gd name="T0" fmla="*/ 101 w 238"/>
                <a:gd name="T1" fmla="*/ 35 h 119"/>
                <a:gd name="T2" fmla="*/ 190 w 238"/>
                <a:gd name="T3" fmla="*/ 50 h 119"/>
                <a:gd name="T4" fmla="*/ 157 w 238"/>
                <a:gd name="T5" fmla="*/ 59 h 119"/>
                <a:gd name="T6" fmla="*/ 147 w 238"/>
                <a:gd name="T7" fmla="*/ 41 h 119"/>
                <a:gd name="T8" fmla="*/ 116 w 238"/>
                <a:gd name="T9" fmla="*/ 41 h 119"/>
                <a:gd name="T10" fmla="*/ 139 w 238"/>
                <a:gd name="T11" fmla="*/ 87 h 119"/>
                <a:gd name="T12" fmla="*/ 238 w 238"/>
                <a:gd name="T13" fmla="*/ 59 h 119"/>
                <a:gd name="T14" fmla="*/ 95 w 238"/>
                <a:gd name="T15" fmla="*/ 21 h 119"/>
                <a:gd name="T16" fmla="*/ 93 w 238"/>
                <a:gd name="T17" fmla="*/ 21 h 119"/>
                <a:gd name="T18" fmla="*/ 83 w 238"/>
                <a:gd name="T19" fmla="*/ 0 h 119"/>
                <a:gd name="T20" fmla="*/ 52 w 238"/>
                <a:gd name="T21" fmla="*/ 4 h 119"/>
                <a:gd name="T22" fmla="*/ 65 w 238"/>
                <a:gd name="T23" fmla="*/ 29 h 119"/>
                <a:gd name="T24" fmla="*/ 29 w 238"/>
                <a:gd name="T25" fmla="*/ 119 h 119"/>
                <a:gd name="T26" fmla="*/ 128 w 238"/>
                <a:gd name="T27" fmla="*/ 91 h 119"/>
                <a:gd name="T28" fmla="*/ 101 w 238"/>
                <a:gd name="T29" fmla="*/ 35 h 119"/>
                <a:gd name="T30" fmla="*/ 56 w 238"/>
                <a:gd name="T31" fmla="*/ 86 h 119"/>
                <a:gd name="T32" fmla="*/ 74 w 238"/>
                <a:gd name="T33" fmla="*/ 47 h 119"/>
                <a:gd name="T34" fmla="*/ 89 w 238"/>
                <a:gd name="T35" fmla="*/ 78 h 119"/>
                <a:gd name="T36" fmla="*/ 56 w 238"/>
                <a:gd name="T37" fmla="*/ 8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8" h="119">
                  <a:moveTo>
                    <a:pt x="101" y="35"/>
                  </a:moveTo>
                  <a:cubicBezTo>
                    <a:pt x="149" y="21"/>
                    <a:pt x="190" y="50"/>
                    <a:pt x="190" y="50"/>
                  </a:cubicBezTo>
                  <a:cubicBezTo>
                    <a:pt x="157" y="59"/>
                    <a:pt x="157" y="59"/>
                    <a:pt x="157" y="59"/>
                  </a:cubicBezTo>
                  <a:cubicBezTo>
                    <a:pt x="147" y="41"/>
                    <a:pt x="147" y="41"/>
                    <a:pt x="147" y="41"/>
                  </a:cubicBezTo>
                  <a:cubicBezTo>
                    <a:pt x="138" y="40"/>
                    <a:pt x="127" y="39"/>
                    <a:pt x="116" y="41"/>
                  </a:cubicBezTo>
                  <a:cubicBezTo>
                    <a:pt x="139" y="87"/>
                    <a:pt x="139" y="87"/>
                    <a:pt x="139" y="87"/>
                  </a:cubicBezTo>
                  <a:cubicBezTo>
                    <a:pt x="238" y="59"/>
                    <a:pt x="238" y="59"/>
                    <a:pt x="238" y="59"/>
                  </a:cubicBezTo>
                  <a:cubicBezTo>
                    <a:pt x="238" y="59"/>
                    <a:pt x="202" y="3"/>
                    <a:pt x="95" y="21"/>
                  </a:cubicBezTo>
                  <a:cubicBezTo>
                    <a:pt x="95" y="21"/>
                    <a:pt x="94" y="21"/>
                    <a:pt x="93" y="21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0" y="56"/>
                    <a:pt x="29" y="119"/>
                    <a:pt x="29" y="119"/>
                  </a:cubicBezTo>
                  <a:cubicBezTo>
                    <a:pt x="128" y="91"/>
                    <a:pt x="128" y="91"/>
                    <a:pt x="128" y="91"/>
                  </a:cubicBezTo>
                  <a:lnTo>
                    <a:pt x="101" y="35"/>
                  </a:lnTo>
                  <a:close/>
                  <a:moveTo>
                    <a:pt x="56" y="86"/>
                  </a:moveTo>
                  <a:cubicBezTo>
                    <a:pt x="56" y="86"/>
                    <a:pt x="46" y="65"/>
                    <a:pt x="74" y="47"/>
                  </a:cubicBezTo>
                  <a:cubicBezTo>
                    <a:pt x="89" y="78"/>
                    <a:pt x="89" y="78"/>
                    <a:pt x="89" y="78"/>
                  </a:cubicBezTo>
                  <a:lnTo>
                    <a:pt x="56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DE0FFD59-2AE7-4DD3-B01D-92DF3654C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7040" y="6426018"/>
              <a:ext cx="1397522" cy="1346702"/>
            </a:xfrm>
            <a:custGeom>
              <a:avLst/>
              <a:gdLst>
                <a:gd name="T0" fmla="*/ 0 w 208"/>
                <a:gd name="T1" fmla="*/ 68 h 201"/>
                <a:gd name="T2" fmla="*/ 8 w 208"/>
                <a:gd name="T3" fmla="*/ 78 h 201"/>
                <a:gd name="T4" fmla="*/ 31 w 208"/>
                <a:gd name="T5" fmla="*/ 72 h 201"/>
                <a:gd name="T6" fmla="*/ 64 w 208"/>
                <a:gd name="T7" fmla="*/ 172 h 201"/>
                <a:gd name="T8" fmla="*/ 106 w 208"/>
                <a:gd name="T9" fmla="*/ 189 h 201"/>
                <a:gd name="T10" fmla="*/ 197 w 208"/>
                <a:gd name="T11" fmla="*/ 62 h 201"/>
                <a:gd name="T12" fmla="*/ 114 w 208"/>
                <a:gd name="T13" fmla="*/ 67 h 201"/>
                <a:gd name="T14" fmla="*/ 137 w 208"/>
                <a:gd name="T15" fmla="*/ 94 h 201"/>
                <a:gd name="T16" fmla="*/ 109 w 208"/>
                <a:gd name="T17" fmla="*/ 130 h 201"/>
                <a:gd name="T18" fmla="*/ 93 w 208"/>
                <a:gd name="T19" fmla="*/ 90 h 201"/>
                <a:gd name="T20" fmla="*/ 60 w 208"/>
                <a:gd name="T21" fmla="*/ 22 h 201"/>
                <a:gd name="T22" fmla="*/ 0 w 208"/>
                <a:gd name="T23" fmla="*/ 68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8" h="201">
                  <a:moveTo>
                    <a:pt x="0" y="68"/>
                  </a:move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25" y="65"/>
                    <a:pt x="31" y="72"/>
                  </a:cubicBezTo>
                  <a:cubicBezTo>
                    <a:pt x="36" y="78"/>
                    <a:pt x="57" y="157"/>
                    <a:pt x="64" y="172"/>
                  </a:cubicBezTo>
                  <a:cubicBezTo>
                    <a:pt x="70" y="184"/>
                    <a:pt x="87" y="201"/>
                    <a:pt x="106" y="189"/>
                  </a:cubicBezTo>
                  <a:cubicBezTo>
                    <a:pt x="125" y="177"/>
                    <a:pt x="186" y="124"/>
                    <a:pt x="197" y="62"/>
                  </a:cubicBezTo>
                  <a:cubicBezTo>
                    <a:pt x="208" y="0"/>
                    <a:pt x="123" y="13"/>
                    <a:pt x="114" y="67"/>
                  </a:cubicBezTo>
                  <a:cubicBezTo>
                    <a:pt x="137" y="54"/>
                    <a:pt x="149" y="73"/>
                    <a:pt x="137" y="94"/>
                  </a:cubicBezTo>
                  <a:cubicBezTo>
                    <a:pt x="126" y="116"/>
                    <a:pt x="115" y="130"/>
                    <a:pt x="109" y="130"/>
                  </a:cubicBezTo>
                  <a:cubicBezTo>
                    <a:pt x="104" y="130"/>
                    <a:pt x="100" y="116"/>
                    <a:pt x="93" y="90"/>
                  </a:cubicBezTo>
                  <a:cubicBezTo>
                    <a:pt x="87" y="64"/>
                    <a:pt x="87" y="17"/>
                    <a:pt x="60" y="22"/>
                  </a:cubicBezTo>
                  <a:cubicBezTo>
                    <a:pt x="34" y="27"/>
                    <a:pt x="0" y="68"/>
                    <a:pt x="0" y="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AB9EF4D9-752F-44A7-BF68-82BC4EBAE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92424" y="5165374"/>
              <a:ext cx="780599" cy="777218"/>
            </a:xfrm>
            <a:custGeom>
              <a:avLst/>
              <a:gdLst>
                <a:gd name="T0" fmla="*/ 168 w 175"/>
                <a:gd name="T1" fmla="*/ 53 h 174"/>
                <a:gd name="T2" fmla="*/ 149 w 175"/>
                <a:gd name="T3" fmla="*/ 25 h 174"/>
                <a:gd name="T4" fmla="*/ 121 w 175"/>
                <a:gd name="T5" fmla="*/ 6 h 174"/>
                <a:gd name="T6" fmla="*/ 87 w 175"/>
                <a:gd name="T7" fmla="*/ 0 h 174"/>
                <a:gd name="T8" fmla="*/ 53 w 175"/>
                <a:gd name="T9" fmla="*/ 6 h 174"/>
                <a:gd name="T10" fmla="*/ 26 w 175"/>
                <a:gd name="T11" fmla="*/ 25 h 174"/>
                <a:gd name="T12" fmla="*/ 7 w 175"/>
                <a:gd name="T13" fmla="*/ 53 h 174"/>
                <a:gd name="T14" fmla="*/ 0 w 175"/>
                <a:gd name="T15" fmla="*/ 87 h 174"/>
                <a:gd name="T16" fmla="*/ 7 w 175"/>
                <a:gd name="T17" fmla="*/ 121 h 174"/>
                <a:gd name="T18" fmla="*/ 26 w 175"/>
                <a:gd name="T19" fmla="*/ 149 h 174"/>
                <a:gd name="T20" fmla="*/ 53 w 175"/>
                <a:gd name="T21" fmla="*/ 167 h 174"/>
                <a:gd name="T22" fmla="*/ 87 w 175"/>
                <a:gd name="T23" fmla="*/ 174 h 174"/>
                <a:gd name="T24" fmla="*/ 121 w 175"/>
                <a:gd name="T25" fmla="*/ 167 h 174"/>
                <a:gd name="T26" fmla="*/ 149 w 175"/>
                <a:gd name="T27" fmla="*/ 149 h 174"/>
                <a:gd name="T28" fmla="*/ 168 w 175"/>
                <a:gd name="T29" fmla="*/ 121 h 174"/>
                <a:gd name="T30" fmla="*/ 175 w 175"/>
                <a:gd name="T31" fmla="*/ 87 h 174"/>
                <a:gd name="T32" fmla="*/ 162 w 175"/>
                <a:gd name="T33" fmla="*/ 86 h 174"/>
                <a:gd name="T34" fmla="*/ 108 w 175"/>
                <a:gd name="T35" fmla="*/ 80 h 174"/>
                <a:gd name="T36" fmla="*/ 145 w 175"/>
                <a:gd name="T37" fmla="*/ 40 h 174"/>
                <a:gd name="T38" fmla="*/ 137 w 175"/>
                <a:gd name="T39" fmla="*/ 31 h 174"/>
                <a:gd name="T40" fmla="*/ 70 w 175"/>
                <a:gd name="T41" fmla="*/ 14 h 174"/>
                <a:gd name="T42" fmla="*/ 137 w 175"/>
                <a:gd name="T43" fmla="*/ 31 h 174"/>
                <a:gd name="T44" fmla="*/ 70 w 175"/>
                <a:gd name="T45" fmla="*/ 14 h 174"/>
                <a:gd name="T46" fmla="*/ 70 w 175"/>
                <a:gd name="T47" fmla="*/ 14 h 174"/>
                <a:gd name="T48" fmla="*/ 83 w 175"/>
                <a:gd name="T49" fmla="*/ 62 h 174"/>
                <a:gd name="T50" fmla="*/ 56 w 175"/>
                <a:gd name="T51" fmla="*/ 19 h 174"/>
                <a:gd name="T52" fmla="*/ 13 w 175"/>
                <a:gd name="T53" fmla="*/ 85 h 174"/>
                <a:gd name="T54" fmla="*/ 96 w 175"/>
                <a:gd name="T55" fmla="*/ 87 h 174"/>
                <a:gd name="T56" fmla="*/ 32 w 175"/>
                <a:gd name="T57" fmla="*/ 137 h 174"/>
                <a:gd name="T58" fmla="*/ 13 w 175"/>
                <a:gd name="T59" fmla="*/ 87 h 174"/>
                <a:gd name="T60" fmla="*/ 40 w 175"/>
                <a:gd name="T61" fmla="*/ 144 h 174"/>
                <a:gd name="T62" fmla="*/ 100 w 175"/>
                <a:gd name="T63" fmla="*/ 99 h 174"/>
                <a:gd name="T64" fmla="*/ 117 w 175"/>
                <a:gd name="T65" fmla="*/ 156 h 174"/>
                <a:gd name="T66" fmla="*/ 129 w 175"/>
                <a:gd name="T67" fmla="*/ 149 h 174"/>
                <a:gd name="T68" fmla="*/ 161 w 175"/>
                <a:gd name="T69" fmla="*/ 9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5" h="174">
                  <a:moveTo>
                    <a:pt x="173" y="69"/>
                  </a:moveTo>
                  <a:cubicBezTo>
                    <a:pt x="172" y="64"/>
                    <a:pt x="170" y="58"/>
                    <a:pt x="168" y="53"/>
                  </a:cubicBezTo>
                  <a:cubicBezTo>
                    <a:pt x="166" y="48"/>
                    <a:pt x="163" y="43"/>
                    <a:pt x="160" y="38"/>
                  </a:cubicBezTo>
                  <a:cubicBezTo>
                    <a:pt x="157" y="33"/>
                    <a:pt x="153" y="29"/>
                    <a:pt x="149" y="25"/>
                  </a:cubicBezTo>
                  <a:cubicBezTo>
                    <a:pt x="145" y="21"/>
                    <a:pt x="141" y="18"/>
                    <a:pt x="136" y="14"/>
                  </a:cubicBezTo>
                  <a:cubicBezTo>
                    <a:pt x="132" y="11"/>
                    <a:pt x="127" y="9"/>
                    <a:pt x="121" y="6"/>
                  </a:cubicBezTo>
                  <a:cubicBezTo>
                    <a:pt x="116" y="4"/>
                    <a:pt x="111" y="2"/>
                    <a:pt x="105" y="1"/>
                  </a:cubicBezTo>
                  <a:cubicBezTo>
                    <a:pt x="99" y="0"/>
                    <a:pt x="93" y="0"/>
                    <a:pt x="87" y="0"/>
                  </a:cubicBezTo>
                  <a:cubicBezTo>
                    <a:pt x="82" y="0"/>
                    <a:pt x="76" y="0"/>
                    <a:pt x="70" y="1"/>
                  </a:cubicBezTo>
                  <a:cubicBezTo>
                    <a:pt x="64" y="2"/>
                    <a:pt x="59" y="4"/>
                    <a:pt x="53" y="6"/>
                  </a:cubicBezTo>
                  <a:cubicBezTo>
                    <a:pt x="48" y="9"/>
                    <a:pt x="43" y="11"/>
                    <a:pt x="39" y="14"/>
                  </a:cubicBezTo>
                  <a:cubicBezTo>
                    <a:pt x="34" y="18"/>
                    <a:pt x="30" y="21"/>
                    <a:pt x="26" y="25"/>
                  </a:cubicBezTo>
                  <a:cubicBezTo>
                    <a:pt x="22" y="29"/>
                    <a:pt x="18" y="33"/>
                    <a:pt x="15" y="38"/>
                  </a:cubicBezTo>
                  <a:cubicBezTo>
                    <a:pt x="12" y="43"/>
                    <a:pt x="9" y="48"/>
                    <a:pt x="7" y="53"/>
                  </a:cubicBezTo>
                  <a:cubicBezTo>
                    <a:pt x="5" y="58"/>
                    <a:pt x="3" y="64"/>
                    <a:pt x="2" y="69"/>
                  </a:cubicBezTo>
                  <a:cubicBezTo>
                    <a:pt x="1" y="75"/>
                    <a:pt x="0" y="81"/>
                    <a:pt x="0" y="87"/>
                  </a:cubicBezTo>
                  <a:cubicBezTo>
                    <a:pt x="0" y="93"/>
                    <a:pt x="1" y="99"/>
                    <a:pt x="2" y="105"/>
                  </a:cubicBezTo>
                  <a:cubicBezTo>
                    <a:pt x="3" y="110"/>
                    <a:pt x="5" y="116"/>
                    <a:pt x="7" y="121"/>
                  </a:cubicBezTo>
                  <a:cubicBezTo>
                    <a:pt x="9" y="126"/>
                    <a:pt x="12" y="131"/>
                    <a:pt x="15" y="136"/>
                  </a:cubicBezTo>
                  <a:cubicBezTo>
                    <a:pt x="18" y="140"/>
                    <a:pt x="22" y="145"/>
                    <a:pt x="26" y="149"/>
                  </a:cubicBezTo>
                  <a:cubicBezTo>
                    <a:pt x="30" y="153"/>
                    <a:pt x="34" y="156"/>
                    <a:pt x="39" y="159"/>
                  </a:cubicBezTo>
                  <a:cubicBezTo>
                    <a:pt x="43" y="163"/>
                    <a:pt x="48" y="165"/>
                    <a:pt x="53" y="167"/>
                  </a:cubicBezTo>
                  <a:cubicBezTo>
                    <a:pt x="59" y="170"/>
                    <a:pt x="64" y="171"/>
                    <a:pt x="70" y="173"/>
                  </a:cubicBezTo>
                  <a:cubicBezTo>
                    <a:pt x="76" y="174"/>
                    <a:pt x="82" y="174"/>
                    <a:pt x="87" y="174"/>
                  </a:cubicBezTo>
                  <a:cubicBezTo>
                    <a:pt x="93" y="174"/>
                    <a:pt x="99" y="174"/>
                    <a:pt x="105" y="173"/>
                  </a:cubicBezTo>
                  <a:cubicBezTo>
                    <a:pt x="111" y="171"/>
                    <a:pt x="116" y="170"/>
                    <a:pt x="121" y="167"/>
                  </a:cubicBezTo>
                  <a:cubicBezTo>
                    <a:pt x="127" y="165"/>
                    <a:pt x="132" y="163"/>
                    <a:pt x="136" y="159"/>
                  </a:cubicBezTo>
                  <a:cubicBezTo>
                    <a:pt x="141" y="156"/>
                    <a:pt x="145" y="153"/>
                    <a:pt x="149" y="149"/>
                  </a:cubicBezTo>
                  <a:cubicBezTo>
                    <a:pt x="153" y="145"/>
                    <a:pt x="157" y="140"/>
                    <a:pt x="160" y="136"/>
                  </a:cubicBezTo>
                  <a:cubicBezTo>
                    <a:pt x="163" y="131"/>
                    <a:pt x="166" y="126"/>
                    <a:pt x="168" y="121"/>
                  </a:cubicBezTo>
                  <a:cubicBezTo>
                    <a:pt x="170" y="116"/>
                    <a:pt x="172" y="110"/>
                    <a:pt x="173" y="105"/>
                  </a:cubicBezTo>
                  <a:cubicBezTo>
                    <a:pt x="174" y="99"/>
                    <a:pt x="175" y="93"/>
                    <a:pt x="175" y="87"/>
                  </a:cubicBezTo>
                  <a:cubicBezTo>
                    <a:pt x="175" y="81"/>
                    <a:pt x="174" y="75"/>
                    <a:pt x="173" y="69"/>
                  </a:cubicBezTo>
                  <a:close/>
                  <a:moveTo>
                    <a:pt x="162" y="86"/>
                  </a:moveTo>
                  <a:cubicBezTo>
                    <a:pt x="161" y="86"/>
                    <a:pt x="136" y="81"/>
                    <a:pt x="110" y="84"/>
                  </a:cubicBezTo>
                  <a:cubicBezTo>
                    <a:pt x="110" y="82"/>
                    <a:pt x="109" y="81"/>
                    <a:pt x="108" y="80"/>
                  </a:cubicBezTo>
                  <a:cubicBezTo>
                    <a:pt x="107" y="76"/>
                    <a:pt x="105" y="73"/>
                    <a:pt x="104" y="69"/>
                  </a:cubicBezTo>
                  <a:cubicBezTo>
                    <a:pt x="133" y="57"/>
                    <a:pt x="145" y="40"/>
                    <a:pt x="145" y="40"/>
                  </a:cubicBezTo>
                  <a:cubicBezTo>
                    <a:pt x="156" y="52"/>
                    <a:pt x="162" y="68"/>
                    <a:pt x="162" y="86"/>
                  </a:cubicBezTo>
                  <a:close/>
                  <a:moveTo>
                    <a:pt x="137" y="31"/>
                  </a:moveTo>
                  <a:cubicBezTo>
                    <a:pt x="137" y="31"/>
                    <a:pt x="126" y="47"/>
                    <a:pt x="98" y="58"/>
                  </a:cubicBezTo>
                  <a:cubicBezTo>
                    <a:pt x="85" y="35"/>
                    <a:pt x="71" y="16"/>
                    <a:pt x="70" y="14"/>
                  </a:cubicBezTo>
                  <a:cubicBezTo>
                    <a:pt x="76" y="13"/>
                    <a:pt x="81" y="12"/>
                    <a:pt x="87" y="12"/>
                  </a:cubicBezTo>
                  <a:cubicBezTo>
                    <a:pt x="106" y="12"/>
                    <a:pt x="124" y="19"/>
                    <a:pt x="137" y="31"/>
                  </a:cubicBezTo>
                  <a:close/>
                  <a:moveTo>
                    <a:pt x="70" y="14"/>
                  </a:move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9" y="15"/>
                    <a:pt x="69" y="15"/>
                  </a:cubicBezTo>
                  <a:cubicBezTo>
                    <a:pt x="69" y="15"/>
                    <a:pt x="70" y="15"/>
                    <a:pt x="70" y="14"/>
                  </a:cubicBezTo>
                  <a:close/>
                  <a:moveTo>
                    <a:pt x="56" y="19"/>
                  </a:moveTo>
                  <a:cubicBezTo>
                    <a:pt x="57" y="21"/>
                    <a:pt x="70" y="39"/>
                    <a:pt x="83" y="62"/>
                  </a:cubicBezTo>
                  <a:cubicBezTo>
                    <a:pt x="47" y="72"/>
                    <a:pt x="16" y="72"/>
                    <a:pt x="14" y="72"/>
                  </a:cubicBezTo>
                  <a:cubicBezTo>
                    <a:pt x="19" y="48"/>
                    <a:pt x="35" y="29"/>
                    <a:pt x="56" y="19"/>
                  </a:cubicBezTo>
                  <a:close/>
                  <a:moveTo>
                    <a:pt x="13" y="87"/>
                  </a:moveTo>
                  <a:cubicBezTo>
                    <a:pt x="13" y="86"/>
                    <a:pt x="13" y="85"/>
                    <a:pt x="13" y="85"/>
                  </a:cubicBezTo>
                  <a:cubicBezTo>
                    <a:pt x="14" y="85"/>
                    <a:pt x="51" y="85"/>
                    <a:pt x="90" y="74"/>
                  </a:cubicBezTo>
                  <a:cubicBezTo>
                    <a:pt x="92" y="78"/>
                    <a:pt x="94" y="82"/>
                    <a:pt x="96" y="87"/>
                  </a:cubicBezTo>
                  <a:cubicBezTo>
                    <a:pt x="95" y="87"/>
                    <a:pt x="94" y="87"/>
                    <a:pt x="93" y="88"/>
                  </a:cubicBezTo>
                  <a:cubicBezTo>
                    <a:pt x="52" y="101"/>
                    <a:pt x="32" y="137"/>
                    <a:pt x="32" y="137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20" y="124"/>
                    <a:pt x="13" y="106"/>
                    <a:pt x="13" y="87"/>
                  </a:cubicBezTo>
                  <a:close/>
                  <a:moveTo>
                    <a:pt x="87" y="162"/>
                  </a:moveTo>
                  <a:cubicBezTo>
                    <a:pt x="69" y="162"/>
                    <a:pt x="53" y="155"/>
                    <a:pt x="40" y="144"/>
                  </a:cubicBezTo>
                  <a:cubicBezTo>
                    <a:pt x="41" y="145"/>
                    <a:pt x="42" y="146"/>
                    <a:pt x="42" y="146"/>
                  </a:cubicBezTo>
                  <a:cubicBezTo>
                    <a:pt x="42" y="146"/>
                    <a:pt x="56" y="115"/>
                    <a:pt x="100" y="99"/>
                  </a:cubicBezTo>
                  <a:cubicBezTo>
                    <a:pt x="100" y="99"/>
                    <a:pt x="100" y="99"/>
                    <a:pt x="101" y="99"/>
                  </a:cubicBezTo>
                  <a:cubicBezTo>
                    <a:pt x="111" y="126"/>
                    <a:pt x="115" y="149"/>
                    <a:pt x="117" y="156"/>
                  </a:cubicBezTo>
                  <a:cubicBezTo>
                    <a:pt x="108" y="159"/>
                    <a:pt x="98" y="162"/>
                    <a:pt x="87" y="162"/>
                  </a:cubicBezTo>
                  <a:close/>
                  <a:moveTo>
                    <a:pt x="129" y="149"/>
                  </a:moveTo>
                  <a:cubicBezTo>
                    <a:pt x="128" y="144"/>
                    <a:pt x="124" y="122"/>
                    <a:pt x="115" y="96"/>
                  </a:cubicBezTo>
                  <a:cubicBezTo>
                    <a:pt x="139" y="92"/>
                    <a:pt x="160" y="98"/>
                    <a:pt x="161" y="99"/>
                  </a:cubicBezTo>
                  <a:cubicBezTo>
                    <a:pt x="158" y="120"/>
                    <a:pt x="146" y="138"/>
                    <a:pt x="129" y="1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B46AD0D7-CD9D-45D3-82D6-4FFBB0127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160" y="9996274"/>
              <a:ext cx="1532193" cy="1524567"/>
            </a:xfrm>
            <a:custGeom>
              <a:avLst/>
              <a:gdLst>
                <a:gd name="T0" fmla="*/ 114 w 228"/>
                <a:gd name="T1" fmla="*/ 0 h 227"/>
                <a:gd name="T2" fmla="*/ 0 w 228"/>
                <a:gd name="T3" fmla="*/ 114 h 227"/>
                <a:gd name="T4" fmla="*/ 68 w 228"/>
                <a:gd name="T5" fmla="*/ 218 h 227"/>
                <a:gd name="T6" fmla="*/ 70 w 228"/>
                <a:gd name="T7" fmla="*/ 192 h 227"/>
                <a:gd name="T8" fmla="*/ 85 w 228"/>
                <a:gd name="T9" fmla="*/ 130 h 227"/>
                <a:gd name="T10" fmla="*/ 81 w 228"/>
                <a:gd name="T11" fmla="*/ 112 h 227"/>
                <a:gd name="T12" fmla="*/ 103 w 228"/>
                <a:gd name="T13" fmla="*/ 82 h 227"/>
                <a:gd name="T14" fmla="*/ 119 w 228"/>
                <a:gd name="T15" fmla="*/ 99 h 227"/>
                <a:gd name="T16" fmla="*/ 109 w 228"/>
                <a:gd name="T17" fmla="*/ 140 h 227"/>
                <a:gd name="T18" fmla="*/ 127 w 228"/>
                <a:gd name="T19" fmla="*/ 162 h 227"/>
                <a:gd name="T20" fmla="*/ 163 w 228"/>
                <a:gd name="T21" fmla="*/ 101 h 227"/>
                <a:gd name="T22" fmla="*/ 115 w 228"/>
                <a:gd name="T23" fmla="*/ 57 h 227"/>
                <a:gd name="T24" fmla="*/ 59 w 228"/>
                <a:gd name="T25" fmla="*/ 112 h 227"/>
                <a:gd name="T26" fmla="*/ 67 w 228"/>
                <a:gd name="T27" fmla="*/ 134 h 227"/>
                <a:gd name="T28" fmla="*/ 68 w 228"/>
                <a:gd name="T29" fmla="*/ 141 h 227"/>
                <a:gd name="T30" fmla="*/ 66 w 228"/>
                <a:gd name="T31" fmla="*/ 150 h 227"/>
                <a:gd name="T32" fmla="*/ 60 w 228"/>
                <a:gd name="T33" fmla="*/ 153 h 227"/>
                <a:gd name="T34" fmla="*/ 37 w 228"/>
                <a:gd name="T35" fmla="*/ 109 h 227"/>
                <a:gd name="T36" fmla="*/ 118 w 228"/>
                <a:gd name="T37" fmla="*/ 38 h 227"/>
                <a:gd name="T38" fmla="*/ 191 w 228"/>
                <a:gd name="T39" fmla="*/ 103 h 227"/>
                <a:gd name="T40" fmla="*/ 129 w 228"/>
                <a:gd name="T41" fmla="*/ 181 h 227"/>
                <a:gd name="T42" fmla="*/ 101 w 228"/>
                <a:gd name="T43" fmla="*/ 167 h 227"/>
                <a:gd name="T44" fmla="*/ 93 w 228"/>
                <a:gd name="T45" fmla="*/ 198 h 227"/>
                <a:gd name="T46" fmla="*/ 82 w 228"/>
                <a:gd name="T47" fmla="*/ 223 h 227"/>
                <a:gd name="T48" fmla="*/ 114 w 228"/>
                <a:gd name="T49" fmla="*/ 227 h 227"/>
                <a:gd name="T50" fmla="*/ 228 w 228"/>
                <a:gd name="T51" fmla="*/ 114 h 227"/>
                <a:gd name="T52" fmla="*/ 114 w 228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8" h="227"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60"/>
                    <a:pt x="28" y="200"/>
                    <a:pt x="68" y="218"/>
                  </a:cubicBezTo>
                  <a:cubicBezTo>
                    <a:pt x="68" y="210"/>
                    <a:pt x="68" y="200"/>
                    <a:pt x="70" y="192"/>
                  </a:cubicBezTo>
                  <a:cubicBezTo>
                    <a:pt x="73" y="183"/>
                    <a:pt x="85" y="130"/>
                    <a:pt x="85" y="130"/>
                  </a:cubicBezTo>
                  <a:cubicBezTo>
                    <a:pt x="85" y="130"/>
                    <a:pt x="81" y="122"/>
                    <a:pt x="81" y="112"/>
                  </a:cubicBezTo>
                  <a:cubicBezTo>
                    <a:pt x="81" y="95"/>
                    <a:pt x="91" y="82"/>
                    <a:pt x="103" y="82"/>
                  </a:cubicBezTo>
                  <a:cubicBezTo>
                    <a:pt x="114" y="82"/>
                    <a:pt x="119" y="90"/>
                    <a:pt x="119" y="99"/>
                  </a:cubicBezTo>
                  <a:cubicBezTo>
                    <a:pt x="119" y="110"/>
                    <a:pt x="112" y="125"/>
                    <a:pt x="109" y="140"/>
                  </a:cubicBezTo>
                  <a:cubicBezTo>
                    <a:pt x="106" y="152"/>
                    <a:pt x="115" y="162"/>
                    <a:pt x="127" y="162"/>
                  </a:cubicBezTo>
                  <a:cubicBezTo>
                    <a:pt x="148" y="162"/>
                    <a:pt x="163" y="134"/>
                    <a:pt x="163" y="101"/>
                  </a:cubicBezTo>
                  <a:cubicBezTo>
                    <a:pt x="163" y="76"/>
                    <a:pt x="146" y="57"/>
                    <a:pt x="115" y="57"/>
                  </a:cubicBezTo>
                  <a:cubicBezTo>
                    <a:pt x="81" y="57"/>
                    <a:pt x="59" y="83"/>
                    <a:pt x="59" y="112"/>
                  </a:cubicBezTo>
                  <a:cubicBezTo>
                    <a:pt x="59" y="122"/>
                    <a:pt x="62" y="129"/>
                    <a:pt x="67" y="134"/>
                  </a:cubicBezTo>
                  <a:cubicBezTo>
                    <a:pt x="69" y="137"/>
                    <a:pt x="69" y="138"/>
                    <a:pt x="68" y="141"/>
                  </a:cubicBezTo>
                  <a:cubicBezTo>
                    <a:pt x="68" y="143"/>
                    <a:pt x="67" y="148"/>
                    <a:pt x="66" y="150"/>
                  </a:cubicBezTo>
                  <a:cubicBezTo>
                    <a:pt x="65" y="153"/>
                    <a:pt x="63" y="154"/>
                    <a:pt x="60" y="153"/>
                  </a:cubicBezTo>
                  <a:cubicBezTo>
                    <a:pt x="44" y="146"/>
                    <a:pt x="37" y="129"/>
                    <a:pt x="37" y="109"/>
                  </a:cubicBezTo>
                  <a:cubicBezTo>
                    <a:pt x="37" y="77"/>
                    <a:pt x="64" y="38"/>
                    <a:pt x="118" y="38"/>
                  </a:cubicBezTo>
                  <a:cubicBezTo>
                    <a:pt x="162" y="38"/>
                    <a:pt x="191" y="70"/>
                    <a:pt x="191" y="103"/>
                  </a:cubicBezTo>
                  <a:cubicBezTo>
                    <a:pt x="191" y="148"/>
                    <a:pt x="166" y="181"/>
                    <a:pt x="129" y="181"/>
                  </a:cubicBezTo>
                  <a:cubicBezTo>
                    <a:pt x="117" y="181"/>
                    <a:pt x="105" y="175"/>
                    <a:pt x="101" y="167"/>
                  </a:cubicBezTo>
                  <a:cubicBezTo>
                    <a:pt x="101" y="167"/>
                    <a:pt x="95" y="193"/>
                    <a:pt x="93" y="198"/>
                  </a:cubicBezTo>
                  <a:cubicBezTo>
                    <a:pt x="91" y="207"/>
                    <a:pt x="86" y="216"/>
                    <a:pt x="82" y="223"/>
                  </a:cubicBezTo>
                  <a:cubicBezTo>
                    <a:pt x="92" y="226"/>
                    <a:pt x="103" y="227"/>
                    <a:pt x="114" y="227"/>
                  </a:cubicBezTo>
                  <a:cubicBezTo>
                    <a:pt x="177" y="227"/>
                    <a:pt x="228" y="176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9084FEF8-A3D3-493F-B650-9722B2D37E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43697" y="6241518"/>
              <a:ext cx="1369571" cy="1367030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B59BE69-8311-429A-BA85-DC51EB181615}"/>
                </a:ext>
              </a:extLst>
            </p:cNvPr>
            <p:cNvGrpSpPr/>
            <p:nvPr/>
          </p:nvGrpSpPr>
          <p:grpSpPr>
            <a:xfrm>
              <a:off x="12499084" y="3707203"/>
              <a:ext cx="1234901" cy="1148508"/>
              <a:chOff x="3338513" y="696913"/>
              <a:chExt cx="771525" cy="717550"/>
            </a:xfrm>
            <a:solidFill>
              <a:schemeClr val="accent2"/>
            </a:solidFill>
          </p:grpSpPr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391E9A50-F1AF-4AD7-89FA-C4FABAE53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163" y="696913"/>
                <a:ext cx="523875" cy="717550"/>
              </a:xfrm>
              <a:custGeom>
                <a:avLst/>
                <a:gdLst>
                  <a:gd name="T0" fmla="*/ 115 w 125"/>
                  <a:gd name="T1" fmla="*/ 63 h 171"/>
                  <a:gd name="T2" fmla="*/ 69 w 125"/>
                  <a:gd name="T3" fmla="*/ 63 h 171"/>
                  <a:gd name="T4" fmla="*/ 85 w 125"/>
                  <a:gd name="T5" fmla="*/ 32 h 171"/>
                  <a:gd name="T6" fmla="*/ 74 w 125"/>
                  <a:gd name="T7" fmla="*/ 0 h 171"/>
                  <a:gd name="T8" fmla="*/ 61 w 125"/>
                  <a:gd name="T9" fmla="*/ 21 h 171"/>
                  <a:gd name="T10" fmla="*/ 37 w 125"/>
                  <a:gd name="T11" fmla="*/ 53 h 171"/>
                  <a:gd name="T12" fmla="*/ 0 w 125"/>
                  <a:gd name="T13" fmla="*/ 70 h 171"/>
                  <a:gd name="T14" fmla="*/ 0 w 125"/>
                  <a:gd name="T15" fmla="*/ 71 h 171"/>
                  <a:gd name="T16" fmla="*/ 0 w 125"/>
                  <a:gd name="T17" fmla="*/ 148 h 171"/>
                  <a:gd name="T18" fmla="*/ 26 w 125"/>
                  <a:gd name="T19" fmla="*/ 155 h 171"/>
                  <a:gd name="T20" fmla="*/ 76 w 125"/>
                  <a:gd name="T21" fmla="*/ 171 h 171"/>
                  <a:gd name="T22" fmla="*/ 91 w 125"/>
                  <a:gd name="T23" fmla="*/ 147 h 171"/>
                  <a:gd name="T24" fmla="*/ 103 w 125"/>
                  <a:gd name="T25" fmla="*/ 121 h 171"/>
                  <a:gd name="T26" fmla="*/ 107 w 125"/>
                  <a:gd name="T27" fmla="*/ 91 h 171"/>
                  <a:gd name="T28" fmla="*/ 115 w 125"/>
                  <a:gd name="T29" fmla="*/ 6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5" h="171">
                    <a:moveTo>
                      <a:pt x="115" y="63"/>
                    </a:moveTo>
                    <a:cubicBezTo>
                      <a:pt x="105" y="57"/>
                      <a:pt x="69" y="63"/>
                      <a:pt x="69" y="63"/>
                    </a:cubicBezTo>
                    <a:cubicBezTo>
                      <a:pt x="75" y="59"/>
                      <a:pt x="85" y="38"/>
                      <a:pt x="85" y="32"/>
                    </a:cubicBezTo>
                    <a:cubicBezTo>
                      <a:pt x="86" y="19"/>
                      <a:pt x="83" y="0"/>
                      <a:pt x="74" y="0"/>
                    </a:cubicBezTo>
                    <a:cubicBezTo>
                      <a:pt x="64" y="0"/>
                      <a:pt x="62" y="16"/>
                      <a:pt x="61" y="21"/>
                    </a:cubicBezTo>
                    <a:cubicBezTo>
                      <a:pt x="59" y="35"/>
                      <a:pt x="46" y="48"/>
                      <a:pt x="37" y="53"/>
                    </a:cubicBezTo>
                    <a:cubicBezTo>
                      <a:pt x="25" y="60"/>
                      <a:pt x="16" y="66"/>
                      <a:pt x="0" y="70"/>
                    </a:cubicBezTo>
                    <a:cubicBezTo>
                      <a:pt x="0" y="70"/>
                      <a:pt x="0" y="71"/>
                      <a:pt x="0" y="71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9" y="148"/>
                      <a:pt x="18" y="150"/>
                      <a:pt x="26" y="155"/>
                    </a:cubicBezTo>
                    <a:cubicBezTo>
                      <a:pt x="43" y="164"/>
                      <a:pt x="56" y="171"/>
                      <a:pt x="76" y="171"/>
                    </a:cubicBezTo>
                    <a:cubicBezTo>
                      <a:pt x="106" y="171"/>
                      <a:pt x="103" y="148"/>
                      <a:pt x="91" y="147"/>
                    </a:cubicBezTo>
                    <a:cubicBezTo>
                      <a:pt x="115" y="148"/>
                      <a:pt x="117" y="128"/>
                      <a:pt x="103" y="121"/>
                    </a:cubicBezTo>
                    <a:cubicBezTo>
                      <a:pt x="125" y="121"/>
                      <a:pt x="122" y="93"/>
                      <a:pt x="107" y="91"/>
                    </a:cubicBezTo>
                    <a:cubicBezTo>
                      <a:pt x="124" y="92"/>
                      <a:pt x="125" y="70"/>
                      <a:pt x="115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  <p:sp>
            <p:nvSpPr>
              <p:cNvPr id="43" name="Rectangle 24">
                <a:extLst>
                  <a:ext uri="{FF2B5EF4-FFF2-40B4-BE49-F238E27FC236}">
                    <a16:creationId xmlns:a16="http://schemas.microsoft.com/office/drawing/2014/main" id="{F2068FF1-0111-4A78-8015-9163AF779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8513" y="960438"/>
                <a:ext cx="163513" cy="390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A21DA5E-C958-43A1-BAF8-24E8DCF6611F}"/>
                </a:ext>
              </a:extLst>
            </p:cNvPr>
            <p:cNvGrpSpPr/>
            <p:nvPr/>
          </p:nvGrpSpPr>
          <p:grpSpPr>
            <a:xfrm>
              <a:off x="10514397" y="5168145"/>
              <a:ext cx="1644531" cy="1540144"/>
              <a:chOff x="544513" y="3295650"/>
              <a:chExt cx="1325563" cy="1241425"/>
            </a:xfrm>
            <a:solidFill>
              <a:schemeClr val="accent2"/>
            </a:solidFill>
          </p:grpSpPr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D73A1503-EF3C-4863-9766-435B352A61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2151" y="3351213"/>
                <a:ext cx="1077913" cy="1185862"/>
              </a:xfrm>
              <a:custGeom>
                <a:avLst/>
                <a:gdLst>
                  <a:gd name="T0" fmla="*/ 55 w 257"/>
                  <a:gd name="T1" fmla="*/ 128 h 283"/>
                  <a:gd name="T2" fmla="*/ 49 w 257"/>
                  <a:gd name="T3" fmla="*/ 128 h 283"/>
                  <a:gd name="T4" fmla="*/ 43 w 257"/>
                  <a:gd name="T5" fmla="*/ 129 h 283"/>
                  <a:gd name="T6" fmla="*/ 36 w 257"/>
                  <a:gd name="T7" fmla="*/ 133 h 283"/>
                  <a:gd name="T8" fmla="*/ 9 w 257"/>
                  <a:gd name="T9" fmla="*/ 145 h 283"/>
                  <a:gd name="T10" fmla="*/ 4 w 257"/>
                  <a:gd name="T11" fmla="*/ 167 h 283"/>
                  <a:gd name="T12" fmla="*/ 26 w 257"/>
                  <a:gd name="T13" fmla="*/ 218 h 283"/>
                  <a:gd name="T14" fmla="*/ 46 w 257"/>
                  <a:gd name="T15" fmla="*/ 229 h 283"/>
                  <a:gd name="T16" fmla="*/ 61 w 257"/>
                  <a:gd name="T17" fmla="*/ 223 h 283"/>
                  <a:gd name="T18" fmla="*/ 73 w 257"/>
                  <a:gd name="T19" fmla="*/ 243 h 283"/>
                  <a:gd name="T20" fmla="*/ 77 w 257"/>
                  <a:gd name="T21" fmla="*/ 240 h 283"/>
                  <a:gd name="T22" fmla="*/ 106 w 257"/>
                  <a:gd name="T23" fmla="*/ 273 h 283"/>
                  <a:gd name="T24" fmla="*/ 139 w 257"/>
                  <a:gd name="T25" fmla="*/ 275 h 283"/>
                  <a:gd name="T26" fmla="*/ 141 w 257"/>
                  <a:gd name="T27" fmla="*/ 242 h 283"/>
                  <a:gd name="T28" fmla="*/ 138 w 257"/>
                  <a:gd name="T29" fmla="*/ 239 h 283"/>
                  <a:gd name="T30" fmla="*/ 138 w 257"/>
                  <a:gd name="T31" fmla="*/ 239 h 283"/>
                  <a:gd name="T32" fmla="*/ 112 w 257"/>
                  <a:gd name="T33" fmla="*/ 209 h 283"/>
                  <a:gd name="T34" fmla="*/ 128 w 257"/>
                  <a:gd name="T35" fmla="*/ 194 h 283"/>
                  <a:gd name="T36" fmla="*/ 131 w 257"/>
                  <a:gd name="T37" fmla="*/ 193 h 283"/>
                  <a:gd name="T38" fmla="*/ 257 w 257"/>
                  <a:gd name="T39" fmla="*/ 188 h 283"/>
                  <a:gd name="T40" fmla="*/ 174 w 257"/>
                  <a:gd name="T41" fmla="*/ 0 h 283"/>
                  <a:gd name="T42" fmla="*/ 55 w 257"/>
                  <a:gd name="T43" fmla="*/ 128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57" h="283">
                    <a:moveTo>
                      <a:pt x="55" y="128"/>
                    </a:moveTo>
                    <a:cubicBezTo>
                      <a:pt x="53" y="127"/>
                      <a:pt x="51" y="127"/>
                      <a:pt x="49" y="128"/>
                    </a:cubicBezTo>
                    <a:cubicBezTo>
                      <a:pt x="47" y="128"/>
                      <a:pt x="45" y="128"/>
                      <a:pt x="43" y="129"/>
                    </a:cubicBezTo>
                    <a:cubicBezTo>
                      <a:pt x="41" y="130"/>
                      <a:pt x="38" y="131"/>
                      <a:pt x="36" y="133"/>
                    </a:cubicBezTo>
                    <a:cubicBezTo>
                      <a:pt x="9" y="145"/>
                      <a:pt x="9" y="145"/>
                      <a:pt x="9" y="145"/>
                    </a:cubicBezTo>
                    <a:cubicBezTo>
                      <a:pt x="2" y="148"/>
                      <a:pt x="0" y="158"/>
                      <a:pt x="4" y="167"/>
                    </a:cubicBezTo>
                    <a:cubicBezTo>
                      <a:pt x="26" y="218"/>
                      <a:pt x="26" y="218"/>
                      <a:pt x="26" y="218"/>
                    </a:cubicBezTo>
                    <a:cubicBezTo>
                      <a:pt x="30" y="227"/>
                      <a:pt x="39" y="232"/>
                      <a:pt x="46" y="229"/>
                    </a:cubicBezTo>
                    <a:cubicBezTo>
                      <a:pt x="61" y="223"/>
                      <a:pt x="61" y="223"/>
                      <a:pt x="61" y="223"/>
                    </a:cubicBezTo>
                    <a:cubicBezTo>
                      <a:pt x="73" y="243"/>
                      <a:pt x="73" y="243"/>
                      <a:pt x="73" y="243"/>
                    </a:cubicBezTo>
                    <a:cubicBezTo>
                      <a:pt x="77" y="240"/>
                      <a:pt x="77" y="240"/>
                      <a:pt x="77" y="240"/>
                    </a:cubicBezTo>
                    <a:cubicBezTo>
                      <a:pt x="106" y="273"/>
                      <a:pt x="106" y="273"/>
                      <a:pt x="106" y="273"/>
                    </a:cubicBezTo>
                    <a:cubicBezTo>
                      <a:pt x="115" y="282"/>
                      <a:pt x="129" y="283"/>
                      <a:pt x="139" y="275"/>
                    </a:cubicBezTo>
                    <a:cubicBezTo>
                      <a:pt x="149" y="266"/>
                      <a:pt x="149" y="251"/>
                      <a:pt x="141" y="242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12" y="209"/>
                      <a:pt x="112" y="209"/>
                      <a:pt x="112" y="209"/>
                    </a:cubicBezTo>
                    <a:cubicBezTo>
                      <a:pt x="128" y="194"/>
                      <a:pt x="128" y="194"/>
                      <a:pt x="128" y="194"/>
                    </a:cubicBezTo>
                    <a:cubicBezTo>
                      <a:pt x="129" y="194"/>
                      <a:pt x="130" y="193"/>
                      <a:pt x="131" y="193"/>
                    </a:cubicBezTo>
                    <a:cubicBezTo>
                      <a:pt x="197" y="178"/>
                      <a:pt x="257" y="188"/>
                      <a:pt x="257" y="188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61" y="54"/>
                      <a:pt x="86" y="108"/>
                      <a:pt x="55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B879421B-838B-435F-97E2-7B1CDFF1B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6213" y="3295650"/>
                <a:ext cx="423863" cy="865187"/>
              </a:xfrm>
              <a:custGeom>
                <a:avLst/>
                <a:gdLst>
                  <a:gd name="T0" fmla="*/ 0 w 267"/>
                  <a:gd name="T1" fmla="*/ 16 h 545"/>
                  <a:gd name="T2" fmla="*/ 233 w 267"/>
                  <a:gd name="T3" fmla="*/ 545 h 545"/>
                  <a:gd name="T4" fmla="*/ 267 w 267"/>
                  <a:gd name="T5" fmla="*/ 531 h 545"/>
                  <a:gd name="T6" fmla="*/ 32 w 267"/>
                  <a:gd name="T7" fmla="*/ 0 h 545"/>
                  <a:gd name="T8" fmla="*/ 0 w 267"/>
                  <a:gd name="T9" fmla="*/ 16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" h="545">
                    <a:moveTo>
                      <a:pt x="0" y="16"/>
                    </a:moveTo>
                    <a:lnTo>
                      <a:pt x="233" y="545"/>
                    </a:lnTo>
                    <a:lnTo>
                      <a:pt x="267" y="531"/>
                    </a:lnTo>
                    <a:lnTo>
                      <a:pt x="32" y="0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BFAB415-563B-4F3F-99E0-D78171340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513" y="4021138"/>
                <a:ext cx="257175" cy="339725"/>
              </a:xfrm>
              <a:custGeom>
                <a:avLst/>
                <a:gdLst>
                  <a:gd name="T0" fmla="*/ 30 w 61"/>
                  <a:gd name="T1" fmla="*/ 10 h 81"/>
                  <a:gd name="T2" fmla="*/ 28 w 61"/>
                  <a:gd name="T3" fmla="*/ 0 h 81"/>
                  <a:gd name="T4" fmla="*/ 17 w 61"/>
                  <a:gd name="T5" fmla="*/ 5 h 81"/>
                  <a:gd name="T6" fmla="*/ 1 w 61"/>
                  <a:gd name="T7" fmla="*/ 32 h 81"/>
                  <a:gd name="T8" fmla="*/ 15 w 61"/>
                  <a:gd name="T9" fmla="*/ 26 h 81"/>
                  <a:gd name="T10" fmla="*/ 21 w 61"/>
                  <a:gd name="T11" fmla="*/ 28 h 81"/>
                  <a:gd name="T12" fmla="*/ 21 w 61"/>
                  <a:gd name="T13" fmla="*/ 29 h 81"/>
                  <a:gd name="T14" fmla="*/ 22 w 61"/>
                  <a:gd name="T15" fmla="*/ 29 h 81"/>
                  <a:gd name="T16" fmla="*/ 19 w 61"/>
                  <a:gd name="T17" fmla="*/ 35 h 81"/>
                  <a:gd name="T18" fmla="*/ 4 w 61"/>
                  <a:gd name="T19" fmla="*/ 42 h 81"/>
                  <a:gd name="T20" fmla="*/ 6 w 61"/>
                  <a:gd name="T21" fmla="*/ 47 h 81"/>
                  <a:gd name="T22" fmla="*/ 21 w 61"/>
                  <a:gd name="T23" fmla="*/ 40 h 81"/>
                  <a:gd name="T24" fmla="*/ 27 w 61"/>
                  <a:gd name="T25" fmla="*/ 42 h 81"/>
                  <a:gd name="T26" fmla="*/ 28 w 61"/>
                  <a:gd name="T27" fmla="*/ 43 h 81"/>
                  <a:gd name="T28" fmla="*/ 28 w 61"/>
                  <a:gd name="T29" fmla="*/ 43 h 81"/>
                  <a:gd name="T30" fmla="*/ 25 w 61"/>
                  <a:gd name="T31" fmla="*/ 49 h 81"/>
                  <a:gd name="T32" fmla="*/ 10 w 61"/>
                  <a:gd name="T33" fmla="*/ 56 h 81"/>
                  <a:gd name="T34" fmla="*/ 12 w 61"/>
                  <a:gd name="T35" fmla="*/ 61 h 81"/>
                  <a:gd name="T36" fmla="*/ 28 w 61"/>
                  <a:gd name="T37" fmla="*/ 54 h 81"/>
                  <a:gd name="T38" fmla="*/ 34 w 61"/>
                  <a:gd name="T39" fmla="*/ 56 h 81"/>
                  <a:gd name="T40" fmla="*/ 34 w 61"/>
                  <a:gd name="T41" fmla="*/ 56 h 81"/>
                  <a:gd name="T42" fmla="*/ 34 w 61"/>
                  <a:gd name="T43" fmla="*/ 57 h 81"/>
                  <a:gd name="T44" fmla="*/ 31 w 61"/>
                  <a:gd name="T45" fmla="*/ 63 h 81"/>
                  <a:gd name="T46" fmla="*/ 17 w 61"/>
                  <a:gd name="T47" fmla="*/ 69 h 81"/>
                  <a:gd name="T48" fmla="*/ 48 w 61"/>
                  <a:gd name="T49" fmla="*/ 76 h 81"/>
                  <a:gd name="T50" fmla="*/ 61 w 61"/>
                  <a:gd name="T51" fmla="*/ 71 h 81"/>
                  <a:gd name="T52" fmla="*/ 53 w 61"/>
                  <a:gd name="T53" fmla="*/ 61 h 81"/>
                  <a:gd name="T54" fmla="*/ 30 w 61"/>
                  <a:gd name="T55" fmla="*/ 1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1" h="81">
                    <a:moveTo>
                      <a:pt x="30" y="10"/>
                    </a:moveTo>
                    <a:cubicBezTo>
                      <a:pt x="29" y="6"/>
                      <a:pt x="28" y="3"/>
                      <a:pt x="28" y="0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6" y="10"/>
                      <a:pt x="0" y="21"/>
                      <a:pt x="1" y="32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8" y="25"/>
                      <a:pt x="20" y="26"/>
                      <a:pt x="21" y="28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2" y="29"/>
                      <a:pt x="22" y="29"/>
                    </a:cubicBezTo>
                    <a:cubicBezTo>
                      <a:pt x="23" y="31"/>
                      <a:pt x="22" y="34"/>
                      <a:pt x="19" y="35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4" y="39"/>
                      <a:pt x="26" y="40"/>
                      <a:pt x="27" y="42"/>
                    </a:cubicBezTo>
                    <a:cubicBezTo>
                      <a:pt x="27" y="42"/>
                      <a:pt x="27" y="43"/>
                      <a:pt x="28" y="43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29" y="45"/>
                      <a:pt x="28" y="48"/>
                      <a:pt x="25" y="49"/>
                    </a:cubicBezTo>
                    <a:cubicBezTo>
                      <a:pt x="10" y="56"/>
                      <a:pt x="10" y="56"/>
                      <a:pt x="10" y="56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28" y="54"/>
                      <a:pt x="28" y="54"/>
                      <a:pt x="28" y="54"/>
                    </a:cubicBezTo>
                    <a:cubicBezTo>
                      <a:pt x="30" y="53"/>
                      <a:pt x="33" y="54"/>
                      <a:pt x="34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35" y="59"/>
                      <a:pt x="34" y="62"/>
                      <a:pt x="31" y="63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24" y="78"/>
                      <a:pt x="37" y="81"/>
                      <a:pt x="48" y="76"/>
                    </a:cubicBezTo>
                    <a:cubicBezTo>
                      <a:pt x="61" y="71"/>
                      <a:pt x="61" y="71"/>
                      <a:pt x="61" y="71"/>
                    </a:cubicBezTo>
                    <a:cubicBezTo>
                      <a:pt x="58" y="68"/>
                      <a:pt x="55" y="65"/>
                      <a:pt x="53" y="61"/>
                    </a:cubicBezTo>
                    <a:lnTo>
                      <a:pt x="30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</p:grpSp>
        <p:sp>
          <p:nvSpPr>
            <p:cNvPr id="48" name="Freeform 52">
              <a:extLst>
                <a:ext uri="{FF2B5EF4-FFF2-40B4-BE49-F238E27FC236}">
                  <a16:creationId xmlns:a16="http://schemas.microsoft.com/office/drawing/2014/main" id="{6CD34924-BCB3-4703-A0C8-0527DBAB0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8986" y="5592586"/>
              <a:ext cx="980806" cy="1181539"/>
            </a:xfrm>
            <a:custGeom>
              <a:avLst/>
              <a:gdLst>
                <a:gd name="T0" fmla="*/ 60 w 146"/>
                <a:gd name="T1" fmla="*/ 173 h 176"/>
                <a:gd name="T2" fmla="*/ 40 w 146"/>
                <a:gd name="T3" fmla="*/ 173 h 176"/>
                <a:gd name="T4" fmla="*/ 38 w 146"/>
                <a:gd name="T5" fmla="*/ 172 h 176"/>
                <a:gd name="T6" fmla="*/ 17 w 146"/>
                <a:gd name="T7" fmla="*/ 122 h 176"/>
                <a:gd name="T8" fmla="*/ 40 w 146"/>
                <a:gd name="T9" fmla="*/ 62 h 176"/>
                <a:gd name="T10" fmla="*/ 55 w 146"/>
                <a:gd name="T11" fmla="*/ 24 h 176"/>
                <a:gd name="T12" fmla="*/ 103 w 146"/>
                <a:gd name="T13" fmla="*/ 9 h 176"/>
                <a:gd name="T14" fmla="*/ 141 w 146"/>
                <a:gd name="T15" fmla="*/ 53 h 176"/>
                <a:gd name="T16" fmla="*/ 108 w 146"/>
                <a:gd name="T17" fmla="*/ 142 h 176"/>
                <a:gd name="T18" fmla="*/ 98 w 146"/>
                <a:gd name="T19" fmla="*/ 146 h 176"/>
                <a:gd name="T20" fmla="*/ 94 w 146"/>
                <a:gd name="T21" fmla="*/ 137 h 176"/>
                <a:gd name="T22" fmla="*/ 127 w 146"/>
                <a:gd name="T23" fmla="*/ 49 h 176"/>
                <a:gd name="T24" fmla="*/ 98 w 146"/>
                <a:gd name="T25" fmla="*/ 23 h 176"/>
                <a:gd name="T26" fmla="*/ 69 w 146"/>
                <a:gd name="T27" fmla="*/ 30 h 176"/>
                <a:gd name="T28" fmla="*/ 54 w 146"/>
                <a:gd name="T29" fmla="*/ 67 h 176"/>
                <a:gd name="T30" fmla="*/ 30 w 146"/>
                <a:gd name="T31" fmla="*/ 127 h 176"/>
                <a:gd name="T32" fmla="*/ 44 w 146"/>
                <a:gd name="T33" fmla="*/ 159 h 176"/>
                <a:gd name="T34" fmla="*/ 45 w 146"/>
                <a:gd name="T35" fmla="*/ 159 h 176"/>
                <a:gd name="T36" fmla="*/ 61 w 146"/>
                <a:gd name="T37" fmla="*/ 151 h 176"/>
                <a:gd name="T38" fmla="*/ 67 w 146"/>
                <a:gd name="T39" fmla="*/ 135 h 176"/>
                <a:gd name="T40" fmla="*/ 93 w 146"/>
                <a:gd name="T41" fmla="*/ 68 h 176"/>
                <a:gd name="T42" fmla="*/ 91 w 146"/>
                <a:gd name="T43" fmla="*/ 58 h 176"/>
                <a:gd name="T44" fmla="*/ 82 w 146"/>
                <a:gd name="T45" fmla="*/ 67 h 176"/>
                <a:gd name="T46" fmla="*/ 57 w 146"/>
                <a:gd name="T47" fmla="*/ 130 h 176"/>
                <a:gd name="T48" fmla="*/ 48 w 146"/>
                <a:gd name="T49" fmla="*/ 134 h 176"/>
                <a:gd name="T50" fmla="*/ 44 w 146"/>
                <a:gd name="T51" fmla="*/ 124 h 176"/>
                <a:gd name="T52" fmla="*/ 68 w 146"/>
                <a:gd name="T53" fmla="*/ 62 h 176"/>
                <a:gd name="T54" fmla="*/ 96 w 146"/>
                <a:gd name="T55" fmla="*/ 44 h 176"/>
                <a:gd name="T56" fmla="*/ 107 w 146"/>
                <a:gd name="T57" fmla="*/ 72 h 176"/>
                <a:gd name="T58" fmla="*/ 80 w 146"/>
                <a:gd name="T59" fmla="*/ 141 h 176"/>
                <a:gd name="T60" fmla="*/ 74 w 146"/>
                <a:gd name="T61" fmla="*/ 156 h 176"/>
                <a:gd name="T62" fmla="*/ 60 w 146"/>
                <a:gd name="T63" fmla="*/ 1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6" h="176">
                  <a:moveTo>
                    <a:pt x="60" y="173"/>
                  </a:moveTo>
                  <a:cubicBezTo>
                    <a:pt x="54" y="176"/>
                    <a:pt x="47" y="176"/>
                    <a:pt x="40" y="173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31" y="169"/>
                    <a:pt x="0" y="160"/>
                    <a:pt x="17" y="122"/>
                  </a:cubicBezTo>
                  <a:cubicBezTo>
                    <a:pt x="24" y="106"/>
                    <a:pt x="31" y="84"/>
                    <a:pt x="40" y="62"/>
                  </a:cubicBezTo>
                  <a:cubicBezTo>
                    <a:pt x="45" y="50"/>
                    <a:pt x="50" y="37"/>
                    <a:pt x="55" y="24"/>
                  </a:cubicBezTo>
                  <a:cubicBezTo>
                    <a:pt x="64" y="1"/>
                    <a:pt x="78" y="0"/>
                    <a:pt x="103" y="9"/>
                  </a:cubicBezTo>
                  <a:cubicBezTo>
                    <a:pt x="133" y="20"/>
                    <a:pt x="146" y="39"/>
                    <a:pt x="141" y="53"/>
                  </a:cubicBezTo>
                  <a:cubicBezTo>
                    <a:pt x="135" y="73"/>
                    <a:pt x="109" y="139"/>
                    <a:pt x="108" y="142"/>
                  </a:cubicBezTo>
                  <a:cubicBezTo>
                    <a:pt x="106" y="146"/>
                    <a:pt x="102" y="148"/>
                    <a:pt x="98" y="146"/>
                  </a:cubicBezTo>
                  <a:cubicBezTo>
                    <a:pt x="95" y="145"/>
                    <a:pt x="93" y="141"/>
                    <a:pt x="94" y="137"/>
                  </a:cubicBezTo>
                  <a:cubicBezTo>
                    <a:pt x="94" y="136"/>
                    <a:pt x="121" y="68"/>
                    <a:pt x="127" y="49"/>
                  </a:cubicBezTo>
                  <a:cubicBezTo>
                    <a:pt x="129" y="45"/>
                    <a:pt x="124" y="32"/>
                    <a:pt x="98" y="23"/>
                  </a:cubicBezTo>
                  <a:cubicBezTo>
                    <a:pt x="83" y="17"/>
                    <a:pt x="76" y="10"/>
                    <a:pt x="69" y="30"/>
                  </a:cubicBezTo>
                  <a:cubicBezTo>
                    <a:pt x="64" y="42"/>
                    <a:pt x="59" y="55"/>
                    <a:pt x="54" y="67"/>
                  </a:cubicBezTo>
                  <a:cubicBezTo>
                    <a:pt x="45" y="90"/>
                    <a:pt x="37" y="111"/>
                    <a:pt x="30" y="127"/>
                  </a:cubicBezTo>
                  <a:cubicBezTo>
                    <a:pt x="20" y="152"/>
                    <a:pt x="36" y="155"/>
                    <a:pt x="44" y="159"/>
                  </a:cubicBezTo>
                  <a:cubicBezTo>
                    <a:pt x="45" y="159"/>
                    <a:pt x="45" y="159"/>
                    <a:pt x="45" y="159"/>
                  </a:cubicBezTo>
                  <a:cubicBezTo>
                    <a:pt x="52" y="162"/>
                    <a:pt x="56" y="161"/>
                    <a:pt x="61" y="151"/>
                  </a:cubicBezTo>
                  <a:cubicBezTo>
                    <a:pt x="62" y="148"/>
                    <a:pt x="64" y="142"/>
                    <a:pt x="67" y="135"/>
                  </a:cubicBezTo>
                  <a:cubicBezTo>
                    <a:pt x="75" y="115"/>
                    <a:pt x="91" y="77"/>
                    <a:pt x="93" y="68"/>
                  </a:cubicBezTo>
                  <a:cubicBezTo>
                    <a:pt x="94" y="65"/>
                    <a:pt x="94" y="59"/>
                    <a:pt x="91" y="58"/>
                  </a:cubicBezTo>
                  <a:cubicBezTo>
                    <a:pt x="87" y="56"/>
                    <a:pt x="83" y="65"/>
                    <a:pt x="82" y="67"/>
                  </a:cubicBezTo>
                  <a:cubicBezTo>
                    <a:pt x="72" y="95"/>
                    <a:pt x="58" y="130"/>
                    <a:pt x="57" y="130"/>
                  </a:cubicBezTo>
                  <a:cubicBezTo>
                    <a:pt x="56" y="134"/>
                    <a:pt x="52" y="135"/>
                    <a:pt x="48" y="134"/>
                  </a:cubicBezTo>
                  <a:cubicBezTo>
                    <a:pt x="44" y="132"/>
                    <a:pt x="42" y="128"/>
                    <a:pt x="44" y="124"/>
                  </a:cubicBezTo>
                  <a:cubicBezTo>
                    <a:pt x="44" y="124"/>
                    <a:pt x="58" y="90"/>
                    <a:pt x="68" y="62"/>
                  </a:cubicBezTo>
                  <a:cubicBezTo>
                    <a:pt x="75" y="45"/>
                    <a:pt x="87" y="41"/>
                    <a:pt x="96" y="44"/>
                  </a:cubicBezTo>
                  <a:cubicBezTo>
                    <a:pt x="106" y="47"/>
                    <a:pt x="110" y="62"/>
                    <a:pt x="107" y="72"/>
                  </a:cubicBezTo>
                  <a:cubicBezTo>
                    <a:pt x="105" y="81"/>
                    <a:pt x="93" y="111"/>
                    <a:pt x="80" y="141"/>
                  </a:cubicBezTo>
                  <a:cubicBezTo>
                    <a:pt x="78" y="148"/>
                    <a:pt x="75" y="154"/>
                    <a:pt x="74" y="156"/>
                  </a:cubicBezTo>
                  <a:cubicBezTo>
                    <a:pt x="71" y="165"/>
                    <a:pt x="66" y="171"/>
                    <a:pt x="60" y="17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49" name="Freeform 52">
              <a:extLst>
                <a:ext uri="{FF2B5EF4-FFF2-40B4-BE49-F238E27FC236}">
                  <a16:creationId xmlns:a16="http://schemas.microsoft.com/office/drawing/2014/main" id="{47AFFF33-87A5-40F9-AFA1-134B2AF6C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9137" y="4447424"/>
              <a:ext cx="872651" cy="1051248"/>
            </a:xfrm>
            <a:custGeom>
              <a:avLst/>
              <a:gdLst>
                <a:gd name="T0" fmla="*/ 60 w 146"/>
                <a:gd name="T1" fmla="*/ 173 h 176"/>
                <a:gd name="T2" fmla="*/ 40 w 146"/>
                <a:gd name="T3" fmla="*/ 173 h 176"/>
                <a:gd name="T4" fmla="*/ 38 w 146"/>
                <a:gd name="T5" fmla="*/ 172 h 176"/>
                <a:gd name="T6" fmla="*/ 17 w 146"/>
                <a:gd name="T7" fmla="*/ 122 h 176"/>
                <a:gd name="T8" fmla="*/ 40 w 146"/>
                <a:gd name="T9" fmla="*/ 62 h 176"/>
                <a:gd name="T10" fmla="*/ 55 w 146"/>
                <a:gd name="T11" fmla="*/ 24 h 176"/>
                <a:gd name="T12" fmla="*/ 103 w 146"/>
                <a:gd name="T13" fmla="*/ 9 h 176"/>
                <a:gd name="T14" fmla="*/ 141 w 146"/>
                <a:gd name="T15" fmla="*/ 53 h 176"/>
                <a:gd name="T16" fmla="*/ 108 w 146"/>
                <a:gd name="T17" fmla="*/ 142 h 176"/>
                <a:gd name="T18" fmla="*/ 98 w 146"/>
                <a:gd name="T19" fmla="*/ 146 h 176"/>
                <a:gd name="T20" fmla="*/ 94 w 146"/>
                <a:gd name="T21" fmla="*/ 137 h 176"/>
                <a:gd name="T22" fmla="*/ 127 w 146"/>
                <a:gd name="T23" fmla="*/ 49 h 176"/>
                <a:gd name="T24" fmla="*/ 98 w 146"/>
                <a:gd name="T25" fmla="*/ 23 h 176"/>
                <a:gd name="T26" fmla="*/ 69 w 146"/>
                <a:gd name="T27" fmla="*/ 30 h 176"/>
                <a:gd name="T28" fmla="*/ 54 w 146"/>
                <a:gd name="T29" fmla="*/ 67 h 176"/>
                <a:gd name="T30" fmla="*/ 30 w 146"/>
                <a:gd name="T31" fmla="*/ 127 h 176"/>
                <a:gd name="T32" fmla="*/ 44 w 146"/>
                <a:gd name="T33" fmla="*/ 159 h 176"/>
                <a:gd name="T34" fmla="*/ 45 w 146"/>
                <a:gd name="T35" fmla="*/ 159 h 176"/>
                <a:gd name="T36" fmla="*/ 61 w 146"/>
                <a:gd name="T37" fmla="*/ 151 h 176"/>
                <a:gd name="T38" fmla="*/ 67 w 146"/>
                <a:gd name="T39" fmla="*/ 135 h 176"/>
                <a:gd name="T40" fmla="*/ 93 w 146"/>
                <a:gd name="T41" fmla="*/ 68 h 176"/>
                <a:gd name="T42" fmla="*/ 91 w 146"/>
                <a:gd name="T43" fmla="*/ 58 h 176"/>
                <a:gd name="T44" fmla="*/ 82 w 146"/>
                <a:gd name="T45" fmla="*/ 67 h 176"/>
                <a:gd name="T46" fmla="*/ 57 w 146"/>
                <a:gd name="T47" fmla="*/ 130 h 176"/>
                <a:gd name="T48" fmla="*/ 48 w 146"/>
                <a:gd name="T49" fmla="*/ 134 h 176"/>
                <a:gd name="T50" fmla="*/ 44 w 146"/>
                <a:gd name="T51" fmla="*/ 124 h 176"/>
                <a:gd name="T52" fmla="*/ 68 w 146"/>
                <a:gd name="T53" fmla="*/ 62 h 176"/>
                <a:gd name="T54" fmla="*/ 96 w 146"/>
                <a:gd name="T55" fmla="*/ 44 h 176"/>
                <a:gd name="T56" fmla="*/ 107 w 146"/>
                <a:gd name="T57" fmla="*/ 72 h 176"/>
                <a:gd name="T58" fmla="*/ 80 w 146"/>
                <a:gd name="T59" fmla="*/ 141 h 176"/>
                <a:gd name="T60" fmla="*/ 74 w 146"/>
                <a:gd name="T61" fmla="*/ 156 h 176"/>
                <a:gd name="T62" fmla="*/ 60 w 146"/>
                <a:gd name="T63" fmla="*/ 1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6" h="176">
                  <a:moveTo>
                    <a:pt x="60" y="173"/>
                  </a:moveTo>
                  <a:cubicBezTo>
                    <a:pt x="54" y="176"/>
                    <a:pt x="47" y="176"/>
                    <a:pt x="40" y="173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31" y="169"/>
                    <a:pt x="0" y="160"/>
                    <a:pt x="17" y="122"/>
                  </a:cubicBezTo>
                  <a:cubicBezTo>
                    <a:pt x="24" y="106"/>
                    <a:pt x="31" y="84"/>
                    <a:pt x="40" y="62"/>
                  </a:cubicBezTo>
                  <a:cubicBezTo>
                    <a:pt x="45" y="50"/>
                    <a:pt x="50" y="37"/>
                    <a:pt x="55" y="24"/>
                  </a:cubicBezTo>
                  <a:cubicBezTo>
                    <a:pt x="64" y="1"/>
                    <a:pt x="78" y="0"/>
                    <a:pt x="103" y="9"/>
                  </a:cubicBezTo>
                  <a:cubicBezTo>
                    <a:pt x="133" y="20"/>
                    <a:pt x="146" y="39"/>
                    <a:pt x="141" y="53"/>
                  </a:cubicBezTo>
                  <a:cubicBezTo>
                    <a:pt x="135" y="73"/>
                    <a:pt x="109" y="139"/>
                    <a:pt x="108" y="142"/>
                  </a:cubicBezTo>
                  <a:cubicBezTo>
                    <a:pt x="106" y="146"/>
                    <a:pt x="102" y="148"/>
                    <a:pt x="98" y="146"/>
                  </a:cubicBezTo>
                  <a:cubicBezTo>
                    <a:pt x="95" y="145"/>
                    <a:pt x="93" y="141"/>
                    <a:pt x="94" y="137"/>
                  </a:cubicBezTo>
                  <a:cubicBezTo>
                    <a:pt x="94" y="136"/>
                    <a:pt x="121" y="68"/>
                    <a:pt x="127" y="49"/>
                  </a:cubicBezTo>
                  <a:cubicBezTo>
                    <a:pt x="129" y="45"/>
                    <a:pt x="124" y="32"/>
                    <a:pt x="98" y="23"/>
                  </a:cubicBezTo>
                  <a:cubicBezTo>
                    <a:pt x="83" y="17"/>
                    <a:pt x="76" y="10"/>
                    <a:pt x="69" y="30"/>
                  </a:cubicBezTo>
                  <a:cubicBezTo>
                    <a:pt x="64" y="42"/>
                    <a:pt x="59" y="55"/>
                    <a:pt x="54" y="67"/>
                  </a:cubicBezTo>
                  <a:cubicBezTo>
                    <a:pt x="45" y="90"/>
                    <a:pt x="37" y="111"/>
                    <a:pt x="30" y="127"/>
                  </a:cubicBezTo>
                  <a:cubicBezTo>
                    <a:pt x="20" y="152"/>
                    <a:pt x="36" y="155"/>
                    <a:pt x="44" y="159"/>
                  </a:cubicBezTo>
                  <a:cubicBezTo>
                    <a:pt x="45" y="159"/>
                    <a:pt x="45" y="159"/>
                    <a:pt x="45" y="159"/>
                  </a:cubicBezTo>
                  <a:cubicBezTo>
                    <a:pt x="52" y="162"/>
                    <a:pt x="56" y="161"/>
                    <a:pt x="61" y="151"/>
                  </a:cubicBezTo>
                  <a:cubicBezTo>
                    <a:pt x="62" y="148"/>
                    <a:pt x="64" y="142"/>
                    <a:pt x="67" y="135"/>
                  </a:cubicBezTo>
                  <a:cubicBezTo>
                    <a:pt x="75" y="115"/>
                    <a:pt x="91" y="77"/>
                    <a:pt x="93" y="68"/>
                  </a:cubicBezTo>
                  <a:cubicBezTo>
                    <a:pt x="94" y="65"/>
                    <a:pt x="94" y="59"/>
                    <a:pt x="91" y="58"/>
                  </a:cubicBezTo>
                  <a:cubicBezTo>
                    <a:pt x="87" y="56"/>
                    <a:pt x="83" y="65"/>
                    <a:pt x="82" y="67"/>
                  </a:cubicBezTo>
                  <a:cubicBezTo>
                    <a:pt x="72" y="95"/>
                    <a:pt x="58" y="130"/>
                    <a:pt x="57" y="130"/>
                  </a:cubicBezTo>
                  <a:cubicBezTo>
                    <a:pt x="56" y="134"/>
                    <a:pt x="52" y="135"/>
                    <a:pt x="48" y="134"/>
                  </a:cubicBezTo>
                  <a:cubicBezTo>
                    <a:pt x="44" y="132"/>
                    <a:pt x="42" y="128"/>
                    <a:pt x="44" y="124"/>
                  </a:cubicBezTo>
                  <a:cubicBezTo>
                    <a:pt x="44" y="124"/>
                    <a:pt x="58" y="90"/>
                    <a:pt x="68" y="62"/>
                  </a:cubicBezTo>
                  <a:cubicBezTo>
                    <a:pt x="75" y="45"/>
                    <a:pt x="87" y="41"/>
                    <a:pt x="96" y="44"/>
                  </a:cubicBezTo>
                  <a:cubicBezTo>
                    <a:pt x="106" y="47"/>
                    <a:pt x="110" y="62"/>
                    <a:pt x="107" y="72"/>
                  </a:cubicBezTo>
                  <a:cubicBezTo>
                    <a:pt x="105" y="81"/>
                    <a:pt x="93" y="111"/>
                    <a:pt x="80" y="141"/>
                  </a:cubicBezTo>
                  <a:cubicBezTo>
                    <a:pt x="78" y="148"/>
                    <a:pt x="75" y="154"/>
                    <a:pt x="74" y="156"/>
                  </a:cubicBezTo>
                  <a:cubicBezTo>
                    <a:pt x="71" y="165"/>
                    <a:pt x="66" y="171"/>
                    <a:pt x="60" y="17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FB9A15BD-2CF0-42F2-92B9-9C839E0AA6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51241" y="8122427"/>
              <a:ext cx="1631289" cy="1631289"/>
            </a:xfrm>
            <a:custGeom>
              <a:avLst/>
              <a:gdLst>
                <a:gd name="T0" fmla="*/ 122 w 243"/>
                <a:gd name="T1" fmla="*/ 0 h 243"/>
                <a:gd name="T2" fmla="*/ 0 w 243"/>
                <a:gd name="T3" fmla="*/ 121 h 243"/>
                <a:gd name="T4" fmla="*/ 122 w 243"/>
                <a:gd name="T5" fmla="*/ 243 h 243"/>
                <a:gd name="T6" fmla="*/ 243 w 243"/>
                <a:gd name="T7" fmla="*/ 121 h 243"/>
                <a:gd name="T8" fmla="*/ 122 w 243"/>
                <a:gd name="T9" fmla="*/ 0 h 243"/>
                <a:gd name="T10" fmla="*/ 154 w 243"/>
                <a:gd name="T11" fmla="*/ 121 h 243"/>
                <a:gd name="T12" fmla="*/ 133 w 243"/>
                <a:gd name="T13" fmla="*/ 121 h 243"/>
                <a:gd name="T14" fmla="*/ 133 w 243"/>
                <a:gd name="T15" fmla="*/ 196 h 243"/>
                <a:gd name="T16" fmla="*/ 102 w 243"/>
                <a:gd name="T17" fmla="*/ 196 h 243"/>
                <a:gd name="T18" fmla="*/ 102 w 243"/>
                <a:gd name="T19" fmla="*/ 121 h 243"/>
                <a:gd name="T20" fmla="*/ 87 w 243"/>
                <a:gd name="T21" fmla="*/ 121 h 243"/>
                <a:gd name="T22" fmla="*/ 87 w 243"/>
                <a:gd name="T23" fmla="*/ 94 h 243"/>
                <a:gd name="T24" fmla="*/ 102 w 243"/>
                <a:gd name="T25" fmla="*/ 94 h 243"/>
                <a:gd name="T26" fmla="*/ 102 w 243"/>
                <a:gd name="T27" fmla="*/ 77 h 243"/>
                <a:gd name="T28" fmla="*/ 133 w 243"/>
                <a:gd name="T29" fmla="*/ 46 h 243"/>
                <a:gd name="T30" fmla="*/ 156 w 243"/>
                <a:gd name="T31" fmla="*/ 46 h 243"/>
                <a:gd name="T32" fmla="*/ 156 w 243"/>
                <a:gd name="T33" fmla="*/ 72 h 243"/>
                <a:gd name="T34" fmla="*/ 140 w 243"/>
                <a:gd name="T35" fmla="*/ 72 h 243"/>
                <a:gd name="T36" fmla="*/ 133 w 243"/>
                <a:gd name="T37" fmla="*/ 79 h 243"/>
                <a:gd name="T38" fmla="*/ 133 w 243"/>
                <a:gd name="T39" fmla="*/ 94 h 243"/>
                <a:gd name="T40" fmla="*/ 157 w 243"/>
                <a:gd name="T41" fmla="*/ 94 h 243"/>
                <a:gd name="T42" fmla="*/ 154 w 243"/>
                <a:gd name="T43" fmla="*/ 12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43">
                  <a:moveTo>
                    <a:pt x="122" y="0"/>
                  </a:moveTo>
                  <a:cubicBezTo>
                    <a:pt x="55" y="0"/>
                    <a:pt x="0" y="54"/>
                    <a:pt x="0" y="121"/>
                  </a:cubicBezTo>
                  <a:cubicBezTo>
                    <a:pt x="0" y="188"/>
                    <a:pt x="55" y="243"/>
                    <a:pt x="122" y="243"/>
                  </a:cubicBezTo>
                  <a:cubicBezTo>
                    <a:pt x="189" y="243"/>
                    <a:pt x="243" y="188"/>
                    <a:pt x="243" y="121"/>
                  </a:cubicBezTo>
                  <a:cubicBezTo>
                    <a:pt x="243" y="54"/>
                    <a:pt x="189" y="0"/>
                    <a:pt x="122" y="0"/>
                  </a:cubicBezTo>
                  <a:close/>
                  <a:moveTo>
                    <a:pt x="154" y="121"/>
                  </a:moveTo>
                  <a:cubicBezTo>
                    <a:pt x="133" y="121"/>
                    <a:pt x="133" y="121"/>
                    <a:pt x="133" y="121"/>
                  </a:cubicBezTo>
                  <a:cubicBezTo>
                    <a:pt x="133" y="154"/>
                    <a:pt x="133" y="196"/>
                    <a:pt x="133" y="196"/>
                  </a:cubicBezTo>
                  <a:cubicBezTo>
                    <a:pt x="102" y="196"/>
                    <a:pt x="102" y="196"/>
                    <a:pt x="102" y="196"/>
                  </a:cubicBezTo>
                  <a:cubicBezTo>
                    <a:pt x="102" y="196"/>
                    <a:pt x="102" y="155"/>
                    <a:pt x="102" y="121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7" y="94"/>
                    <a:pt x="87" y="94"/>
                    <a:pt x="87" y="94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02" y="65"/>
                    <a:pt x="108" y="46"/>
                    <a:pt x="133" y="46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42" y="72"/>
                    <a:pt x="140" y="72"/>
                  </a:cubicBezTo>
                  <a:cubicBezTo>
                    <a:pt x="137" y="72"/>
                    <a:pt x="133" y="73"/>
                    <a:pt x="133" y="79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57" y="94"/>
                    <a:pt x="157" y="94"/>
                    <a:pt x="157" y="94"/>
                  </a:cubicBezTo>
                  <a:lnTo>
                    <a:pt x="154" y="12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51" name="Freeform 36">
              <a:extLst>
                <a:ext uri="{FF2B5EF4-FFF2-40B4-BE49-F238E27FC236}">
                  <a16:creationId xmlns:a16="http://schemas.microsoft.com/office/drawing/2014/main" id="{D046A2C7-FBC5-4B32-A5E1-5CE8789E6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0953" y="7002811"/>
              <a:ext cx="945234" cy="1255229"/>
            </a:xfrm>
            <a:custGeom>
              <a:avLst/>
              <a:gdLst>
                <a:gd name="T0" fmla="*/ 3 w 141"/>
                <a:gd name="T1" fmla="*/ 157 h 187"/>
                <a:gd name="T2" fmla="*/ 3 w 141"/>
                <a:gd name="T3" fmla="*/ 155 h 187"/>
                <a:gd name="T4" fmla="*/ 36 w 141"/>
                <a:gd name="T5" fmla="*/ 131 h 187"/>
                <a:gd name="T6" fmla="*/ 38 w 141"/>
                <a:gd name="T7" fmla="*/ 130 h 187"/>
                <a:gd name="T8" fmla="*/ 60 w 141"/>
                <a:gd name="T9" fmla="*/ 139 h 187"/>
                <a:gd name="T10" fmla="*/ 87 w 141"/>
                <a:gd name="T11" fmla="*/ 105 h 187"/>
                <a:gd name="T12" fmla="*/ 99 w 141"/>
                <a:gd name="T13" fmla="*/ 65 h 187"/>
                <a:gd name="T14" fmla="*/ 79 w 141"/>
                <a:gd name="T15" fmla="*/ 50 h 187"/>
                <a:gd name="T16" fmla="*/ 80 w 141"/>
                <a:gd name="T17" fmla="*/ 10 h 187"/>
                <a:gd name="T18" fmla="*/ 82 w 141"/>
                <a:gd name="T19" fmla="*/ 8 h 187"/>
                <a:gd name="T20" fmla="*/ 96 w 141"/>
                <a:gd name="T21" fmla="*/ 0 h 187"/>
                <a:gd name="T22" fmla="*/ 100 w 141"/>
                <a:gd name="T23" fmla="*/ 1 h 187"/>
                <a:gd name="T24" fmla="*/ 123 w 141"/>
                <a:gd name="T25" fmla="*/ 15 h 187"/>
                <a:gd name="T26" fmla="*/ 113 w 141"/>
                <a:gd name="T27" fmla="*/ 123 h 187"/>
                <a:gd name="T28" fmla="*/ 32 w 141"/>
                <a:gd name="T29" fmla="*/ 187 h 187"/>
                <a:gd name="T30" fmla="*/ 32 w 141"/>
                <a:gd name="T31" fmla="*/ 187 h 187"/>
                <a:gd name="T32" fmla="*/ 31 w 141"/>
                <a:gd name="T33" fmla="*/ 187 h 187"/>
                <a:gd name="T34" fmla="*/ 7 w 141"/>
                <a:gd name="T35" fmla="*/ 176 h 187"/>
                <a:gd name="T36" fmla="*/ 3 w 141"/>
                <a:gd name="T37" fmla="*/ 15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1" h="187">
                  <a:moveTo>
                    <a:pt x="3" y="157"/>
                  </a:moveTo>
                  <a:cubicBezTo>
                    <a:pt x="3" y="155"/>
                    <a:pt x="3" y="155"/>
                    <a:pt x="3" y="155"/>
                  </a:cubicBezTo>
                  <a:cubicBezTo>
                    <a:pt x="4" y="148"/>
                    <a:pt x="33" y="131"/>
                    <a:pt x="36" y="131"/>
                  </a:cubicBezTo>
                  <a:cubicBezTo>
                    <a:pt x="38" y="130"/>
                    <a:pt x="38" y="130"/>
                    <a:pt x="38" y="130"/>
                  </a:cubicBezTo>
                  <a:cubicBezTo>
                    <a:pt x="42" y="130"/>
                    <a:pt x="48" y="133"/>
                    <a:pt x="60" y="139"/>
                  </a:cubicBezTo>
                  <a:cubicBezTo>
                    <a:pt x="70" y="132"/>
                    <a:pt x="82" y="114"/>
                    <a:pt x="87" y="105"/>
                  </a:cubicBezTo>
                  <a:cubicBezTo>
                    <a:pt x="92" y="94"/>
                    <a:pt x="99" y="77"/>
                    <a:pt x="99" y="65"/>
                  </a:cubicBezTo>
                  <a:cubicBezTo>
                    <a:pt x="86" y="58"/>
                    <a:pt x="80" y="55"/>
                    <a:pt x="79" y="50"/>
                  </a:cubicBezTo>
                  <a:cubicBezTo>
                    <a:pt x="78" y="48"/>
                    <a:pt x="76" y="14"/>
                    <a:pt x="80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5" y="5"/>
                    <a:pt x="89" y="0"/>
                    <a:pt x="96" y="0"/>
                  </a:cubicBezTo>
                  <a:cubicBezTo>
                    <a:pt x="97" y="0"/>
                    <a:pt x="99" y="0"/>
                    <a:pt x="100" y="1"/>
                  </a:cubicBezTo>
                  <a:cubicBezTo>
                    <a:pt x="105" y="2"/>
                    <a:pt x="117" y="7"/>
                    <a:pt x="123" y="15"/>
                  </a:cubicBezTo>
                  <a:cubicBezTo>
                    <a:pt x="127" y="20"/>
                    <a:pt x="141" y="70"/>
                    <a:pt x="113" y="123"/>
                  </a:cubicBezTo>
                  <a:cubicBezTo>
                    <a:pt x="85" y="174"/>
                    <a:pt x="39" y="187"/>
                    <a:pt x="32" y="187"/>
                  </a:cubicBezTo>
                  <a:cubicBezTo>
                    <a:pt x="32" y="187"/>
                    <a:pt x="32" y="187"/>
                    <a:pt x="32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21" y="186"/>
                    <a:pt x="11" y="179"/>
                    <a:pt x="7" y="176"/>
                  </a:cubicBezTo>
                  <a:cubicBezTo>
                    <a:pt x="0" y="171"/>
                    <a:pt x="2" y="162"/>
                    <a:pt x="3" y="15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AE858727-EF8A-47E6-B515-7F47F0ED83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94109" y="7874357"/>
              <a:ext cx="1308588" cy="1328914"/>
            </a:xfrm>
            <a:custGeom>
              <a:avLst/>
              <a:gdLst>
                <a:gd name="T0" fmla="*/ 190 w 195"/>
                <a:gd name="T1" fmla="*/ 120 h 198"/>
                <a:gd name="T2" fmla="*/ 192 w 195"/>
                <a:gd name="T3" fmla="*/ 100 h 198"/>
                <a:gd name="T4" fmla="*/ 99 w 195"/>
                <a:gd name="T5" fmla="*/ 7 h 198"/>
                <a:gd name="T6" fmla="*/ 83 w 195"/>
                <a:gd name="T7" fmla="*/ 8 h 198"/>
                <a:gd name="T8" fmla="*/ 54 w 195"/>
                <a:gd name="T9" fmla="*/ 0 h 198"/>
                <a:gd name="T10" fmla="*/ 0 w 195"/>
                <a:gd name="T11" fmla="*/ 54 h 198"/>
                <a:gd name="T12" fmla="*/ 7 w 195"/>
                <a:gd name="T13" fmla="*/ 81 h 198"/>
                <a:gd name="T14" fmla="*/ 5 w 195"/>
                <a:gd name="T15" fmla="*/ 100 h 198"/>
                <a:gd name="T16" fmla="*/ 99 w 195"/>
                <a:gd name="T17" fmla="*/ 193 h 198"/>
                <a:gd name="T18" fmla="*/ 116 w 195"/>
                <a:gd name="T19" fmla="*/ 192 h 198"/>
                <a:gd name="T20" fmla="*/ 141 w 195"/>
                <a:gd name="T21" fmla="*/ 198 h 198"/>
                <a:gd name="T22" fmla="*/ 195 w 195"/>
                <a:gd name="T23" fmla="*/ 144 h 198"/>
                <a:gd name="T24" fmla="*/ 190 w 195"/>
                <a:gd name="T25" fmla="*/ 120 h 198"/>
                <a:gd name="T26" fmla="*/ 146 w 195"/>
                <a:gd name="T27" fmla="*/ 145 h 198"/>
                <a:gd name="T28" fmla="*/ 127 w 195"/>
                <a:gd name="T29" fmla="*/ 159 h 198"/>
                <a:gd name="T30" fmla="*/ 98 w 195"/>
                <a:gd name="T31" fmla="*/ 164 h 198"/>
                <a:gd name="T32" fmla="*/ 65 w 195"/>
                <a:gd name="T33" fmla="*/ 157 h 198"/>
                <a:gd name="T34" fmla="*/ 49 w 195"/>
                <a:gd name="T35" fmla="*/ 144 h 198"/>
                <a:gd name="T36" fmla="*/ 44 w 195"/>
                <a:gd name="T37" fmla="*/ 127 h 198"/>
                <a:gd name="T38" fmla="*/ 47 w 195"/>
                <a:gd name="T39" fmla="*/ 118 h 198"/>
                <a:gd name="T40" fmla="*/ 57 w 195"/>
                <a:gd name="T41" fmla="*/ 114 h 198"/>
                <a:gd name="T42" fmla="*/ 65 w 195"/>
                <a:gd name="T43" fmla="*/ 117 h 198"/>
                <a:gd name="T44" fmla="*/ 71 w 195"/>
                <a:gd name="T45" fmla="*/ 125 h 198"/>
                <a:gd name="T46" fmla="*/ 76 w 195"/>
                <a:gd name="T47" fmla="*/ 135 h 198"/>
                <a:gd name="T48" fmla="*/ 84 w 195"/>
                <a:gd name="T49" fmla="*/ 141 h 198"/>
                <a:gd name="T50" fmla="*/ 98 w 195"/>
                <a:gd name="T51" fmla="*/ 143 h 198"/>
                <a:gd name="T52" fmla="*/ 116 w 195"/>
                <a:gd name="T53" fmla="*/ 138 h 198"/>
                <a:gd name="T54" fmla="*/ 123 w 195"/>
                <a:gd name="T55" fmla="*/ 127 h 198"/>
                <a:gd name="T56" fmla="*/ 120 w 195"/>
                <a:gd name="T57" fmla="*/ 118 h 198"/>
                <a:gd name="T58" fmla="*/ 110 w 195"/>
                <a:gd name="T59" fmla="*/ 112 h 198"/>
                <a:gd name="T60" fmla="*/ 93 w 195"/>
                <a:gd name="T61" fmla="*/ 108 h 198"/>
                <a:gd name="T62" fmla="*/ 68 w 195"/>
                <a:gd name="T63" fmla="*/ 101 h 198"/>
                <a:gd name="T64" fmla="*/ 52 w 195"/>
                <a:gd name="T65" fmla="*/ 89 h 198"/>
                <a:gd name="T66" fmla="*/ 46 w 195"/>
                <a:gd name="T67" fmla="*/ 70 h 198"/>
                <a:gd name="T68" fmla="*/ 52 w 195"/>
                <a:gd name="T69" fmla="*/ 51 h 198"/>
                <a:gd name="T70" fmla="*/ 71 w 195"/>
                <a:gd name="T71" fmla="*/ 39 h 198"/>
                <a:gd name="T72" fmla="*/ 98 w 195"/>
                <a:gd name="T73" fmla="*/ 35 h 198"/>
                <a:gd name="T74" fmla="*/ 120 w 195"/>
                <a:gd name="T75" fmla="*/ 37 h 198"/>
                <a:gd name="T76" fmla="*/ 135 w 195"/>
                <a:gd name="T77" fmla="*/ 45 h 198"/>
                <a:gd name="T78" fmla="*/ 144 w 195"/>
                <a:gd name="T79" fmla="*/ 55 h 198"/>
                <a:gd name="T80" fmla="*/ 147 w 195"/>
                <a:gd name="T81" fmla="*/ 66 h 198"/>
                <a:gd name="T82" fmla="*/ 143 w 195"/>
                <a:gd name="T83" fmla="*/ 75 h 198"/>
                <a:gd name="T84" fmla="*/ 134 w 195"/>
                <a:gd name="T85" fmla="*/ 79 h 198"/>
                <a:gd name="T86" fmla="*/ 126 w 195"/>
                <a:gd name="T87" fmla="*/ 76 h 198"/>
                <a:gd name="T88" fmla="*/ 120 w 195"/>
                <a:gd name="T89" fmla="*/ 69 h 198"/>
                <a:gd name="T90" fmla="*/ 112 w 195"/>
                <a:gd name="T91" fmla="*/ 59 h 198"/>
                <a:gd name="T92" fmla="*/ 96 w 195"/>
                <a:gd name="T93" fmla="*/ 55 h 198"/>
                <a:gd name="T94" fmla="*/ 80 w 195"/>
                <a:gd name="T95" fmla="*/ 59 h 198"/>
                <a:gd name="T96" fmla="*/ 74 w 195"/>
                <a:gd name="T97" fmla="*/ 68 h 198"/>
                <a:gd name="T98" fmla="*/ 76 w 195"/>
                <a:gd name="T99" fmla="*/ 73 h 198"/>
                <a:gd name="T100" fmla="*/ 82 w 195"/>
                <a:gd name="T101" fmla="*/ 78 h 198"/>
                <a:gd name="T102" fmla="*/ 89 w 195"/>
                <a:gd name="T103" fmla="*/ 81 h 198"/>
                <a:gd name="T104" fmla="*/ 102 w 195"/>
                <a:gd name="T105" fmla="*/ 84 h 198"/>
                <a:gd name="T106" fmla="*/ 123 w 195"/>
                <a:gd name="T107" fmla="*/ 89 h 198"/>
                <a:gd name="T108" fmla="*/ 139 w 195"/>
                <a:gd name="T109" fmla="*/ 96 h 198"/>
                <a:gd name="T110" fmla="*/ 149 w 195"/>
                <a:gd name="T111" fmla="*/ 108 h 198"/>
                <a:gd name="T112" fmla="*/ 153 w 195"/>
                <a:gd name="T113" fmla="*/ 124 h 198"/>
                <a:gd name="T114" fmla="*/ 146 w 195"/>
                <a:gd name="T115" fmla="*/ 145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5" h="198">
                  <a:moveTo>
                    <a:pt x="190" y="120"/>
                  </a:moveTo>
                  <a:cubicBezTo>
                    <a:pt x="191" y="114"/>
                    <a:pt x="192" y="107"/>
                    <a:pt x="192" y="100"/>
                  </a:cubicBezTo>
                  <a:cubicBezTo>
                    <a:pt x="192" y="49"/>
                    <a:pt x="150" y="7"/>
                    <a:pt x="99" y="7"/>
                  </a:cubicBezTo>
                  <a:cubicBezTo>
                    <a:pt x="93" y="7"/>
                    <a:pt x="88" y="7"/>
                    <a:pt x="83" y="8"/>
                  </a:cubicBezTo>
                  <a:cubicBezTo>
                    <a:pt x="74" y="3"/>
                    <a:pt x="6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4"/>
                    <a:pt x="2" y="73"/>
                    <a:pt x="7" y="81"/>
                  </a:cubicBezTo>
                  <a:cubicBezTo>
                    <a:pt x="6" y="87"/>
                    <a:pt x="5" y="94"/>
                    <a:pt x="5" y="100"/>
                  </a:cubicBezTo>
                  <a:cubicBezTo>
                    <a:pt x="5" y="152"/>
                    <a:pt x="47" y="193"/>
                    <a:pt x="99" y="193"/>
                  </a:cubicBezTo>
                  <a:cubicBezTo>
                    <a:pt x="104" y="193"/>
                    <a:pt x="110" y="193"/>
                    <a:pt x="116" y="192"/>
                  </a:cubicBezTo>
                  <a:cubicBezTo>
                    <a:pt x="123" y="196"/>
                    <a:pt x="132" y="198"/>
                    <a:pt x="141" y="198"/>
                  </a:cubicBezTo>
                  <a:cubicBezTo>
                    <a:pt x="171" y="198"/>
                    <a:pt x="195" y="174"/>
                    <a:pt x="195" y="144"/>
                  </a:cubicBezTo>
                  <a:cubicBezTo>
                    <a:pt x="195" y="136"/>
                    <a:pt x="193" y="127"/>
                    <a:pt x="190" y="120"/>
                  </a:cubicBezTo>
                  <a:close/>
                  <a:moveTo>
                    <a:pt x="146" y="145"/>
                  </a:moveTo>
                  <a:cubicBezTo>
                    <a:pt x="142" y="151"/>
                    <a:pt x="136" y="156"/>
                    <a:pt x="127" y="159"/>
                  </a:cubicBezTo>
                  <a:cubicBezTo>
                    <a:pt x="119" y="163"/>
                    <a:pt x="109" y="164"/>
                    <a:pt x="98" y="164"/>
                  </a:cubicBezTo>
                  <a:cubicBezTo>
                    <a:pt x="85" y="164"/>
                    <a:pt x="74" y="162"/>
                    <a:pt x="65" y="157"/>
                  </a:cubicBezTo>
                  <a:cubicBezTo>
                    <a:pt x="59" y="154"/>
                    <a:pt x="53" y="149"/>
                    <a:pt x="49" y="144"/>
                  </a:cubicBezTo>
                  <a:cubicBezTo>
                    <a:pt x="46" y="138"/>
                    <a:pt x="44" y="132"/>
                    <a:pt x="44" y="127"/>
                  </a:cubicBezTo>
                  <a:cubicBezTo>
                    <a:pt x="44" y="123"/>
                    <a:pt x="45" y="120"/>
                    <a:pt x="47" y="118"/>
                  </a:cubicBezTo>
                  <a:cubicBezTo>
                    <a:pt x="50" y="116"/>
                    <a:pt x="53" y="114"/>
                    <a:pt x="57" y="114"/>
                  </a:cubicBezTo>
                  <a:cubicBezTo>
                    <a:pt x="60" y="114"/>
                    <a:pt x="63" y="115"/>
                    <a:pt x="65" y="117"/>
                  </a:cubicBezTo>
                  <a:cubicBezTo>
                    <a:pt x="68" y="119"/>
                    <a:pt x="69" y="122"/>
                    <a:pt x="71" y="125"/>
                  </a:cubicBezTo>
                  <a:cubicBezTo>
                    <a:pt x="72" y="129"/>
                    <a:pt x="74" y="132"/>
                    <a:pt x="76" y="135"/>
                  </a:cubicBezTo>
                  <a:cubicBezTo>
                    <a:pt x="78" y="137"/>
                    <a:pt x="81" y="139"/>
                    <a:pt x="84" y="141"/>
                  </a:cubicBezTo>
                  <a:cubicBezTo>
                    <a:pt x="87" y="142"/>
                    <a:pt x="92" y="143"/>
                    <a:pt x="98" y="143"/>
                  </a:cubicBezTo>
                  <a:cubicBezTo>
                    <a:pt x="105" y="143"/>
                    <a:pt x="112" y="142"/>
                    <a:pt x="116" y="138"/>
                  </a:cubicBezTo>
                  <a:cubicBezTo>
                    <a:pt x="121" y="135"/>
                    <a:pt x="123" y="131"/>
                    <a:pt x="123" y="127"/>
                  </a:cubicBezTo>
                  <a:cubicBezTo>
                    <a:pt x="123" y="123"/>
                    <a:pt x="122" y="120"/>
                    <a:pt x="120" y="118"/>
                  </a:cubicBezTo>
                  <a:cubicBezTo>
                    <a:pt x="117" y="115"/>
                    <a:pt x="114" y="114"/>
                    <a:pt x="110" y="112"/>
                  </a:cubicBezTo>
                  <a:cubicBezTo>
                    <a:pt x="105" y="111"/>
                    <a:pt x="100" y="110"/>
                    <a:pt x="93" y="108"/>
                  </a:cubicBezTo>
                  <a:cubicBezTo>
                    <a:pt x="83" y="106"/>
                    <a:pt x="75" y="104"/>
                    <a:pt x="68" y="101"/>
                  </a:cubicBezTo>
                  <a:cubicBezTo>
                    <a:pt x="61" y="98"/>
                    <a:pt x="56" y="94"/>
                    <a:pt x="52" y="89"/>
                  </a:cubicBezTo>
                  <a:cubicBezTo>
                    <a:pt x="48" y="84"/>
                    <a:pt x="46" y="78"/>
                    <a:pt x="46" y="70"/>
                  </a:cubicBezTo>
                  <a:cubicBezTo>
                    <a:pt x="46" y="63"/>
                    <a:pt x="48" y="57"/>
                    <a:pt x="52" y="51"/>
                  </a:cubicBezTo>
                  <a:cubicBezTo>
                    <a:pt x="57" y="46"/>
                    <a:pt x="63" y="42"/>
                    <a:pt x="71" y="39"/>
                  </a:cubicBezTo>
                  <a:cubicBezTo>
                    <a:pt x="78" y="36"/>
                    <a:pt x="87" y="35"/>
                    <a:pt x="98" y="35"/>
                  </a:cubicBezTo>
                  <a:cubicBezTo>
                    <a:pt x="106" y="35"/>
                    <a:pt x="114" y="35"/>
                    <a:pt x="120" y="37"/>
                  </a:cubicBezTo>
                  <a:cubicBezTo>
                    <a:pt x="126" y="39"/>
                    <a:pt x="131" y="42"/>
                    <a:pt x="135" y="45"/>
                  </a:cubicBezTo>
                  <a:cubicBezTo>
                    <a:pt x="139" y="48"/>
                    <a:pt x="142" y="52"/>
                    <a:pt x="144" y="55"/>
                  </a:cubicBezTo>
                  <a:cubicBezTo>
                    <a:pt x="146" y="59"/>
                    <a:pt x="147" y="62"/>
                    <a:pt x="147" y="66"/>
                  </a:cubicBezTo>
                  <a:cubicBezTo>
                    <a:pt x="147" y="69"/>
                    <a:pt x="146" y="72"/>
                    <a:pt x="143" y="75"/>
                  </a:cubicBezTo>
                  <a:cubicBezTo>
                    <a:pt x="141" y="78"/>
                    <a:pt x="137" y="79"/>
                    <a:pt x="134" y="79"/>
                  </a:cubicBezTo>
                  <a:cubicBezTo>
                    <a:pt x="130" y="79"/>
                    <a:pt x="128" y="78"/>
                    <a:pt x="126" y="76"/>
                  </a:cubicBezTo>
                  <a:cubicBezTo>
                    <a:pt x="124" y="75"/>
                    <a:pt x="122" y="72"/>
                    <a:pt x="120" y="69"/>
                  </a:cubicBezTo>
                  <a:cubicBezTo>
                    <a:pt x="118" y="65"/>
                    <a:pt x="115" y="61"/>
                    <a:pt x="112" y="59"/>
                  </a:cubicBezTo>
                  <a:cubicBezTo>
                    <a:pt x="109" y="56"/>
                    <a:pt x="103" y="55"/>
                    <a:pt x="96" y="55"/>
                  </a:cubicBezTo>
                  <a:cubicBezTo>
                    <a:pt x="89" y="55"/>
                    <a:pt x="84" y="56"/>
                    <a:pt x="80" y="59"/>
                  </a:cubicBezTo>
                  <a:cubicBezTo>
                    <a:pt x="76" y="62"/>
                    <a:pt x="74" y="65"/>
                    <a:pt x="74" y="68"/>
                  </a:cubicBezTo>
                  <a:cubicBezTo>
                    <a:pt x="74" y="70"/>
                    <a:pt x="75" y="72"/>
                    <a:pt x="76" y="73"/>
                  </a:cubicBezTo>
                  <a:cubicBezTo>
                    <a:pt x="77" y="75"/>
                    <a:pt x="79" y="76"/>
                    <a:pt x="82" y="78"/>
                  </a:cubicBezTo>
                  <a:cubicBezTo>
                    <a:pt x="84" y="79"/>
                    <a:pt x="87" y="80"/>
                    <a:pt x="89" y="81"/>
                  </a:cubicBezTo>
                  <a:cubicBezTo>
                    <a:pt x="92" y="81"/>
                    <a:pt x="96" y="82"/>
                    <a:pt x="102" y="84"/>
                  </a:cubicBezTo>
                  <a:cubicBezTo>
                    <a:pt x="110" y="85"/>
                    <a:pt x="117" y="87"/>
                    <a:pt x="123" y="89"/>
                  </a:cubicBezTo>
                  <a:cubicBezTo>
                    <a:pt x="129" y="91"/>
                    <a:pt x="134" y="94"/>
                    <a:pt x="139" y="96"/>
                  </a:cubicBezTo>
                  <a:cubicBezTo>
                    <a:pt x="143" y="99"/>
                    <a:pt x="147" y="103"/>
                    <a:pt x="149" y="108"/>
                  </a:cubicBezTo>
                  <a:cubicBezTo>
                    <a:pt x="152" y="112"/>
                    <a:pt x="153" y="118"/>
                    <a:pt x="153" y="124"/>
                  </a:cubicBezTo>
                  <a:cubicBezTo>
                    <a:pt x="153" y="132"/>
                    <a:pt x="151" y="139"/>
                    <a:pt x="146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000FC7B3-5B2D-4191-9F05-4A86B698E3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19792" y="6029630"/>
              <a:ext cx="1295883" cy="1300965"/>
            </a:xfrm>
            <a:custGeom>
              <a:avLst/>
              <a:gdLst>
                <a:gd name="T0" fmla="*/ 192 w 193"/>
                <a:gd name="T1" fmla="*/ 81 h 194"/>
                <a:gd name="T2" fmla="*/ 191 w 193"/>
                <a:gd name="T3" fmla="*/ 77 h 194"/>
                <a:gd name="T4" fmla="*/ 188 w 193"/>
                <a:gd name="T5" fmla="*/ 75 h 194"/>
                <a:gd name="T6" fmla="*/ 162 w 193"/>
                <a:gd name="T7" fmla="*/ 71 h 194"/>
                <a:gd name="T8" fmla="*/ 157 w 193"/>
                <a:gd name="T9" fmla="*/ 54 h 194"/>
                <a:gd name="T10" fmla="*/ 151 w 193"/>
                <a:gd name="T11" fmla="*/ 34 h 194"/>
                <a:gd name="T12" fmla="*/ 104 w 193"/>
                <a:gd name="T13" fmla="*/ 0 h 194"/>
                <a:gd name="T14" fmla="*/ 61 w 193"/>
                <a:gd name="T15" fmla="*/ 0 h 194"/>
                <a:gd name="T16" fmla="*/ 0 w 193"/>
                <a:gd name="T17" fmla="*/ 61 h 194"/>
                <a:gd name="T18" fmla="*/ 0 w 193"/>
                <a:gd name="T19" fmla="*/ 133 h 194"/>
                <a:gd name="T20" fmla="*/ 61 w 193"/>
                <a:gd name="T21" fmla="*/ 194 h 194"/>
                <a:gd name="T22" fmla="*/ 131 w 193"/>
                <a:gd name="T23" fmla="*/ 194 h 194"/>
                <a:gd name="T24" fmla="*/ 192 w 193"/>
                <a:gd name="T25" fmla="*/ 133 h 194"/>
                <a:gd name="T26" fmla="*/ 193 w 193"/>
                <a:gd name="T27" fmla="*/ 83 h 194"/>
                <a:gd name="T28" fmla="*/ 192 w 193"/>
                <a:gd name="T29" fmla="*/ 81 h 194"/>
                <a:gd name="T30" fmla="*/ 62 w 193"/>
                <a:gd name="T31" fmla="*/ 50 h 194"/>
                <a:gd name="T32" fmla="*/ 96 w 193"/>
                <a:gd name="T33" fmla="*/ 50 h 194"/>
                <a:gd name="T34" fmla="*/ 108 w 193"/>
                <a:gd name="T35" fmla="*/ 62 h 194"/>
                <a:gd name="T36" fmla="*/ 96 w 193"/>
                <a:gd name="T37" fmla="*/ 73 h 194"/>
                <a:gd name="T38" fmla="*/ 62 w 193"/>
                <a:gd name="T39" fmla="*/ 73 h 194"/>
                <a:gd name="T40" fmla="*/ 50 w 193"/>
                <a:gd name="T41" fmla="*/ 62 h 194"/>
                <a:gd name="T42" fmla="*/ 62 w 193"/>
                <a:gd name="T43" fmla="*/ 50 h 194"/>
                <a:gd name="T44" fmla="*/ 131 w 193"/>
                <a:gd name="T45" fmla="*/ 143 h 194"/>
                <a:gd name="T46" fmla="*/ 62 w 193"/>
                <a:gd name="T47" fmla="*/ 143 h 194"/>
                <a:gd name="T48" fmla="*/ 50 w 193"/>
                <a:gd name="T49" fmla="*/ 132 h 194"/>
                <a:gd name="T50" fmla="*/ 62 w 193"/>
                <a:gd name="T51" fmla="*/ 120 h 194"/>
                <a:gd name="T52" fmla="*/ 131 w 193"/>
                <a:gd name="T53" fmla="*/ 120 h 194"/>
                <a:gd name="T54" fmla="*/ 142 w 193"/>
                <a:gd name="T55" fmla="*/ 132 h 194"/>
                <a:gd name="T56" fmla="*/ 131 w 193"/>
                <a:gd name="T57" fmla="*/ 14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3" h="194">
                  <a:moveTo>
                    <a:pt x="192" y="81"/>
                  </a:moveTo>
                  <a:cubicBezTo>
                    <a:pt x="191" y="77"/>
                    <a:pt x="191" y="77"/>
                    <a:pt x="191" y="77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4" y="72"/>
                    <a:pt x="166" y="75"/>
                    <a:pt x="162" y="71"/>
                  </a:cubicBezTo>
                  <a:cubicBezTo>
                    <a:pt x="158" y="68"/>
                    <a:pt x="158" y="62"/>
                    <a:pt x="157" y="54"/>
                  </a:cubicBezTo>
                  <a:cubicBezTo>
                    <a:pt x="155" y="39"/>
                    <a:pt x="153" y="39"/>
                    <a:pt x="151" y="34"/>
                  </a:cubicBezTo>
                  <a:cubicBezTo>
                    <a:pt x="143" y="16"/>
                    <a:pt x="120" y="2"/>
                    <a:pt x="10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28" y="0"/>
                    <a:pt x="0" y="28"/>
                    <a:pt x="0" y="61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66"/>
                    <a:pt x="28" y="194"/>
                    <a:pt x="61" y="194"/>
                  </a:cubicBezTo>
                  <a:cubicBezTo>
                    <a:pt x="131" y="194"/>
                    <a:pt x="131" y="194"/>
                    <a:pt x="131" y="194"/>
                  </a:cubicBezTo>
                  <a:cubicBezTo>
                    <a:pt x="165" y="194"/>
                    <a:pt x="192" y="166"/>
                    <a:pt x="192" y="133"/>
                  </a:cubicBezTo>
                  <a:cubicBezTo>
                    <a:pt x="193" y="83"/>
                    <a:pt x="193" y="83"/>
                    <a:pt x="193" y="83"/>
                  </a:cubicBezTo>
                  <a:lnTo>
                    <a:pt x="192" y="81"/>
                  </a:lnTo>
                  <a:close/>
                  <a:moveTo>
                    <a:pt x="62" y="50"/>
                  </a:moveTo>
                  <a:cubicBezTo>
                    <a:pt x="96" y="50"/>
                    <a:pt x="96" y="50"/>
                    <a:pt x="96" y="50"/>
                  </a:cubicBezTo>
                  <a:cubicBezTo>
                    <a:pt x="102" y="50"/>
                    <a:pt x="108" y="55"/>
                    <a:pt x="108" y="62"/>
                  </a:cubicBezTo>
                  <a:cubicBezTo>
                    <a:pt x="108" y="68"/>
                    <a:pt x="102" y="73"/>
                    <a:pt x="96" y="73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6" y="73"/>
                    <a:pt x="50" y="68"/>
                    <a:pt x="50" y="62"/>
                  </a:cubicBezTo>
                  <a:cubicBezTo>
                    <a:pt x="50" y="55"/>
                    <a:pt x="56" y="50"/>
                    <a:pt x="62" y="50"/>
                  </a:cubicBezTo>
                  <a:close/>
                  <a:moveTo>
                    <a:pt x="131" y="143"/>
                  </a:moveTo>
                  <a:cubicBezTo>
                    <a:pt x="62" y="143"/>
                    <a:pt x="62" y="143"/>
                    <a:pt x="62" y="143"/>
                  </a:cubicBezTo>
                  <a:cubicBezTo>
                    <a:pt x="56" y="143"/>
                    <a:pt x="50" y="138"/>
                    <a:pt x="50" y="132"/>
                  </a:cubicBezTo>
                  <a:cubicBezTo>
                    <a:pt x="50" y="125"/>
                    <a:pt x="56" y="120"/>
                    <a:pt x="62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7" y="120"/>
                    <a:pt x="142" y="125"/>
                    <a:pt x="142" y="132"/>
                  </a:cubicBezTo>
                  <a:cubicBezTo>
                    <a:pt x="142" y="138"/>
                    <a:pt x="137" y="143"/>
                    <a:pt x="131" y="1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3FE914A-D74E-48C5-9BFE-D119C667B88B}"/>
                </a:ext>
              </a:extLst>
            </p:cNvPr>
            <p:cNvGrpSpPr/>
            <p:nvPr/>
          </p:nvGrpSpPr>
          <p:grpSpPr>
            <a:xfrm>
              <a:off x="10659439" y="3453108"/>
              <a:ext cx="1565224" cy="1555059"/>
              <a:chOff x="2189163" y="538163"/>
              <a:chExt cx="977900" cy="971549"/>
            </a:xfrm>
            <a:solidFill>
              <a:schemeClr val="accent5"/>
            </a:solidFill>
          </p:grpSpPr>
          <p:sp>
            <p:nvSpPr>
              <p:cNvPr id="55" name="Freeform 50">
                <a:extLst>
                  <a:ext uri="{FF2B5EF4-FFF2-40B4-BE49-F238E27FC236}">
                    <a16:creationId xmlns:a16="http://schemas.microsoft.com/office/drawing/2014/main" id="{CDF0458B-C360-4C29-B16A-6147A6AAB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163" y="538163"/>
                <a:ext cx="733425" cy="677862"/>
              </a:xfrm>
              <a:custGeom>
                <a:avLst/>
                <a:gdLst>
                  <a:gd name="T0" fmla="*/ 75 w 175"/>
                  <a:gd name="T1" fmla="*/ 162 h 162"/>
                  <a:gd name="T2" fmla="*/ 87 w 175"/>
                  <a:gd name="T3" fmla="*/ 152 h 162"/>
                  <a:gd name="T4" fmla="*/ 76 w 175"/>
                  <a:gd name="T5" fmla="*/ 142 h 162"/>
                  <a:gd name="T6" fmla="*/ 69 w 175"/>
                  <a:gd name="T7" fmla="*/ 142 h 162"/>
                  <a:gd name="T8" fmla="*/ 37 w 175"/>
                  <a:gd name="T9" fmla="*/ 109 h 162"/>
                  <a:gd name="T10" fmla="*/ 70 w 175"/>
                  <a:gd name="T11" fmla="*/ 78 h 162"/>
                  <a:gd name="T12" fmla="*/ 114 w 175"/>
                  <a:gd name="T13" fmla="*/ 78 h 162"/>
                  <a:gd name="T14" fmla="*/ 146 w 175"/>
                  <a:gd name="T15" fmla="*/ 110 h 162"/>
                  <a:gd name="T16" fmla="*/ 146 w 175"/>
                  <a:gd name="T17" fmla="*/ 151 h 162"/>
                  <a:gd name="T18" fmla="*/ 158 w 175"/>
                  <a:gd name="T19" fmla="*/ 162 h 162"/>
                  <a:gd name="T20" fmla="*/ 163 w 175"/>
                  <a:gd name="T21" fmla="*/ 162 h 162"/>
                  <a:gd name="T22" fmla="*/ 175 w 175"/>
                  <a:gd name="T23" fmla="*/ 151 h 162"/>
                  <a:gd name="T24" fmla="*/ 175 w 175"/>
                  <a:gd name="T25" fmla="*/ 15 h 162"/>
                  <a:gd name="T26" fmla="*/ 117 w 175"/>
                  <a:gd name="T27" fmla="*/ 0 h 162"/>
                  <a:gd name="T28" fmla="*/ 0 w 175"/>
                  <a:gd name="T29" fmla="*/ 116 h 162"/>
                  <a:gd name="T30" fmla="*/ 10 w 175"/>
                  <a:gd name="T31" fmla="*/ 162 h 162"/>
                  <a:gd name="T32" fmla="*/ 75 w 175"/>
                  <a:gd name="T33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5" h="162">
                    <a:moveTo>
                      <a:pt x="75" y="162"/>
                    </a:moveTo>
                    <a:cubicBezTo>
                      <a:pt x="82" y="162"/>
                      <a:pt x="87" y="158"/>
                      <a:pt x="87" y="152"/>
                    </a:cubicBezTo>
                    <a:cubicBezTo>
                      <a:pt x="87" y="147"/>
                      <a:pt x="82" y="143"/>
                      <a:pt x="76" y="142"/>
                    </a:cubicBezTo>
                    <a:cubicBezTo>
                      <a:pt x="69" y="142"/>
                      <a:pt x="69" y="142"/>
                      <a:pt x="69" y="142"/>
                    </a:cubicBezTo>
                    <a:cubicBezTo>
                      <a:pt x="52" y="141"/>
                      <a:pt x="37" y="126"/>
                      <a:pt x="37" y="109"/>
                    </a:cubicBezTo>
                    <a:cubicBezTo>
                      <a:pt x="37" y="92"/>
                      <a:pt x="52" y="78"/>
                      <a:pt x="70" y="78"/>
                    </a:cubicBezTo>
                    <a:cubicBezTo>
                      <a:pt x="114" y="78"/>
                      <a:pt x="114" y="78"/>
                      <a:pt x="114" y="78"/>
                    </a:cubicBezTo>
                    <a:cubicBezTo>
                      <a:pt x="132" y="78"/>
                      <a:pt x="146" y="92"/>
                      <a:pt x="146" y="110"/>
                    </a:cubicBezTo>
                    <a:cubicBezTo>
                      <a:pt x="146" y="151"/>
                      <a:pt x="146" y="151"/>
                      <a:pt x="146" y="151"/>
                    </a:cubicBezTo>
                    <a:cubicBezTo>
                      <a:pt x="146" y="157"/>
                      <a:pt x="152" y="162"/>
                      <a:pt x="158" y="162"/>
                    </a:cubicBezTo>
                    <a:cubicBezTo>
                      <a:pt x="163" y="162"/>
                      <a:pt x="163" y="162"/>
                      <a:pt x="163" y="162"/>
                    </a:cubicBezTo>
                    <a:cubicBezTo>
                      <a:pt x="169" y="162"/>
                      <a:pt x="175" y="157"/>
                      <a:pt x="175" y="151"/>
                    </a:cubicBezTo>
                    <a:cubicBezTo>
                      <a:pt x="175" y="15"/>
                      <a:pt x="175" y="15"/>
                      <a:pt x="175" y="15"/>
                    </a:cubicBezTo>
                    <a:cubicBezTo>
                      <a:pt x="158" y="5"/>
                      <a:pt x="138" y="0"/>
                      <a:pt x="117" y="0"/>
                    </a:cubicBezTo>
                    <a:cubicBezTo>
                      <a:pt x="52" y="0"/>
                      <a:pt x="0" y="52"/>
                      <a:pt x="0" y="116"/>
                    </a:cubicBezTo>
                    <a:cubicBezTo>
                      <a:pt x="0" y="132"/>
                      <a:pt x="4" y="148"/>
                      <a:pt x="10" y="162"/>
                    </a:cubicBezTo>
                    <a:lnTo>
                      <a:pt x="75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  <p:sp>
            <p:nvSpPr>
              <p:cNvPr id="56" name="Freeform 51">
                <a:extLst>
                  <a:ext uri="{FF2B5EF4-FFF2-40B4-BE49-F238E27FC236}">
                    <a16:creationId xmlns:a16="http://schemas.microsoft.com/office/drawing/2014/main" id="{4A427784-FAA1-46CC-BFE9-81B950989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238" y="666750"/>
                <a:ext cx="885825" cy="842962"/>
              </a:xfrm>
              <a:custGeom>
                <a:avLst/>
                <a:gdLst>
                  <a:gd name="T0" fmla="*/ 174 w 211"/>
                  <a:gd name="T1" fmla="*/ 0 h 201"/>
                  <a:gd name="T2" fmla="*/ 174 w 211"/>
                  <a:gd name="T3" fmla="*/ 120 h 201"/>
                  <a:gd name="T4" fmla="*/ 141 w 211"/>
                  <a:gd name="T5" fmla="*/ 152 h 201"/>
                  <a:gd name="T6" fmla="*/ 136 w 211"/>
                  <a:gd name="T7" fmla="*/ 152 h 201"/>
                  <a:gd name="T8" fmla="*/ 103 w 211"/>
                  <a:gd name="T9" fmla="*/ 120 h 201"/>
                  <a:gd name="T10" fmla="*/ 103 w 211"/>
                  <a:gd name="T11" fmla="*/ 79 h 201"/>
                  <a:gd name="T12" fmla="*/ 92 w 211"/>
                  <a:gd name="T13" fmla="*/ 67 h 201"/>
                  <a:gd name="T14" fmla="*/ 48 w 211"/>
                  <a:gd name="T15" fmla="*/ 67 h 201"/>
                  <a:gd name="T16" fmla="*/ 36 w 211"/>
                  <a:gd name="T17" fmla="*/ 78 h 201"/>
                  <a:gd name="T18" fmla="*/ 48 w 211"/>
                  <a:gd name="T19" fmla="*/ 90 h 201"/>
                  <a:gd name="T20" fmla="*/ 55 w 211"/>
                  <a:gd name="T21" fmla="*/ 90 h 201"/>
                  <a:gd name="T22" fmla="*/ 86 w 211"/>
                  <a:gd name="T23" fmla="*/ 122 h 201"/>
                  <a:gd name="T24" fmla="*/ 53 w 211"/>
                  <a:gd name="T25" fmla="*/ 152 h 201"/>
                  <a:gd name="T26" fmla="*/ 0 w 211"/>
                  <a:gd name="T27" fmla="*/ 152 h 201"/>
                  <a:gd name="T28" fmla="*/ 95 w 211"/>
                  <a:gd name="T29" fmla="*/ 201 h 201"/>
                  <a:gd name="T30" fmla="*/ 211 w 211"/>
                  <a:gd name="T31" fmla="*/ 85 h 201"/>
                  <a:gd name="T32" fmla="*/ 174 w 211"/>
                  <a:gd name="T33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1" h="201">
                    <a:moveTo>
                      <a:pt x="174" y="0"/>
                    </a:moveTo>
                    <a:cubicBezTo>
                      <a:pt x="174" y="120"/>
                      <a:pt x="174" y="120"/>
                      <a:pt x="174" y="120"/>
                    </a:cubicBezTo>
                    <a:cubicBezTo>
                      <a:pt x="174" y="138"/>
                      <a:pt x="159" y="152"/>
                      <a:pt x="141" y="152"/>
                    </a:cubicBezTo>
                    <a:cubicBezTo>
                      <a:pt x="136" y="152"/>
                      <a:pt x="136" y="152"/>
                      <a:pt x="136" y="152"/>
                    </a:cubicBezTo>
                    <a:cubicBezTo>
                      <a:pt x="118" y="152"/>
                      <a:pt x="103" y="138"/>
                      <a:pt x="103" y="120"/>
                    </a:cubicBezTo>
                    <a:cubicBezTo>
                      <a:pt x="103" y="79"/>
                      <a:pt x="103" y="79"/>
                      <a:pt x="103" y="79"/>
                    </a:cubicBezTo>
                    <a:cubicBezTo>
                      <a:pt x="103" y="73"/>
                      <a:pt x="98" y="67"/>
                      <a:pt x="92" y="67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42" y="67"/>
                      <a:pt x="36" y="72"/>
                      <a:pt x="36" y="78"/>
                    </a:cubicBezTo>
                    <a:cubicBezTo>
                      <a:pt x="36" y="84"/>
                      <a:pt x="42" y="90"/>
                      <a:pt x="48" y="90"/>
                    </a:cubicBezTo>
                    <a:cubicBezTo>
                      <a:pt x="55" y="90"/>
                      <a:pt x="55" y="90"/>
                      <a:pt x="55" y="90"/>
                    </a:cubicBezTo>
                    <a:cubicBezTo>
                      <a:pt x="73" y="91"/>
                      <a:pt x="87" y="106"/>
                      <a:pt x="86" y="122"/>
                    </a:cubicBezTo>
                    <a:cubicBezTo>
                      <a:pt x="86" y="139"/>
                      <a:pt x="71" y="152"/>
                      <a:pt x="53" y="152"/>
                    </a:cubicBezTo>
                    <a:cubicBezTo>
                      <a:pt x="0" y="152"/>
                      <a:pt x="0" y="152"/>
                      <a:pt x="0" y="152"/>
                    </a:cubicBezTo>
                    <a:cubicBezTo>
                      <a:pt x="21" y="182"/>
                      <a:pt x="55" y="201"/>
                      <a:pt x="95" y="201"/>
                    </a:cubicBezTo>
                    <a:cubicBezTo>
                      <a:pt x="159" y="201"/>
                      <a:pt x="211" y="149"/>
                      <a:pt x="211" y="85"/>
                    </a:cubicBezTo>
                    <a:cubicBezTo>
                      <a:pt x="211" y="51"/>
                      <a:pt x="197" y="21"/>
                      <a:pt x="17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+mj-lt"/>
                </a:endParaRPr>
              </a:p>
            </p:txBody>
          </p:sp>
        </p:grp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F71525B0-76B6-44AC-A403-F83D7200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8056" y="5362191"/>
              <a:ext cx="1231071" cy="1122269"/>
            </a:xfrm>
            <a:custGeom>
              <a:avLst/>
              <a:gdLst>
                <a:gd name="T0" fmla="*/ 189 w 255"/>
                <a:gd name="T1" fmla="*/ 10 h 233"/>
                <a:gd name="T2" fmla="*/ 104 w 255"/>
                <a:gd name="T3" fmla="*/ 16 h 233"/>
                <a:gd name="T4" fmla="*/ 18 w 255"/>
                <a:gd name="T5" fmla="*/ 30 h 233"/>
                <a:gd name="T6" fmla="*/ 6 w 255"/>
                <a:gd name="T7" fmla="*/ 30 h 233"/>
                <a:gd name="T8" fmla="*/ 3 w 255"/>
                <a:gd name="T9" fmla="*/ 46 h 233"/>
                <a:gd name="T10" fmla="*/ 115 w 255"/>
                <a:gd name="T11" fmla="*/ 228 h 233"/>
                <a:gd name="T12" fmla="*/ 124 w 255"/>
                <a:gd name="T13" fmla="*/ 233 h 233"/>
                <a:gd name="T14" fmla="*/ 130 w 255"/>
                <a:gd name="T15" fmla="*/ 231 h 233"/>
                <a:gd name="T16" fmla="*/ 134 w 255"/>
                <a:gd name="T17" fmla="*/ 216 h 233"/>
                <a:gd name="T18" fmla="*/ 84 w 255"/>
                <a:gd name="T19" fmla="*/ 135 h 233"/>
                <a:gd name="T20" fmla="*/ 170 w 255"/>
                <a:gd name="T21" fmla="*/ 121 h 233"/>
                <a:gd name="T22" fmla="*/ 255 w 255"/>
                <a:gd name="T23" fmla="*/ 115 h 233"/>
                <a:gd name="T24" fmla="*/ 189 w 255"/>
                <a:gd name="T25" fmla="*/ 1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33">
                  <a:moveTo>
                    <a:pt x="189" y="10"/>
                  </a:moveTo>
                  <a:cubicBezTo>
                    <a:pt x="189" y="10"/>
                    <a:pt x="146" y="31"/>
                    <a:pt x="104" y="16"/>
                  </a:cubicBezTo>
                  <a:cubicBezTo>
                    <a:pt x="58" y="0"/>
                    <a:pt x="37" y="6"/>
                    <a:pt x="18" y="30"/>
                  </a:cubicBezTo>
                  <a:cubicBezTo>
                    <a:pt x="14" y="28"/>
                    <a:pt x="10" y="28"/>
                    <a:pt x="6" y="30"/>
                  </a:cubicBezTo>
                  <a:cubicBezTo>
                    <a:pt x="1" y="33"/>
                    <a:pt x="0" y="40"/>
                    <a:pt x="3" y="4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17" y="231"/>
                    <a:pt x="121" y="233"/>
                    <a:pt x="124" y="233"/>
                  </a:cubicBezTo>
                  <a:cubicBezTo>
                    <a:pt x="126" y="233"/>
                    <a:pt x="128" y="232"/>
                    <a:pt x="130" y="231"/>
                  </a:cubicBezTo>
                  <a:cubicBezTo>
                    <a:pt x="135" y="228"/>
                    <a:pt x="137" y="221"/>
                    <a:pt x="134" y="216"/>
                  </a:cubicBezTo>
                  <a:cubicBezTo>
                    <a:pt x="84" y="135"/>
                    <a:pt x="84" y="135"/>
                    <a:pt x="84" y="135"/>
                  </a:cubicBezTo>
                  <a:cubicBezTo>
                    <a:pt x="104" y="111"/>
                    <a:pt x="124" y="105"/>
                    <a:pt x="170" y="121"/>
                  </a:cubicBezTo>
                  <a:cubicBezTo>
                    <a:pt x="213" y="135"/>
                    <a:pt x="255" y="115"/>
                    <a:pt x="255" y="115"/>
                  </a:cubicBezTo>
                  <a:lnTo>
                    <a:pt x="189" y="1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+mj-lt"/>
              </a:endParaRPr>
            </a:p>
          </p:txBody>
        </p:sp>
        <p:sp>
          <p:nvSpPr>
            <p:cNvPr id="58" name="Freeform 326">
              <a:extLst>
                <a:ext uri="{FF2B5EF4-FFF2-40B4-BE49-F238E27FC236}">
                  <a16:creationId xmlns:a16="http://schemas.microsoft.com/office/drawing/2014/main" id="{E598BC8C-F13C-40A4-AD7B-F3845F7AC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60018" y="7866732"/>
              <a:ext cx="1122706" cy="1071340"/>
            </a:xfrm>
            <a:custGeom>
              <a:avLst/>
              <a:gdLst>
                <a:gd name="T0" fmla="*/ 1347 w 1348"/>
                <a:gd name="T1" fmla="*/ 786 h 1289"/>
                <a:gd name="T2" fmla="*/ 1347 w 1348"/>
                <a:gd name="T3" fmla="*/ 1288 h 1289"/>
                <a:gd name="T4" fmla="*/ 1054 w 1348"/>
                <a:gd name="T5" fmla="*/ 1288 h 1289"/>
                <a:gd name="T6" fmla="*/ 1054 w 1348"/>
                <a:gd name="T7" fmla="*/ 819 h 1289"/>
                <a:gd name="T8" fmla="*/ 912 w 1348"/>
                <a:gd name="T9" fmla="*/ 627 h 1289"/>
                <a:gd name="T10" fmla="*/ 761 w 1348"/>
                <a:gd name="T11" fmla="*/ 736 h 1289"/>
                <a:gd name="T12" fmla="*/ 753 w 1348"/>
                <a:gd name="T13" fmla="*/ 803 h 1289"/>
                <a:gd name="T14" fmla="*/ 753 w 1348"/>
                <a:gd name="T15" fmla="*/ 1288 h 1289"/>
                <a:gd name="T16" fmla="*/ 468 w 1348"/>
                <a:gd name="T17" fmla="*/ 1288 h 1289"/>
                <a:gd name="T18" fmla="*/ 468 w 1348"/>
                <a:gd name="T19" fmla="*/ 418 h 1289"/>
                <a:gd name="T20" fmla="*/ 753 w 1348"/>
                <a:gd name="T21" fmla="*/ 418 h 1289"/>
                <a:gd name="T22" fmla="*/ 753 w 1348"/>
                <a:gd name="T23" fmla="*/ 543 h 1289"/>
                <a:gd name="T24" fmla="*/ 1012 w 1348"/>
                <a:gd name="T25" fmla="*/ 401 h 1289"/>
                <a:gd name="T26" fmla="*/ 1347 w 1348"/>
                <a:gd name="T27" fmla="*/ 786 h 1289"/>
                <a:gd name="T28" fmla="*/ 167 w 1348"/>
                <a:gd name="T29" fmla="*/ 0 h 1289"/>
                <a:gd name="T30" fmla="*/ 0 w 1348"/>
                <a:gd name="T31" fmla="*/ 151 h 1289"/>
                <a:gd name="T32" fmla="*/ 159 w 1348"/>
                <a:gd name="T33" fmla="*/ 301 h 1289"/>
                <a:gd name="T34" fmla="*/ 167 w 1348"/>
                <a:gd name="T35" fmla="*/ 301 h 1289"/>
                <a:gd name="T36" fmla="*/ 326 w 1348"/>
                <a:gd name="T37" fmla="*/ 151 h 1289"/>
                <a:gd name="T38" fmla="*/ 167 w 1348"/>
                <a:gd name="T39" fmla="*/ 0 h 1289"/>
                <a:gd name="T40" fmla="*/ 17 w 1348"/>
                <a:gd name="T41" fmla="*/ 1288 h 1289"/>
                <a:gd name="T42" fmla="*/ 310 w 1348"/>
                <a:gd name="T43" fmla="*/ 1288 h 1289"/>
                <a:gd name="T44" fmla="*/ 310 w 1348"/>
                <a:gd name="T45" fmla="*/ 418 h 1289"/>
                <a:gd name="T46" fmla="*/ 17 w 1348"/>
                <a:gd name="T47" fmla="*/ 418 h 1289"/>
                <a:gd name="T48" fmla="*/ 17 w 1348"/>
                <a:gd name="T49" fmla="*/ 1288 h 1289"/>
                <a:gd name="T50" fmla="*/ 17 w 1348"/>
                <a:gd name="T51" fmla="*/ 1288 h 1289"/>
                <a:gd name="T52" fmla="*/ 17 w 1348"/>
                <a:gd name="T53" fmla="*/ 1288 h 1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48" h="1289">
                  <a:moveTo>
                    <a:pt x="1347" y="786"/>
                  </a:moveTo>
                  <a:cubicBezTo>
                    <a:pt x="1347" y="1288"/>
                    <a:pt x="1347" y="1288"/>
                    <a:pt x="1347" y="1288"/>
                  </a:cubicBezTo>
                  <a:cubicBezTo>
                    <a:pt x="1054" y="1288"/>
                    <a:pt x="1054" y="1288"/>
                    <a:pt x="1054" y="1288"/>
                  </a:cubicBezTo>
                  <a:cubicBezTo>
                    <a:pt x="1054" y="819"/>
                    <a:pt x="1054" y="819"/>
                    <a:pt x="1054" y="819"/>
                  </a:cubicBezTo>
                  <a:cubicBezTo>
                    <a:pt x="1054" y="702"/>
                    <a:pt x="1020" y="627"/>
                    <a:pt x="912" y="627"/>
                  </a:cubicBezTo>
                  <a:cubicBezTo>
                    <a:pt x="836" y="627"/>
                    <a:pt x="786" y="677"/>
                    <a:pt x="761" y="736"/>
                  </a:cubicBezTo>
                  <a:cubicBezTo>
                    <a:pt x="761" y="752"/>
                    <a:pt x="753" y="777"/>
                    <a:pt x="753" y="803"/>
                  </a:cubicBezTo>
                  <a:cubicBezTo>
                    <a:pt x="753" y="1288"/>
                    <a:pt x="753" y="1288"/>
                    <a:pt x="753" y="1288"/>
                  </a:cubicBezTo>
                  <a:cubicBezTo>
                    <a:pt x="468" y="1288"/>
                    <a:pt x="468" y="1288"/>
                    <a:pt x="468" y="1288"/>
                  </a:cubicBezTo>
                  <a:cubicBezTo>
                    <a:pt x="468" y="1288"/>
                    <a:pt x="468" y="502"/>
                    <a:pt x="468" y="418"/>
                  </a:cubicBezTo>
                  <a:cubicBezTo>
                    <a:pt x="753" y="418"/>
                    <a:pt x="753" y="418"/>
                    <a:pt x="753" y="418"/>
                  </a:cubicBezTo>
                  <a:cubicBezTo>
                    <a:pt x="753" y="543"/>
                    <a:pt x="753" y="543"/>
                    <a:pt x="753" y="543"/>
                  </a:cubicBezTo>
                  <a:cubicBezTo>
                    <a:pt x="795" y="485"/>
                    <a:pt x="862" y="401"/>
                    <a:pt x="1012" y="401"/>
                  </a:cubicBezTo>
                  <a:cubicBezTo>
                    <a:pt x="1204" y="401"/>
                    <a:pt x="1347" y="527"/>
                    <a:pt x="1347" y="786"/>
                  </a:cubicBezTo>
                  <a:close/>
                  <a:moveTo>
                    <a:pt x="167" y="0"/>
                  </a:moveTo>
                  <a:cubicBezTo>
                    <a:pt x="67" y="0"/>
                    <a:pt x="0" y="67"/>
                    <a:pt x="0" y="151"/>
                  </a:cubicBezTo>
                  <a:cubicBezTo>
                    <a:pt x="0" y="234"/>
                    <a:pt x="67" y="301"/>
                    <a:pt x="159" y="301"/>
                  </a:cubicBezTo>
                  <a:cubicBezTo>
                    <a:pt x="167" y="301"/>
                    <a:pt x="167" y="301"/>
                    <a:pt x="167" y="301"/>
                  </a:cubicBezTo>
                  <a:cubicBezTo>
                    <a:pt x="268" y="301"/>
                    <a:pt x="326" y="234"/>
                    <a:pt x="326" y="151"/>
                  </a:cubicBezTo>
                  <a:cubicBezTo>
                    <a:pt x="326" y="67"/>
                    <a:pt x="268" y="0"/>
                    <a:pt x="167" y="0"/>
                  </a:cubicBezTo>
                  <a:close/>
                  <a:moveTo>
                    <a:pt x="17" y="1288"/>
                  </a:moveTo>
                  <a:cubicBezTo>
                    <a:pt x="310" y="1288"/>
                    <a:pt x="310" y="1288"/>
                    <a:pt x="310" y="1288"/>
                  </a:cubicBezTo>
                  <a:cubicBezTo>
                    <a:pt x="310" y="418"/>
                    <a:pt x="310" y="418"/>
                    <a:pt x="310" y="418"/>
                  </a:cubicBezTo>
                  <a:cubicBezTo>
                    <a:pt x="17" y="418"/>
                    <a:pt x="17" y="418"/>
                    <a:pt x="17" y="418"/>
                  </a:cubicBezTo>
                  <a:lnTo>
                    <a:pt x="17" y="1288"/>
                  </a:lnTo>
                  <a:close/>
                  <a:moveTo>
                    <a:pt x="17" y="1288"/>
                  </a:moveTo>
                  <a:lnTo>
                    <a:pt x="17" y="12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lIns="121917" tIns="60958" rIns="121917" bIns="60958" anchor="ctr"/>
            <a:lstStyle/>
            <a:p>
              <a:pPr>
                <a:defRPr/>
              </a:pPr>
              <a:endParaRPr lang="en-US" dirty="0">
                <a:latin typeface="+mj-lt"/>
                <a:ea typeface="SimSun" charset="0"/>
              </a:endParaRPr>
            </a:p>
          </p:txBody>
        </p:sp>
        <p:sp>
          <p:nvSpPr>
            <p:cNvPr id="59" name="AutoShape 64">
              <a:extLst>
                <a:ext uri="{FF2B5EF4-FFF2-40B4-BE49-F238E27FC236}">
                  <a16:creationId xmlns:a16="http://schemas.microsoft.com/office/drawing/2014/main" id="{B69E368A-C6B7-495F-8339-C8B1B297B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4562" y="8470282"/>
              <a:ext cx="784400" cy="7812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0"/>
                  </a:moveTo>
                  <a:cubicBezTo>
                    <a:pt x="20630" y="0"/>
                    <a:pt x="20946" y="161"/>
                    <a:pt x="21208" y="481"/>
                  </a:cubicBezTo>
                  <a:cubicBezTo>
                    <a:pt x="21470" y="798"/>
                    <a:pt x="21599" y="1177"/>
                    <a:pt x="21599" y="1618"/>
                  </a:cubicBezTo>
                  <a:lnTo>
                    <a:pt x="21599" y="19981"/>
                  </a:lnTo>
                  <a:cubicBezTo>
                    <a:pt x="21599" y="20422"/>
                    <a:pt x="21470" y="20801"/>
                    <a:pt x="21208" y="21121"/>
                  </a:cubicBezTo>
                  <a:cubicBezTo>
                    <a:pt x="20946" y="21441"/>
                    <a:pt x="20630" y="21599"/>
                    <a:pt x="20263" y="21599"/>
                  </a:cubicBezTo>
                  <a:lnTo>
                    <a:pt x="1346" y="21599"/>
                  </a:lnTo>
                  <a:cubicBezTo>
                    <a:pt x="979" y="21599"/>
                    <a:pt x="663" y="21441"/>
                    <a:pt x="399" y="21121"/>
                  </a:cubicBezTo>
                  <a:cubicBezTo>
                    <a:pt x="132" y="20801"/>
                    <a:pt x="0" y="20422"/>
                    <a:pt x="0" y="19981"/>
                  </a:cubicBezTo>
                  <a:lnTo>
                    <a:pt x="0" y="1618"/>
                  </a:lnTo>
                  <a:cubicBezTo>
                    <a:pt x="0" y="1177"/>
                    <a:pt x="132" y="798"/>
                    <a:pt x="399" y="481"/>
                  </a:cubicBezTo>
                  <a:cubicBezTo>
                    <a:pt x="663" y="161"/>
                    <a:pt x="979" y="0"/>
                    <a:pt x="1346" y="0"/>
                  </a:cubicBezTo>
                  <a:lnTo>
                    <a:pt x="20263" y="0"/>
                  </a:lnTo>
                  <a:close/>
                  <a:moveTo>
                    <a:pt x="19805" y="2252"/>
                  </a:moveTo>
                  <a:lnTo>
                    <a:pt x="8590" y="2252"/>
                  </a:lnTo>
                  <a:lnTo>
                    <a:pt x="8426" y="3545"/>
                  </a:lnTo>
                  <a:lnTo>
                    <a:pt x="1804" y="3545"/>
                  </a:lnTo>
                  <a:lnTo>
                    <a:pt x="1804" y="5501"/>
                  </a:lnTo>
                  <a:lnTo>
                    <a:pt x="19805" y="5501"/>
                  </a:lnTo>
                  <a:lnTo>
                    <a:pt x="19805" y="2252"/>
                  </a:lnTo>
                  <a:close/>
                  <a:moveTo>
                    <a:pt x="19805" y="17746"/>
                  </a:moveTo>
                  <a:lnTo>
                    <a:pt x="1804" y="17746"/>
                  </a:lnTo>
                  <a:lnTo>
                    <a:pt x="1804" y="19350"/>
                  </a:lnTo>
                  <a:lnTo>
                    <a:pt x="19805" y="19350"/>
                  </a:lnTo>
                  <a:lnTo>
                    <a:pt x="19805" y="17746"/>
                  </a:lnTo>
                  <a:close/>
                  <a:moveTo>
                    <a:pt x="3116" y="2743"/>
                  </a:moveTo>
                  <a:lnTo>
                    <a:pt x="6820" y="2743"/>
                  </a:lnTo>
                  <a:lnTo>
                    <a:pt x="6820" y="1436"/>
                  </a:lnTo>
                  <a:lnTo>
                    <a:pt x="3116" y="1436"/>
                  </a:lnTo>
                  <a:lnTo>
                    <a:pt x="3116" y="2743"/>
                  </a:lnTo>
                  <a:close/>
                  <a:moveTo>
                    <a:pt x="6529" y="11631"/>
                  </a:moveTo>
                  <a:cubicBezTo>
                    <a:pt x="6529" y="12342"/>
                    <a:pt x="6639" y="13011"/>
                    <a:pt x="6862" y="13634"/>
                  </a:cubicBezTo>
                  <a:cubicBezTo>
                    <a:pt x="7084" y="14257"/>
                    <a:pt x="7388" y="14800"/>
                    <a:pt x="7775" y="15264"/>
                  </a:cubicBezTo>
                  <a:cubicBezTo>
                    <a:pt x="8162" y="15731"/>
                    <a:pt x="8617" y="16095"/>
                    <a:pt x="9134" y="16359"/>
                  </a:cubicBezTo>
                  <a:cubicBezTo>
                    <a:pt x="9655" y="16630"/>
                    <a:pt x="10211" y="16762"/>
                    <a:pt x="10806" y="16762"/>
                  </a:cubicBezTo>
                  <a:cubicBezTo>
                    <a:pt x="11398" y="16762"/>
                    <a:pt x="11954" y="16630"/>
                    <a:pt x="12470" y="16359"/>
                  </a:cubicBezTo>
                  <a:cubicBezTo>
                    <a:pt x="12984" y="16095"/>
                    <a:pt x="13435" y="15731"/>
                    <a:pt x="13824" y="15264"/>
                  </a:cubicBezTo>
                  <a:cubicBezTo>
                    <a:pt x="14211" y="14800"/>
                    <a:pt x="14515" y="14257"/>
                    <a:pt x="14737" y="13634"/>
                  </a:cubicBezTo>
                  <a:cubicBezTo>
                    <a:pt x="14960" y="13011"/>
                    <a:pt x="15070" y="12342"/>
                    <a:pt x="15070" y="11631"/>
                  </a:cubicBezTo>
                  <a:cubicBezTo>
                    <a:pt x="15070" y="10917"/>
                    <a:pt x="14960" y="10250"/>
                    <a:pt x="14737" y="9625"/>
                  </a:cubicBezTo>
                  <a:cubicBezTo>
                    <a:pt x="14515" y="9002"/>
                    <a:pt x="14211" y="8461"/>
                    <a:pt x="13824" y="8003"/>
                  </a:cubicBezTo>
                  <a:cubicBezTo>
                    <a:pt x="13435" y="7542"/>
                    <a:pt x="12982" y="7178"/>
                    <a:pt x="12463" y="6914"/>
                  </a:cubicBezTo>
                  <a:cubicBezTo>
                    <a:pt x="11944" y="6646"/>
                    <a:pt x="11391" y="6511"/>
                    <a:pt x="10806" y="6511"/>
                  </a:cubicBezTo>
                  <a:cubicBezTo>
                    <a:pt x="10211" y="6511"/>
                    <a:pt x="9655" y="6646"/>
                    <a:pt x="9134" y="6914"/>
                  </a:cubicBezTo>
                  <a:cubicBezTo>
                    <a:pt x="8617" y="7178"/>
                    <a:pt x="8162" y="7542"/>
                    <a:pt x="7775" y="8003"/>
                  </a:cubicBezTo>
                  <a:cubicBezTo>
                    <a:pt x="7388" y="8461"/>
                    <a:pt x="7084" y="9002"/>
                    <a:pt x="6862" y="9625"/>
                  </a:cubicBezTo>
                  <a:cubicBezTo>
                    <a:pt x="6639" y="10250"/>
                    <a:pt x="6529" y="10917"/>
                    <a:pt x="6529" y="11631"/>
                  </a:cubicBezTo>
                  <a:moveTo>
                    <a:pt x="13724" y="11631"/>
                  </a:moveTo>
                  <a:cubicBezTo>
                    <a:pt x="13724" y="12109"/>
                    <a:pt x="13648" y="12565"/>
                    <a:pt x="13501" y="12999"/>
                  </a:cubicBezTo>
                  <a:cubicBezTo>
                    <a:pt x="13352" y="13434"/>
                    <a:pt x="13146" y="13813"/>
                    <a:pt x="12879" y="14127"/>
                  </a:cubicBezTo>
                  <a:cubicBezTo>
                    <a:pt x="12612" y="14439"/>
                    <a:pt x="12301" y="14688"/>
                    <a:pt x="11942" y="14870"/>
                  </a:cubicBezTo>
                  <a:cubicBezTo>
                    <a:pt x="11582" y="15052"/>
                    <a:pt x="11205" y="15144"/>
                    <a:pt x="10806" y="15144"/>
                  </a:cubicBezTo>
                  <a:cubicBezTo>
                    <a:pt x="10407" y="15144"/>
                    <a:pt x="10025" y="15052"/>
                    <a:pt x="9662" y="14870"/>
                  </a:cubicBezTo>
                  <a:cubicBezTo>
                    <a:pt x="9300" y="14688"/>
                    <a:pt x="8987" y="14439"/>
                    <a:pt x="8725" y="14127"/>
                  </a:cubicBezTo>
                  <a:cubicBezTo>
                    <a:pt x="8463" y="13813"/>
                    <a:pt x="8257" y="13440"/>
                    <a:pt x="8103" y="13008"/>
                  </a:cubicBezTo>
                  <a:cubicBezTo>
                    <a:pt x="7951" y="12579"/>
                    <a:pt x="7875" y="12118"/>
                    <a:pt x="7875" y="11631"/>
                  </a:cubicBezTo>
                  <a:cubicBezTo>
                    <a:pt x="7875" y="11152"/>
                    <a:pt x="7951" y="10700"/>
                    <a:pt x="8103" y="10265"/>
                  </a:cubicBezTo>
                  <a:cubicBezTo>
                    <a:pt x="8257" y="9836"/>
                    <a:pt x="8463" y="9460"/>
                    <a:pt x="8725" y="9140"/>
                  </a:cubicBezTo>
                  <a:cubicBezTo>
                    <a:pt x="8987" y="8823"/>
                    <a:pt x="9298" y="8576"/>
                    <a:pt x="9657" y="8394"/>
                  </a:cubicBezTo>
                  <a:cubicBezTo>
                    <a:pt x="10015" y="8218"/>
                    <a:pt x="10399" y="8130"/>
                    <a:pt x="10806" y="8130"/>
                  </a:cubicBezTo>
                  <a:cubicBezTo>
                    <a:pt x="11205" y="8130"/>
                    <a:pt x="11582" y="8218"/>
                    <a:pt x="11942" y="8394"/>
                  </a:cubicBezTo>
                  <a:cubicBezTo>
                    <a:pt x="12301" y="8576"/>
                    <a:pt x="12612" y="8823"/>
                    <a:pt x="12879" y="9140"/>
                  </a:cubicBezTo>
                  <a:cubicBezTo>
                    <a:pt x="13146" y="9460"/>
                    <a:pt x="13352" y="9836"/>
                    <a:pt x="13501" y="10265"/>
                  </a:cubicBezTo>
                  <a:cubicBezTo>
                    <a:pt x="13648" y="10700"/>
                    <a:pt x="13724" y="11152"/>
                    <a:pt x="13724" y="11631"/>
                  </a:cubicBezTo>
                  <a:moveTo>
                    <a:pt x="9692" y="11631"/>
                  </a:moveTo>
                  <a:cubicBezTo>
                    <a:pt x="9692" y="11246"/>
                    <a:pt x="9799" y="10929"/>
                    <a:pt x="10020" y="10682"/>
                  </a:cubicBezTo>
                  <a:cubicBezTo>
                    <a:pt x="10238" y="10432"/>
                    <a:pt x="10500" y="10309"/>
                    <a:pt x="10806" y="10309"/>
                  </a:cubicBezTo>
                  <a:lnTo>
                    <a:pt x="10806" y="10280"/>
                  </a:lnTo>
                  <a:cubicBezTo>
                    <a:pt x="10945" y="10280"/>
                    <a:pt x="11065" y="10224"/>
                    <a:pt x="11163" y="10109"/>
                  </a:cubicBezTo>
                  <a:cubicBezTo>
                    <a:pt x="11261" y="9998"/>
                    <a:pt x="11310" y="9862"/>
                    <a:pt x="11310" y="9704"/>
                  </a:cubicBezTo>
                  <a:cubicBezTo>
                    <a:pt x="11310" y="9533"/>
                    <a:pt x="11261" y="9392"/>
                    <a:pt x="11163" y="9275"/>
                  </a:cubicBezTo>
                  <a:cubicBezTo>
                    <a:pt x="11065" y="9157"/>
                    <a:pt x="10945" y="9096"/>
                    <a:pt x="10806" y="9096"/>
                  </a:cubicBezTo>
                  <a:cubicBezTo>
                    <a:pt x="10228" y="9096"/>
                    <a:pt x="9733" y="9348"/>
                    <a:pt x="9322" y="9848"/>
                  </a:cubicBezTo>
                  <a:cubicBezTo>
                    <a:pt x="8913" y="10350"/>
                    <a:pt x="8708" y="10943"/>
                    <a:pt x="8708" y="11628"/>
                  </a:cubicBezTo>
                  <a:cubicBezTo>
                    <a:pt x="8708" y="11777"/>
                    <a:pt x="8757" y="11913"/>
                    <a:pt x="8854" y="12027"/>
                  </a:cubicBezTo>
                  <a:cubicBezTo>
                    <a:pt x="8952" y="12147"/>
                    <a:pt x="9063" y="12206"/>
                    <a:pt x="9187" y="12206"/>
                  </a:cubicBezTo>
                  <a:cubicBezTo>
                    <a:pt x="9329" y="12206"/>
                    <a:pt x="9447" y="12148"/>
                    <a:pt x="9545" y="12027"/>
                  </a:cubicBezTo>
                  <a:cubicBezTo>
                    <a:pt x="9643" y="11916"/>
                    <a:pt x="9692" y="11780"/>
                    <a:pt x="9692" y="1163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lIns="50799" tIns="50799" rIns="50799" bIns="50799" anchor="ctr"/>
            <a:lstStyle/>
            <a:p>
              <a:pPr defTabSz="457189">
                <a:defRPr/>
              </a:pPr>
              <a:endParaRPr lang="es-ES" sz="29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Gill Sans" charset="0"/>
                <a:sym typeface="Gill Sans" charset="0"/>
              </a:endParaRPr>
            </a:p>
          </p:txBody>
        </p:sp>
        <p:sp>
          <p:nvSpPr>
            <p:cNvPr id="60" name="Freeform 234">
              <a:extLst>
                <a:ext uri="{FF2B5EF4-FFF2-40B4-BE49-F238E27FC236}">
                  <a16:creationId xmlns:a16="http://schemas.microsoft.com/office/drawing/2014/main" id="{73410854-5318-4B72-8C58-96F59409B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18746" y="4502576"/>
              <a:ext cx="567360" cy="815345"/>
            </a:xfrm>
            <a:custGeom>
              <a:avLst/>
              <a:gdLst>
                <a:gd name="T0" fmla="*/ 499 w 667"/>
                <a:gd name="T1" fmla="*/ 52 h 959"/>
                <a:gd name="T2" fmla="*/ 551 w 667"/>
                <a:gd name="T3" fmla="*/ 104 h 959"/>
                <a:gd name="T4" fmla="*/ 593 w 667"/>
                <a:gd name="T5" fmla="*/ 219 h 959"/>
                <a:gd name="T6" fmla="*/ 562 w 667"/>
                <a:gd name="T7" fmla="*/ 323 h 959"/>
                <a:gd name="T8" fmla="*/ 478 w 667"/>
                <a:gd name="T9" fmla="*/ 396 h 959"/>
                <a:gd name="T10" fmla="*/ 437 w 667"/>
                <a:gd name="T11" fmla="*/ 459 h 959"/>
                <a:gd name="T12" fmla="*/ 478 w 667"/>
                <a:gd name="T13" fmla="*/ 511 h 959"/>
                <a:gd name="T14" fmla="*/ 572 w 667"/>
                <a:gd name="T15" fmla="*/ 583 h 959"/>
                <a:gd name="T16" fmla="*/ 624 w 667"/>
                <a:gd name="T17" fmla="*/ 667 h 959"/>
                <a:gd name="T18" fmla="*/ 614 w 667"/>
                <a:gd name="T19" fmla="*/ 812 h 959"/>
                <a:gd name="T20" fmla="*/ 437 w 667"/>
                <a:gd name="T21" fmla="*/ 937 h 959"/>
                <a:gd name="T22" fmla="*/ 166 w 667"/>
                <a:gd name="T23" fmla="*/ 948 h 959"/>
                <a:gd name="T24" fmla="*/ 20 w 667"/>
                <a:gd name="T25" fmla="*/ 844 h 959"/>
                <a:gd name="T26" fmla="*/ 20 w 667"/>
                <a:gd name="T27" fmla="*/ 698 h 959"/>
                <a:gd name="T28" fmla="*/ 166 w 667"/>
                <a:gd name="T29" fmla="*/ 594 h 959"/>
                <a:gd name="T30" fmla="*/ 301 w 667"/>
                <a:gd name="T31" fmla="*/ 573 h 959"/>
                <a:gd name="T32" fmla="*/ 333 w 667"/>
                <a:gd name="T33" fmla="*/ 531 h 959"/>
                <a:gd name="T34" fmla="*/ 322 w 667"/>
                <a:gd name="T35" fmla="*/ 459 h 959"/>
                <a:gd name="T36" fmla="*/ 312 w 667"/>
                <a:gd name="T37" fmla="*/ 438 h 959"/>
                <a:gd name="T38" fmla="*/ 197 w 667"/>
                <a:gd name="T39" fmla="*/ 417 h 959"/>
                <a:gd name="T40" fmla="*/ 83 w 667"/>
                <a:gd name="T41" fmla="*/ 313 h 959"/>
                <a:gd name="T42" fmla="*/ 93 w 667"/>
                <a:gd name="T43" fmla="*/ 156 h 959"/>
                <a:gd name="T44" fmla="*/ 270 w 667"/>
                <a:gd name="T45" fmla="*/ 21 h 959"/>
                <a:gd name="T46" fmla="*/ 666 w 667"/>
                <a:gd name="T47" fmla="*/ 0 h 959"/>
                <a:gd name="T48" fmla="*/ 551 w 667"/>
                <a:gd name="T49" fmla="*/ 771 h 959"/>
                <a:gd name="T50" fmla="*/ 520 w 667"/>
                <a:gd name="T51" fmla="*/ 687 h 959"/>
                <a:gd name="T52" fmla="*/ 406 w 667"/>
                <a:gd name="T53" fmla="*/ 604 h 959"/>
                <a:gd name="T54" fmla="*/ 374 w 667"/>
                <a:gd name="T55" fmla="*/ 604 h 959"/>
                <a:gd name="T56" fmla="*/ 322 w 667"/>
                <a:gd name="T57" fmla="*/ 604 h 959"/>
                <a:gd name="T58" fmla="*/ 239 w 667"/>
                <a:gd name="T59" fmla="*/ 625 h 959"/>
                <a:gd name="T60" fmla="*/ 166 w 667"/>
                <a:gd name="T61" fmla="*/ 656 h 959"/>
                <a:gd name="T62" fmla="*/ 124 w 667"/>
                <a:gd name="T63" fmla="*/ 750 h 959"/>
                <a:gd name="T64" fmla="*/ 187 w 667"/>
                <a:gd name="T65" fmla="*/ 854 h 959"/>
                <a:gd name="T66" fmla="*/ 353 w 667"/>
                <a:gd name="T67" fmla="*/ 906 h 959"/>
                <a:gd name="T68" fmla="*/ 551 w 667"/>
                <a:gd name="T69" fmla="*/ 771 h 959"/>
                <a:gd name="T70" fmla="*/ 468 w 667"/>
                <a:gd name="T71" fmla="*/ 323 h 959"/>
                <a:gd name="T72" fmla="*/ 468 w 667"/>
                <a:gd name="T73" fmla="*/ 198 h 959"/>
                <a:gd name="T74" fmla="*/ 385 w 667"/>
                <a:gd name="T75" fmla="*/ 73 h 959"/>
                <a:gd name="T76" fmla="*/ 260 w 667"/>
                <a:gd name="T77" fmla="*/ 63 h 959"/>
                <a:gd name="T78" fmla="*/ 197 w 667"/>
                <a:gd name="T79" fmla="*/ 136 h 959"/>
                <a:gd name="T80" fmla="*/ 197 w 667"/>
                <a:gd name="T81" fmla="*/ 250 h 959"/>
                <a:gd name="T82" fmla="*/ 281 w 667"/>
                <a:gd name="T83" fmla="*/ 375 h 959"/>
                <a:gd name="T84" fmla="*/ 406 w 667"/>
                <a:gd name="T85" fmla="*/ 396 h 959"/>
                <a:gd name="T86" fmla="*/ 437 w 667"/>
                <a:gd name="T87" fmla="*/ 365 h 9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67" h="959">
                  <a:moveTo>
                    <a:pt x="583" y="52"/>
                  </a:moveTo>
                  <a:cubicBezTo>
                    <a:pt x="499" y="52"/>
                    <a:pt x="499" y="52"/>
                    <a:pt x="499" y="52"/>
                  </a:cubicBezTo>
                  <a:cubicBezTo>
                    <a:pt x="520" y="73"/>
                    <a:pt x="520" y="73"/>
                    <a:pt x="520" y="73"/>
                  </a:cubicBezTo>
                  <a:cubicBezTo>
                    <a:pt x="531" y="84"/>
                    <a:pt x="541" y="94"/>
                    <a:pt x="551" y="104"/>
                  </a:cubicBezTo>
                  <a:cubicBezTo>
                    <a:pt x="562" y="125"/>
                    <a:pt x="572" y="136"/>
                    <a:pt x="583" y="156"/>
                  </a:cubicBezTo>
                  <a:cubicBezTo>
                    <a:pt x="593" y="177"/>
                    <a:pt x="593" y="198"/>
                    <a:pt x="593" y="219"/>
                  </a:cubicBezTo>
                  <a:cubicBezTo>
                    <a:pt x="593" y="240"/>
                    <a:pt x="593" y="261"/>
                    <a:pt x="583" y="281"/>
                  </a:cubicBezTo>
                  <a:cubicBezTo>
                    <a:pt x="572" y="292"/>
                    <a:pt x="572" y="313"/>
                    <a:pt x="562" y="323"/>
                  </a:cubicBezTo>
                  <a:cubicBezTo>
                    <a:pt x="551" y="344"/>
                    <a:pt x="531" y="354"/>
                    <a:pt x="520" y="365"/>
                  </a:cubicBezTo>
                  <a:cubicBezTo>
                    <a:pt x="478" y="396"/>
                    <a:pt x="478" y="396"/>
                    <a:pt x="478" y="396"/>
                  </a:cubicBezTo>
                  <a:cubicBezTo>
                    <a:pt x="468" y="406"/>
                    <a:pt x="458" y="417"/>
                    <a:pt x="458" y="417"/>
                  </a:cubicBezTo>
                  <a:cubicBezTo>
                    <a:pt x="447" y="427"/>
                    <a:pt x="437" y="438"/>
                    <a:pt x="437" y="459"/>
                  </a:cubicBezTo>
                  <a:cubicBezTo>
                    <a:pt x="437" y="469"/>
                    <a:pt x="447" y="479"/>
                    <a:pt x="458" y="490"/>
                  </a:cubicBezTo>
                  <a:cubicBezTo>
                    <a:pt x="468" y="500"/>
                    <a:pt x="478" y="511"/>
                    <a:pt x="478" y="511"/>
                  </a:cubicBezTo>
                  <a:cubicBezTo>
                    <a:pt x="531" y="542"/>
                    <a:pt x="531" y="542"/>
                    <a:pt x="531" y="542"/>
                  </a:cubicBezTo>
                  <a:cubicBezTo>
                    <a:pt x="541" y="552"/>
                    <a:pt x="562" y="573"/>
                    <a:pt x="572" y="583"/>
                  </a:cubicBezTo>
                  <a:cubicBezTo>
                    <a:pt x="583" y="594"/>
                    <a:pt x="593" y="604"/>
                    <a:pt x="603" y="614"/>
                  </a:cubicBezTo>
                  <a:cubicBezTo>
                    <a:pt x="614" y="635"/>
                    <a:pt x="614" y="646"/>
                    <a:pt x="624" y="667"/>
                  </a:cubicBezTo>
                  <a:cubicBezTo>
                    <a:pt x="624" y="677"/>
                    <a:pt x="635" y="698"/>
                    <a:pt x="635" y="719"/>
                  </a:cubicBezTo>
                  <a:cubicBezTo>
                    <a:pt x="635" y="750"/>
                    <a:pt x="624" y="781"/>
                    <a:pt x="614" y="812"/>
                  </a:cubicBezTo>
                  <a:cubicBezTo>
                    <a:pt x="593" y="833"/>
                    <a:pt x="572" y="864"/>
                    <a:pt x="541" y="885"/>
                  </a:cubicBezTo>
                  <a:cubicBezTo>
                    <a:pt x="520" y="906"/>
                    <a:pt x="478" y="927"/>
                    <a:pt x="437" y="937"/>
                  </a:cubicBezTo>
                  <a:cubicBezTo>
                    <a:pt x="395" y="948"/>
                    <a:pt x="343" y="958"/>
                    <a:pt x="291" y="958"/>
                  </a:cubicBezTo>
                  <a:cubicBezTo>
                    <a:pt x="239" y="958"/>
                    <a:pt x="197" y="958"/>
                    <a:pt x="166" y="948"/>
                  </a:cubicBezTo>
                  <a:cubicBezTo>
                    <a:pt x="124" y="937"/>
                    <a:pt x="93" y="917"/>
                    <a:pt x="72" y="906"/>
                  </a:cubicBezTo>
                  <a:cubicBezTo>
                    <a:pt x="51" y="885"/>
                    <a:pt x="31" y="864"/>
                    <a:pt x="20" y="844"/>
                  </a:cubicBezTo>
                  <a:cubicBezTo>
                    <a:pt x="10" y="823"/>
                    <a:pt x="0" y="802"/>
                    <a:pt x="0" y="781"/>
                  </a:cubicBezTo>
                  <a:cubicBezTo>
                    <a:pt x="0" y="760"/>
                    <a:pt x="10" y="729"/>
                    <a:pt x="20" y="698"/>
                  </a:cubicBezTo>
                  <a:cubicBezTo>
                    <a:pt x="41" y="677"/>
                    <a:pt x="62" y="646"/>
                    <a:pt x="103" y="625"/>
                  </a:cubicBezTo>
                  <a:cubicBezTo>
                    <a:pt x="124" y="614"/>
                    <a:pt x="145" y="604"/>
                    <a:pt x="166" y="594"/>
                  </a:cubicBezTo>
                  <a:cubicBezTo>
                    <a:pt x="197" y="594"/>
                    <a:pt x="218" y="583"/>
                    <a:pt x="239" y="583"/>
                  </a:cubicBezTo>
                  <a:cubicBezTo>
                    <a:pt x="260" y="573"/>
                    <a:pt x="281" y="573"/>
                    <a:pt x="301" y="573"/>
                  </a:cubicBezTo>
                  <a:cubicBezTo>
                    <a:pt x="322" y="573"/>
                    <a:pt x="343" y="573"/>
                    <a:pt x="353" y="573"/>
                  </a:cubicBezTo>
                  <a:cubicBezTo>
                    <a:pt x="353" y="552"/>
                    <a:pt x="343" y="542"/>
                    <a:pt x="333" y="531"/>
                  </a:cubicBezTo>
                  <a:cubicBezTo>
                    <a:pt x="322" y="521"/>
                    <a:pt x="322" y="500"/>
                    <a:pt x="322" y="479"/>
                  </a:cubicBezTo>
                  <a:cubicBezTo>
                    <a:pt x="322" y="469"/>
                    <a:pt x="322" y="459"/>
                    <a:pt x="322" y="459"/>
                  </a:cubicBezTo>
                  <a:cubicBezTo>
                    <a:pt x="322" y="448"/>
                    <a:pt x="333" y="438"/>
                    <a:pt x="333" y="438"/>
                  </a:cubicBezTo>
                  <a:cubicBezTo>
                    <a:pt x="322" y="438"/>
                    <a:pt x="322" y="438"/>
                    <a:pt x="312" y="438"/>
                  </a:cubicBezTo>
                  <a:cubicBezTo>
                    <a:pt x="301" y="438"/>
                    <a:pt x="301" y="438"/>
                    <a:pt x="291" y="438"/>
                  </a:cubicBezTo>
                  <a:cubicBezTo>
                    <a:pt x="260" y="438"/>
                    <a:pt x="218" y="427"/>
                    <a:pt x="197" y="417"/>
                  </a:cubicBezTo>
                  <a:cubicBezTo>
                    <a:pt x="166" y="406"/>
                    <a:pt x="145" y="396"/>
                    <a:pt x="124" y="375"/>
                  </a:cubicBezTo>
                  <a:cubicBezTo>
                    <a:pt x="103" y="354"/>
                    <a:pt x="93" y="334"/>
                    <a:pt x="83" y="313"/>
                  </a:cubicBezTo>
                  <a:cubicBezTo>
                    <a:pt x="72" y="292"/>
                    <a:pt x="62" y="261"/>
                    <a:pt x="62" y="240"/>
                  </a:cubicBezTo>
                  <a:cubicBezTo>
                    <a:pt x="62" y="209"/>
                    <a:pt x="72" y="177"/>
                    <a:pt x="93" y="156"/>
                  </a:cubicBezTo>
                  <a:cubicBezTo>
                    <a:pt x="103" y="125"/>
                    <a:pt x="124" y="94"/>
                    <a:pt x="156" y="73"/>
                  </a:cubicBezTo>
                  <a:cubicBezTo>
                    <a:pt x="187" y="42"/>
                    <a:pt x="228" y="21"/>
                    <a:pt x="270" y="21"/>
                  </a:cubicBezTo>
                  <a:cubicBezTo>
                    <a:pt x="312" y="11"/>
                    <a:pt x="353" y="0"/>
                    <a:pt x="395" y="0"/>
                  </a:cubicBezTo>
                  <a:cubicBezTo>
                    <a:pt x="666" y="0"/>
                    <a:pt x="666" y="0"/>
                    <a:pt x="666" y="0"/>
                  </a:cubicBezTo>
                  <a:lnTo>
                    <a:pt x="583" y="52"/>
                  </a:lnTo>
                  <a:close/>
                  <a:moveTo>
                    <a:pt x="551" y="771"/>
                  </a:moveTo>
                  <a:cubicBezTo>
                    <a:pt x="551" y="750"/>
                    <a:pt x="541" y="739"/>
                    <a:pt x="541" y="729"/>
                  </a:cubicBezTo>
                  <a:cubicBezTo>
                    <a:pt x="531" y="708"/>
                    <a:pt x="531" y="698"/>
                    <a:pt x="520" y="687"/>
                  </a:cubicBezTo>
                  <a:cubicBezTo>
                    <a:pt x="510" y="677"/>
                    <a:pt x="489" y="667"/>
                    <a:pt x="468" y="646"/>
                  </a:cubicBezTo>
                  <a:cubicBezTo>
                    <a:pt x="458" y="635"/>
                    <a:pt x="426" y="625"/>
                    <a:pt x="406" y="604"/>
                  </a:cubicBezTo>
                  <a:lnTo>
                    <a:pt x="395" y="604"/>
                  </a:lnTo>
                  <a:cubicBezTo>
                    <a:pt x="374" y="604"/>
                    <a:pt x="374" y="604"/>
                    <a:pt x="374" y="604"/>
                  </a:cubicBezTo>
                  <a:cubicBezTo>
                    <a:pt x="374" y="604"/>
                    <a:pt x="364" y="604"/>
                    <a:pt x="353" y="604"/>
                  </a:cubicBezTo>
                  <a:cubicBezTo>
                    <a:pt x="343" y="604"/>
                    <a:pt x="333" y="604"/>
                    <a:pt x="322" y="604"/>
                  </a:cubicBezTo>
                  <a:cubicBezTo>
                    <a:pt x="312" y="604"/>
                    <a:pt x="291" y="604"/>
                    <a:pt x="281" y="614"/>
                  </a:cubicBezTo>
                  <a:cubicBezTo>
                    <a:pt x="260" y="614"/>
                    <a:pt x="249" y="614"/>
                    <a:pt x="239" y="625"/>
                  </a:cubicBezTo>
                  <a:cubicBezTo>
                    <a:pt x="228" y="625"/>
                    <a:pt x="218" y="625"/>
                    <a:pt x="208" y="635"/>
                  </a:cubicBezTo>
                  <a:cubicBezTo>
                    <a:pt x="187" y="635"/>
                    <a:pt x="176" y="646"/>
                    <a:pt x="166" y="656"/>
                  </a:cubicBezTo>
                  <a:cubicBezTo>
                    <a:pt x="156" y="667"/>
                    <a:pt x="145" y="677"/>
                    <a:pt x="135" y="698"/>
                  </a:cubicBezTo>
                  <a:cubicBezTo>
                    <a:pt x="124" y="708"/>
                    <a:pt x="124" y="729"/>
                    <a:pt x="124" y="750"/>
                  </a:cubicBezTo>
                  <a:cubicBezTo>
                    <a:pt x="124" y="771"/>
                    <a:pt x="124" y="792"/>
                    <a:pt x="135" y="812"/>
                  </a:cubicBezTo>
                  <a:cubicBezTo>
                    <a:pt x="145" y="833"/>
                    <a:pt x="166" y="844"/>
                    <a:pt x="187" y="854"/>
                  </a:cubicBezTo>
                  <a:cubicBezTo>
                    <a:pt x="208" y="875"/>
                    <a:pt x="228" y="885"/>
                    <a:pt x="260" y="896"/>
                  </a:cubicBezTo>
                  <a:cubicBezTo>
                    <a:pt x="281" y="896"/>
                    <a:pt x="322" y="906"/>
                    <a:pt x="353" y="906"/>
                  </a:cubicBezTo>
                  <a:cubicBezTo>
                    <a:pt x="416" y="906"/>
                    <a:pt x="468" y="885"/>
                    <a:pt x="499" y="864"/>
                  </a:cubicBezTo>
                  <a:cubicBezTo>
                    <a:pt x="531" y="844"/>
                    <a:pt x="551" y="802"/>
                    <a:pt x="551" y="771"/>
                  </a:cubicBezTo>
                  <a:close/>
                  <a:moveTo>
                    <a:pt x="437" y="365"/>
                  </a:moveTo>
                  <a:cubicBezTo>
                    <a:pt x="458" y="354"/>
                    <a:pt x="468" y="334"/>
                    <a:pt x="468" y="323"/>
                  </a:cubicBezTo>
                  <a:cubicBezTo>
                    <a:pt x="468" y="302"/>
                    <a:pt x="478" y="292"/>
                    <a:pt x="478" y="271"/>
                  </a:cubicBezTo>
                  <a:cubicBezTo>
                    <a:pt x="478" y="250"/>
                    <a:pt x="468" y="229"/>
                    <a:pt x="468" y="198"/>
                  </a:cubicBezTo>
                  <a:cubicBezTo>
                    <a:pt x="458" y="177"/>
                    <a:pt x="447" y="146"/>
                    <a:pt x="437" y="125"/>
                  </a:cubicBezTo>
                  <a:cubicBezTo>
                    <a:pt x="416" y="104"/>
                    <a:pt x="406" y="84"/>
                    <a:pt x="385" y="73"/>
                  </a:cubicBezTo>
                  <a:cubicBezTo>
                    <a:pt x="364" y="52"/>
                    <a:pt x="333" y="42"/>
                    <a:pt x="312" y="42"/>
                  </a:cubicBezTo>
                  <a:cubicBezTo>
                    <a:pt x="291" y="42"/>
                    <a:pt x="270" y="52"/>
                    <a:pt x="260" y="63"/>
                  </a:cubicBezTo>
                  <a:cubicBezTo>
                    <a:pt x="239" y="63"/>
                    <a:pt x="228" y="73"/>
                    <a:pt x="218" y="84"/>
                  </a:cubicBezTo>
                  <a:cubicBezTo>
                    <a:pt x="208" y="104"/>
                    <a:pt x="197" y="115"/>
                    <a:pt x="197" y="136"/>
                  </a:cubicBezTo>
                  <a:cubicBezTo>
                    <a:pt x="187" y="146"/>
                    <a:pt x="187" y="167"/>
                    <a:pt x="187" y="177"/>
                  </a:cubicBezTo>
                  <a:cubicBezTo>
                    <a:pt x="187" y="198"/>
                    <a:pt x="187" y="219"/>
                    <a:pt x="197" y="250"/>
                  </a:cubicBezTo>
                  <a:cubicBezTo>
                    <a:pt x="208" y="271"/>
                    <a:pt x="208" y="302"/>
                    <a:pt x="228" y="323"/>
                  </a:cubicBezTo>
                  <a:cubicBezTo>
                    <a:pt x="239" y="344"/>
                    <a:pt x="260" y="365"/>
                    <a:pt x="281" y="375"/>
                  </a:cubicBezTo>
                  <a:cubicBezTo>
                    <a:pt x="301" y="396"/>
                    <a:pt x="322" y="396"/>
                    <a:pt x="353" y="396"/>
                  </a:cubicBezTo>
                  <a:cubicBezTo>
                    <a:pt x="364" y="396"/>
                    <a:pt x="385" y="396"/>
                    <a:pt x="406" y="396"/>
                  </a:cubicBezTo>
                  <a:cubicBezTo>
                    <a:pt x="416" y="386"/>
                    <a:pt x="426" y="375"/>
                    <a:pt x="437" y="365"/>
                  </a:cubicBezTo>
                  <a:close/>
                  <a:moveTo>
                    <a:pt x="437" y="365"/>
                  </a:moveTo>
                  <a:lnTo>
                    <a:pt x="437" y="3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lIns="121917" tIns="60958" rIns="121917" bIns="60958" anchor="ctr"/>
            <a:lstStyle/>
            <a:p>
              <a:pPr>
                <a:defRPr/>
              </a:pPr>
              <a:endParaRPr lang="en-US" dirty="0">
                <a:latin typeface="+mj-lt"/>
                <a:ea typeface="SimSun" charset="0"/>
              </a:endParaRPr>
            </a:p>
          </p:txBody>
        </p:sp>
        <p:sp>
          <p:nvSpPr>
            <p:cNvPr id="61" name="Freeform 238">
              <a:extLst>
                <a:ext uri="{FF2B5EF4-FFF2-40B4-BE49-F238E27FC236}">
                  <a16:creationId xmlns:a16="http://schemas.microsoft.com/office/drawing/2014/main" id="{E9257C0A-9560-4C44-9C8C-CC1373374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7637" y="4596884"/>
              <a:ext cx="706141" cy="1375118"/>
            </a:xfrm>
            <a:custGeom>
              <a:avLst/>
              <a:gdLst>
                <a:gd name="T0" fmla="*/ 502 w 503"/>
                <a:gd name="T1" fmla="*/ 351 h 980"/>
                <a:gd name="T2" fmla="*/ 318 w 503"/>
                <a:gd name="T3" fmla="*/ 351 h 980"/>
                <a:gd name="T4" fmla="*/ 318 w 503"/>
                <a:gd name="T5" fmla="*/ 260 h 980"/>
                <a:gd name="T6" fmla="*/ 368 w 503"/>
                <a:gd name="T7" fmla="*/ 176 h 980"/>
                <a:gd name="T8" fmla="*/ 485 w 503"/>
                <a:gd name="T9" fmla="*/ 176 h 980"/>
                <a:gd name="T10" fmla="*/ 485 w 503"/>
                <a:gd name="T11" fmla="*/ 0 h 980"/>
                <a:gd name="T12" fmla="*/ 284 w 503"/>
                <a:gd name="T13" fmla="*/ 0 h 980"/>
                <a:gd name="T14" fmla="*/ 117 w 503"/>
                <a:gd name="T15" fmla="*/ 168 h 980"/>
                <a:gd name="T16" fmla="*/ 117 w 503"/>
                <a:gd name="T17" fmla="*/ 351 h 980"/>
                <a:gd name="T18" fmla="*/ 0 w 503"/>
                <a:gd name="T19" fmla="*/ 351 h 980"/>
                <a:gd name="T20" fmla="*/ 0 w 503"/>
                <a:gd name="T21" fmla="*/ 494 h 980"/>
                <a:gd name="T22" fmla="*/ 117 w 503"/>
                <a:gd name="T23" fmla="*/ 494 h 980"/>
                <a:gd name="T24" fmla="*/ 117 w 503"/>
                <a:gd name="T25" fmla="*/ 979 h 980"/>
                <a:gd name="T26" fmla="*/ 318 w 503"/>
                <a:gd name="T27" fmla="*/ 979 h 980"/>
                <a:gd name="T28" fmla="*/ 318 w 503"/>
                <a:gd name="T29" fmla="*/ 494 h 980"/>
                <a:gd name="T30" fmla="*/ 451 w 503"/>
                <a:gd name="T31" fmla="*/ 494 h 980"/>
                <a:gd name="T32" fmla="*/ 502 w 503"/>
                <a:gd name="T33" fmla="*/ 351 h 980"/>
                <a:gd name="T34" fmla="*/ 502 w 503"/>
                <a:gd name="T35" fmla="*/ 351 h 980"/>
                <a:gd name="T36" fmla="*/ 502 w 503"/>
                <a:gd name="T37" fmla="*/ 351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3" h="980">
                  <a:moveTo>
                    <a:pt x="502" y="351"/>
                  </a:moveTo>
                  <a:cubicBezTo>
                    <a:pt x="318" y="351"/>
                    <a:pt x="318" y="351"/>
                    <a:pt x="318" y="351"/>
                  </a:cubicBezTo>
                  <a:cubicBezTo>
                    <a:pt x="318" y="260"/>
                    <a:pt x="318" y="260"/>
                    <a:pt x="318" y="260"/>
                  </a:cubicBezTo>
                  <a:cubicBezTo>
                    <a:pt x="318" y="260"/>
                    <a:pt x="309" y="176"/>
                    <a:pt x="368" y="176"/>
                  </a:cubicBezTo>
                  <a:cubicBezTo>
                    <a:pt x="485" y="176"/>
                    <a:pt x="485" y="176"/>
                    <a:pt x="485" y="176"/>
                  </a:cubicBezTo>
                  <a:cubicBezTo>
                    <a:pt x="485" y="0"/>
                    <a:pt x="485" y="0"/>
                    <a:pt x="485" y="0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84" y="0"/>
                    <a:pt x="117" y="0"/>
                    <a:pt x="117" y="168"/>
                  </a:cubicBezTo>
                  <a:cubicBezTo>
                    <a:pt x="117" y="209"/>
                    <a:pt x="117" y="268"/>
                    <a:pt x="117" y="351"/>
                  </a:cubicBezTo>
                  <a:cubicBezTo>
                    <a:pt x="0" y="351"/>
                    <a:pt x="0" y="351"/>
                    <a:pt x="0" y="351"/>
                  </a:cubicBezTo>
                  <a:cubicBezTo>
                    <a:pt x="0" y="494"/>
                    <a:pt x="0" y="494"/>
                    <a:pt x="0" y="494"/>
                  </a:cubicBezTo>
                  <a:cubicBezTo>
                    <a:pt x="117" y="494"/>
                    <a:pt x="117" y="494"/>
                    <a:pt x="117" y="494"/>
                  </a:cubicBezTo>
                  <a:cubicBezTo>
                    <a:pt x="117" y="719"/>
                    <a:pt x="117" y="979"/>
                    <a:pt x="117" y="979"/>
                  </a:cubicBezTo>
                  <a:cubicBezTo>
                    <a:pt x="318" y="979"/>
                    <a:pt x="318" y="979"/>
                    <a:pt x="318" y="979"/>
                  </a:cubicBezTo>
                  <a:cubicBezTo>
                    <a:pt x="318" y="494"/>
                    <a:pt x="318" y="494"/>
                    <a:pt x="318" y="494"/>
                  </a:cubicBezTo>
                  <a:cubicBezTo>
                    <a:pt x="451" y="494"/>
                    <a:pt x="451" y="494"/>
                    <a:pt x="451" y="494"/>
                  </a:cubicBezTo>
                  <a:lnTo>
                    <a:pt x="502" y="351"/>
                  </a:lnTo>
                  <a:close/>
                  <a:moveTo>
                    <a:pt x="502" y="351"/>
                  </a:moveTo>
                  <a:lnTo>
                    <a:pt x="502" y="3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lIns="121917" tIns="60958" rIns="121917" bIns="60958" anchor="ctr"/>
            <a:lstStyle/>
            <a:p>
              <a:pPr>
                <a:defRPr/>
              </a:pPr>
              <a:endParaRPr lang="en-US" dirty="0">
                <a:latin typeface="+mj-lt"/>
                <a:ea typeface="SimSun" charset="0"/>
              </a:endParaRPr>
            </a:p>
          </p:txBody>
        </p:sp>
        <p:grpSp>
          <p:nvGrpSpPr>
            <p:cNvPr id="62" name="Group 26">
              <a:extLst>
                <a:ext uri="{FF2B5EF4-FFF2-40B4-BE49-F238E27FC236}">
                  <a16:creationId xmlns:a16="http://schemas.microsoft.com/office/drawing/2014/main" id="{AEDC5475-EC09-404C-A33C-B1AFB3BE19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13237" y="9751481"/>
              <a:ext cx="676323" cy="984426"/>
              <a:chOff x="4294188" y="1712913"/>
              <a:chExt cx="285750" cy="415925"/>
            </a:xfrm>
            <a:solidFill>
              <a:schemeClr val="accent3"/>
            </a:solidFill>
          </p:grpSpPr>
          <p:sp>
            <p:nvSpPr>
              <p:cNvPr id="63" name="Freeform 166">
                <a:extLst>
                  <a:ext uri="{FF2B5EF4-FFF2-40B4-BE49-F238E27FC236}">
                    <a16:creationId xmlns:a16="http://schemas.microsoft.com/office/drawing/2014/main" id="{55EE550A-D394-4515-9B24-AE8C76793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4188" y="1712913"/>
                <a:ext cx="285750" cy="415925"/>
              </a:xfrm>
              <a:custGeom>
                <a:avLst/>
                <a:gdLst>
                  <a:gd name="T0" fmla="*/ 396 w 793"/>
                  <a:gd name="T1" fmla="*/ 146 h 1157"/>
                  <a:gd name="T2" fmla="*/ 553 w 793"/>
                  <a:gd name="T3" fmla="*/ 209 h 1157"/>
                  <a:gd name="T4" fmla="*/ 615 w 793"/>
                  <a:gd name="T5" fmla="*/ 365 h 1157"/>
                  <a:gd name="T6" fmla="*/ 553 w 793"/>
                  <a:gd name="T7" fmla="*/ 511 h 1157"/>
                  <a:gd name="T8" fmla="*/ 396 w 793"/>
                  <a:gd name="T9" fmla="*/ 709 h 1157"/>
                  <a:gd name="T10" fmla="*/ 240 w 793"/>
                  <a:gd name="T11" fmla="*/ 511 h 1157"/>
                  <a:gd name="T12" fmla="*/ 178 w 793"/>
                  <a:gd name="T13" fmla="*/ 365 h 1157"/>
                  <a:gd name="T14" fmla="*/ 240 w 793"/>
                  <a:gd name="T15" fmla="*/ 209 h 1157"/>
                  <a:gd name="T16" fmla="*/ 396 w 793"/>
                  <a:gd name="T17" fmla="*/ 146 h 1157"/>
                  <a:gd name="T18" fmla="*/ 396 w 793"/>
                  <a:gd name="T19" fmla="*/ 0 h 1157"/>
                  <a:gd name="T20" fmla="*/ 136 w 793"/>
                  <a:gd name="T21" fmla="*/ 105 h 1157"/>
                  <a:gd name="T22" fmla="*/ 136 w 793"/>
                  <a:gd name="T23" fmla="*/ 615 h 1157"/>
                  <a:gd name="T24" fmla="*/ 396 w 793"/>
                  <a:gd name="T25" fmla="*/ 1156 h 1157"/>
                  <a:gd name="T26" fmla="*/ 646 w 793"/>
                  <a:gd name="T27" fmla="*/ 615 h 1157"/>
                  <a:gd name="T28" fmla="*/ 646 w 793"/>
                  <a:gd name="T29" fmla="*/ 105 h 1157"/>
                  <a:gd name="T30" fmla="*/ 396 w 793"/>
                  <a:gd name="T31" fmla="*/ 0 h 1157"/>
                  <a:gd name="T32" fmla="*/ 396 w 793"/>
                  <a:gd name="T33" fmla="*/ 146 h 1157"/>
                  <a:gd name="T34" fmla="*/ 396 w 793"/>
                  <a:gd name="T35" fmla="*/ 0 h 1157"/>
                  <a:gd name="T36" fmla="*/ 396 w 793"/>
                  <a:gd name="T37" fmla="*/ 0 h 1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93" h="1157">
                    <a:moveTo>
                      <a:pt x="396" y="146"/>
                    </a:moveTo>
                    <a:cubicBezTo>
                      <a:pt x="448" y="146"/>
                      <a:pt x="511" y="167"/>
                      <a:pt x="553" y="209"/>
                    </a:cubicBezTo>
                    <a:cubicBezTo>
                      <a:pt x="584" y="250"/>
                      <a:pt x="615" y="302"/>
                      <a:pt x="615" y="365"/>
                    </a:cubicBezTo>
                    <a:cubicBezTo>
                      <a:pt x="615" y="417"/>
                      <a:pt x="584" y="469"/>
                      <a:pt x="553" y="511"/>
                    </a:cubicBezTo>
                    <a:cubicBezTo>
                      <a:pt x="542" y="521"/>
                      <a:pt x="469" y="594"/>
                      <a:pt x="396" y="709"/>
                    </a:cubicBezTo>
                    <a:cubicBezTo>
                      <a:pt x="323" y="594"/>
                      <a:pt x="250" y="521"/>
                      <a:pt x="240" y="511"/>
                    </a:cubicBezTo>
                    <a:cubicBezTo>
                      <a:pt x="198" y="469"/>
                      <a:pt x="178" y="417"/>
                      <a:pt x="178" y="365"/>
                    </a:cubicBezTo>
                    <a:cubicBezTo>
                      <a:pt x="178" y="302"/>
                      <a:pt x="198" y="250"/>
                      <a:pt x="240" y="209"/>
                    </a:cubicBezTo>
                    <a:cubicBezTo>
                      <a:pt x="282" y="167"/>
                      <a:pt x="334" y="146"/>
                      <a:pt x="396" y="146"/>
                    </a:cubicBezTo>
                    <a:lnTo>
                      <a:pt x="396" y="0"/>
                    </a:lnTo>
                    <a:cubicBezTo>
                      <a:pt x="303" y="0"/>
                      <a:pt x="209" y="32"/>
                      <a:pt x="136" y="105"/>
                    </a:cubicBezTo>
                    <a:cubicBezTo>
                      <a:pt x="0" y="250"/>
                      <a:pt x="0" y="480"/>
                      <a:pt x="136" y="615"/>
                    </a:cubicBezTo>
                    <a:cubicBezTo>
                      <a:pt x="136" y="615"/>
                      <a:pt x="396" y="865"/>
                      <a:pt x="396" y="1156"/>
                    </a:cubicBezTo>
                    <a:cubicBezTo>
                      <a:pt x="396" y="865"/>
                      <a:pt x="646" y="615"/>
                      <a:pt x="646" y="615"/>
                    </a:cubicBezTo>
                    <a:cubicBezTo>
                      <a:pt x="792" y="480"/>
                      <a:pt x="792" y="250"/>
                      <a:pt x="646" y="105"/>
                    </a:cubicBezTo>
                    <a:cubicBezTo>
                      <a:pt x="584" y="32"/>
                      <a:pt x="490" y="0"/>
                      <a:pt x="396" y="0"/>
                    </a:cubicBezTo>
                    <a:lnTo>
                      <a:pt x="396" y="146"/>
                    </a:lnTo>
                    <a:close/>
                    <a:moveTo>
                      <a:pt x="396" y="0"/>
                    </a:moveTo>
                    <a:lnTo>
                      <a:pt x="396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+mj-lt"/>
                  <a:ea typeface="SimSun" charset="0"/>
                </a:endParaRPr>
              </a:p>
            </p:txBody>
          </p:sp>
          <p:sp>
            <p:nvSpPr>
              <p:cNvPr id="64" name="Freeform 167">
                <a:extLst>
                  <a:ext uri="{FF2B5EF4-FFF2-40B4-BE49-F238E27FC236}">
                    <a16:creationId xmlns:a16="http://schemas.microsoft.com/office/drawing/2014/main" id="{BA22FC86-7A69-4760-B533-23C233830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0075" y="1817688"/>
                <a:ext cx="52388" cy="52387"/>
              </a:xfrm>
              <a:custGeom>
                <a:avLst/>
                <a:gdLst>
                  <a:gd name="T0" fmla="*/ 146 w 147"/>
                  <a:gd name="T1" fmla="*/ 73 h 147"/>
                  <a:gd name="T2" fmla="*/ 73 w 147"/>
                  <a:gd name="T3" fmla="*/ 146 h 147"/>
                  <a:gd name="T4" fmla="*/ 0 w 147"/>
                  <a:gd name="T5" fmla="*/ 73 h 147"/>
                  <a:gd name="T6" fmla="*/ 73 w 147"/>
                  <a:gd name="T7" fmla="*/ 0 h 147"/>
                  <a:gd name="T8" fmla="*/ 146 w 147"/>
                  <a:gd name="T9" fmla="*/ 73 h 147"/>
                  <a:gd name="T10" fmla="*/ 146 w 147"/>
                  <a:gd name="T11" fmla="*/ 73 h 147"/>
                  <a:gd name="T12" fmla="*/ 146 w 147"/>
                  <a:gd name="T13" fmla="*/ 7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" h="147">
                    <a:moveTo>
                      <a:pt x="146" y="73"/>
                    </a:moveTo>
                    <a:cubicBezTo>
                      <a:pt x="146" y="104"/>
                      <a:pt x="115" y="146"/>
                      <a:pt x="73" y="146"/>
                    </a:cubicBezTo>
                    <a:cubicBezTo>
                      <a:pt x="32" y="146"/>
                      <a:pt x="0" y="104"/>
                      <a:pt x="0" y="73"/>
                    </a:cubicBezTo>
                    <a:cubicBezTo>
                      <a:pt x="0" y="31"/>
                      <a:pt x="32" y="0"/>
                      <a:pt x="73" y="0"/>
                    </a:cubicBezTo>
                    <a:cubicBezTo>
                      <a:pt x="115" y="0"/>
                      <a:pt x="146" y="31"/>
                      <a:pt x="146" y="73"/>
                    </a:cubicBezTo>
                    <a:close/>
                    <a:moveTo>
                      <a:pt x="146" y="73"/>
                    </a:moveTo>
                    <a:lnTo>
                      <a:pt x="146" y="7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+mj-lt"/>
                  <a:ea typeface="SimSun" charset="0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7EBB45B-338B-A957-ABF2-E578F2804DC5}"/>
              </a:ext>
            </a:extLst>
          </p:cNvPr>
          <p:cNvSpPr txBox="1"/>
          <p:nvPr/>
        </p:nvSpPr>
        <p:spPr>
          <a:xfrm>
            <a:off x="698375" y="2222719"/>
            <a:ext cx="5981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Automated Systems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QR code check-ins, automated coin deduction, and gym payouts reduce manual work.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1D315-A642-B1C7-B2B8-945CC2E3F84E}"/>
              </a:ext>
            </a:extLst>
          </p:cNvPr>
          <p:cNvSpPr txBox="1"/>
          <p:nvPr/>
        </p:nvSpPr>
        <p:spPr>
          <a:xfrm>
            <a:off x="698195" y="3481133"/>
            <a:ext cx="58289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Lean Marketing Strategies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Focus on social media, referral programs, and local partnerships to minimize costs.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96167-CDE4-9B3D-BFB3-AB17D6ABC6D5}"/>
              </a:ext>
            </a:extLst>
          </p:cNvPr>
          <p:cNvSpPr txBox="1"/>
          <p:nvPr/>
        </p:nvSpPr>
        <p:spPr>
          <a:xfrm>
            <a:off x="698195" y="5016546"/>
            <a:ext cx="5828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Data-Driven Decisions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Use platform analytics to improve customer retention and gym engagement.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411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26493" y="444713"/>
            <a:ext cx="30364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gency FB" panose="020B0503020202020204" pitchFamily="34" charset="0"/>
              </a:rPr>
              <a:t>Future Roadmap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9D9FC5-9AA0-DB70-13D2-FE318D5075DD}"/>
              </a:ext>
            </a:extLst>
          </p:cNvPr>
          <p:cNvGrpSpPr/>
          <p:nvPr/>
        </p:nvGrpSpPr>
        <p:grpSpPr>
          <a:xfrm>
            <a:off x="925403" y="1797767"/>
            <a:ext cx="6802180" cy="4182918"/>
            <a:chOff x="2051776" y="1876425"/>
            <a:chExt cx="6802180" cy="4182918"/>
          </a:xfrm>
        </p:grpSpPr>
        <p:pic>
          <p:nvPicPr>
            <p:cNvPr id="2052" name="Picture 4" descr="Fitness Tracker 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7219" y="4223766"/>
              <a:ext cx="872490" cy="872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2051776" y="5228346"/>
              <a:ext cx="286337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masis MT Pro Medium" panose="02040604050005020304" pitchFamily="18" charset="0"/>
                </a:rPr>
                <a:t>Sync fitness data with </a:t>
              </a:r>
              <a:r>
                <a:rPr lang="en-US" sz="1600" dirty="0">
                  <a:solidFill>
                    <a:srgbClr val="FF0000"/>
                  </a:solidFill>
                  <a:latin typeface="Amasis MT Pro Medium" panose="02040604050005020304" pitchFamily="18" charset="0"/>
                </a:rPr>
                <a:t>wearables</a:t>
              </a:r>
              <a:r>
                <a:rPr lang="en-US" sz="1600" dirty="0">
                  <a:solidFill>
                    <a:schemeClr val="bg1"/>
                  </a:solidFill>
                  <a:latin typeface="Amasis MT Pro Medium" panose="02040604050005020304" pitchFamily="18" charset="0"/>
                </a:rPr>
                <a:t> for enhanced health tracking</a:t>
              </a:r>
              <a:endParaRPr lang="en-IN" sz="1600" dirty="0">
                <a:solidFill>
                  <a:schemeClr val="bg1"/>
                </a:solidFill>
                <a:latin typeface="Amasis MT Pro Medium" panose="02040604050005020304" pitchFamily="18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55E0742-479E-03E6-5C91-3A628A677E31}"/>
                </a:ext>
              </a:extLst>
            </p:cNvPr>
            <p:cNvGrpSpPr/>
            <p:nvPr/>
          </p:nvGrpSpPr>
          <p:grpSpPr>
            <a:xfrm>
              <a:off x="2085394" y="1876425"/>
              <a:ext cx="6768562" cy="1757130"/>
              <a:chOff x="2085394" y="1876425"/>
              <a:chExt cx="6768562" cy="175713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E038640-DB96-9516-3AD8-F09079BC6A13}"/>
                  </a:ext>
                </a:extLst>
              </p:cNvPr>
              <p:cNvGrpSpPr/>
              <p:nvPr/>
            </p:nvGrpSpPr>
            <p:grpSpPr>
              <a:xfrm>
                <a:off x="2085394" y="1876425"/>
                <a:ext cx="2863375" cy="1757130"/>
                <a:chOff x="2085394" y="1876425"/>
                <a:chExt cx="2863375" cy="1757130"/>
              </a:xfrm>
            </p:grpSpPr>
            <p:pic>
              <p:nvPicPr>
                <p:cNvPr id="2050" name="Picture 2" descr="Global 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47219" y="1876425"/>
                  <a:ext cx="872490" cy="87249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" name="TextBox 4"/>
                <p:cNvSpPr txBox="1"/>
                <p:nvPr/>
              </p:nvSpPr>
              <p:spPr>
                <a:xfrm>
                  <a:off x="2085394" y="2802558"/>
                  <a:ext cx="286337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masis MT Pro Medium" panose="02040604050005020304" pitchFamily="18" charset="0"/>
                    </a:rPr>
                    <a:t>Expand gym partnerships</a:t>
                  </a:r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  <a:latin typeface="Amasis MT Pro Medium" panose="02040604050005020304" pitchFamily="18" charset="0"/>
                    </a:rPr>
                    <a:t> 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Amasis MT Pro Medium" panose="02040604050005020304" pitchFamily="18" charset="0"/>
                    </a:rPr>
                    <a:t>nationally and globally for a seamless fitness network</a:t>
                  </a:r>
                  <a:r>
                    <a:rPr lang="en-US" sz="1600" dirty="0">
                      <a:latin typeface="Amasis MT Pro Medium" panose="02040604050005020304" pitchFamily="18" charset="0"/>
                    </a:rPr>
                    <a:t>.</a:t>
                  </a:r>
                  <a:endParaRPr lang="en-IN" sz="1600" dirty="0">
                    <a:latin typeface="Amasis MT Pro Medium" panose="02040604050005020304" pitchFamily="18" charset="0"/>
                  </a:endParaRPr>
                </a:p>
              </p:txBody>
            </p:sp>
          </p:grpSp>
          <p:pic>
            <p:nvPicPr>
              <p:cNvPr id="2054" name="Picture 6" descr="Artificial intelligence 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30951" y="2007870"/>
                <a:ext cx="609600" cy="609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5817547" y="2802558"/>
                <a:ext cx="303640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masis MT Pro Medium" panose="02040604050005020304" pitchFamily="18" charset="0"/>
                  </a:rPr>
                  <a:t>AI-powered</a:t>
                </a:r>
                <a:r>
                  <a:rPr lang="en-US" sz="1600" dirty="0">
                    <a:solidFill>
                      <a:schemeClr val="bg1"/>
                    </a:solidFill>
                    <a:latin typeface="Amasis MT Pro Medium" panose="02040604050005020304" pitchFamily="18" charset="0"/>
                  </a:rPr>
                  <a:t> suggestions for gyms, trainers, and workouts</a:t>
                </a:r>
                <a:endParaRPr lang="en-IN" sz="1600" dirty="0">
                  <a:solidFill>
                    <a:schemeClr val="bg1"/>
                  </a:solidFill>
                  <a:latin typeface="Amasis MT Pro Medium" panose="02040604050005020304" pitchFamily="18" charset="0"/>
                </a:endParaRPr>
              </a:p>
            </p:txBody>
          </p:sp>
        </p:grpSp>
        <p:pic>
          <p:nvPicPr>
            <p:cNvPr id="2056" name="Picture 8" descr="Swipe card 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2184" y="4206228"/>
              <a:ext cx="718497" cy="71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6532955" y="5228346"/>
              <a:ext cx="214828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masis MT Pro Medium" panose="02040604050005020304" pitchFamily="18" charset="0"/>
                </a:rPr>
                <a:t>Redeem coins with a </a:t>
              </a:r>
              <a:r>
                <a:rPr lang="en-US" sz="1600" dirty="0">
                  <a:solidFill>
                    <a:srgbClr val="FF0000"/>
                  </a:solidFill>
                  <a:latin typeface="Amasis MT Pro Medium" panose="02040604050005020304" pitchFamily="18" charset="0"/>
                </a:rPr>
                <a:t>swipe card</a:t>
              </a:r>
              <a:r>
                <a:rPr lang="en-US" sz="1600" dirty="0">
                  <a:solidFill>
                    <a:schemeClr val="bg1"/>
                  </a:solidFill>
                  <a:latin typeface="Amasis MT Pro Medium" panose="02040604050005020304" pitchFamily="18" charset="0"/>
                </a:rPr>
                <a:t>, no smartphone needed</a:t>
              </a:r>
              <a:endParaRPr lang="en-IN" sz="1600" dirty="0">
                <a:solidFill>
                  <a:schemeClr val="bg1"/>
                </a:solidFill>
                <a:latin typeface="Amasis MT Pro Medium" panose="02040604050005020304" pitchFamily="18" charset="0"/>
              </a:endParaRPr>
            </a:p>
          </p:txBody>
        </p:sp>
      </p:grpSp>
      <p:pic>
        <p:nvPicPr>
          <p:cNvPr id="8" name="Picture 2" descr="Expansion ">
            <a:extLst>
              <a:ext uri="{FF2B5EF4-FFF2-40B4-BE49-F238E27FC236}">
                <a16:creationId xmlns:a16="http://schemas.microsoft.com/office/drawing/2014/main" id="{3C8FD1DD-3D7C-F81F-67EE-A2EEEF2B6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420" y="1797767"/>
            <a:ext cx="707387" cy="70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Multi agent system ">
            <a:extLst>
              <a:ext uri="{FF2B5EF4-FFF2-40B4-BE49-F238E27FC236}">
                <a16:creationId xmlns:a16="http://schemas.microsoft.com/office/drawing/2014/main" id="{4429B6FD-FED3-C914-C0B7-CD883B3F5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048" y="4222104"/>
            <a:ext cx="718497" cy="71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11CDD4-6625-AE8C-BE8C-E6FE67253E96}"/>
              </a:ext>
            </a:extLst>
          </p:cNvPr>
          <p:cNvSpPr txBox="1"/>
          <p:nvPr/>
        </p:nvSpPr>
        <p:spPr>
          <a:xfrm>
            <a:off x="8659244" y="5147273"/>
            <a:ext cx="26661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masis MT Pro Medium" panose="02040604050005020304" pitchFamily="18" charset="0"/>
              </a:rPr>
              <a:t>Referral System: </a:t>
            </a:r>
            <a:r>
              <a:rPr lang="en-US" sz="1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Incentivize users to bring friends, accelerating organic growth.</a:t>
            </a:r>
            <a:endParaRPr lang="en-IN" sz="1600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83E9FD-9F5B-F77C-0681-B3FDCE9DC7AE}"/>
              </a:ext>
            </a:extLst>
          </p:cNvPr>
          <p:cNvSpPr txBox="1"/>
          <p:nvPr/>
        </p:nvSpPr>
        <p:spPr>
          <a:xfrm>
            <a:off x="8646059" y="2723900"/>
            <a:ext cx="26661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Future goal to </a:t>
            </a:r>
            <a:r>
              <a:rPr lang="en-US" sz="1600" dirty="0">
                <a:solidFill>
                  <a:srgbClr val="FF0000"/>
                </a:solidFill>
                <a:latin typeface="Amasis MT Pro Medium" panose="02040604050005020304" pitchFamily="18" charset="0"/>
              </a:rPr>
              <a:t>expand internationally</a:t>
            </a:r>
            <a:r>
              <a:rPr lang="en-US" sz="1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, starting with fitness-conscious markets.</a:t>
            </a:r>
            <a:endParaRPr lang="en-IN" sz="1600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tx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8DAF-05A7-EA10-5FFD-ACB628587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260" y="-311585"/>
            <a:ext cx="6883120" cy="1325563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                       BOOTCAMPS</a:t>
            </a:r>
            <a:endParaRPr lang="en-IN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2CE0A5C1-EC34-4327-4D91-28B16E7E9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96" y="721808"/>
            <a:ext cx="5437614" cy="3561117"/>
          </a:xfrm>
        </p:spPr>
      </p:pic>
      <p:pic>
        <p:nvPicPr>
          <p:cNvPr id="7" name="Picture 6" descr="A person on a black background">
            <a:extLst>
              <a:ext uri="{FF2B5EF4-FFF2-40B4-BE49-F238E27FC236}">
                <a16:creationId xmlns:a16="http://schemas.microsoft.com/office/drawing/2014/main" id="{EFDA7130-422B-EC7E-4066-24A02BF9BC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991" y="833262"/>
            <a:ext cx="1999754" cy="2513657"/>
          </a:xfrm>
          <a:prstGeom prst="rect">
            <a:avLst/>
          </a:prstGeom>
        </p:spPr>
      </p:pic>
      <p:pic>
        <p:nvPicPr>
          <p:cNvPr id="4" name="Picture 3" descr="A hand holding a qr code">
            <a:extLst>
              <a:ext uri="{FF2B5EF4-FFF2-40B4-BE49-F238E27FC236}">
                <a16:creationId xmlns:a16="http://schemas.microsoft.com/office/drawing/2014/main" id="{53981468-832A-EB2E-7B82-63EA2EDFCD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516" y="833262"/>
            <a:ext cx="2571750" cy="3082884"/>
          </a:xfrm>
          <a:prstGeom prst="rect">
            <a:avLst/>
          </a:prstGeom>
        </p:spPr>
      </p:pic>
      <p:pic>
        <p:nvPicPr>
          <p:cNvPr id="8" name="Picture 7" descr="A person kicking another person in a gym&#10;&#10;AI-generated content may be incorrect.">
            <a:extLst>
              <a:ext uri="{FF2B5EF4-FFF2-40B4-BE49-F238E27FC236}">
                <a16:creationId xmlns:a16="http://schemas.microsoft.com/office/drawing/2014/main" id="{88398353-84C1-C5F6-E386-FB8F7E3A07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606" y="4069007"/>
            <a:ext cx="2839569" cy="24476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CC136A-B401-1FCC-6D84-61AE12F7A8AA}"/>
              </a:ext>
            </a:extLst>
          </p:cNvPr>
          <p:cNvSpPr txBox="1"/>
          <p:nvPr/>
        </p:nvSpPr>
        <p:spPr>
          <a:xfrm>
            <a:off x="1940656" y="137033"/>
            <a:ext cx="2749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COMMUNITY</a:t>
            </a:r>
          </a:p>
        </p:txBody>
      </p:sp>
      <p:pic>
        <p:nvPicPr>
          <p:cNvPr id="11" name="Picture 10" descr="A person wearing boxing gloves and another person standing in front of a crowd&#10;&#10;AI-generated content may be incorrect.">
            <a:extLst>
              <a:ext uri="{FF2B5EF4-FFF2-40B4-BE49-F238E27FC236}">
                <a16:creationId xmlns:a16="http://schemas.microsoft.com/office/drawing/2014/main" id="{89D6484D-0C10-97C3-91E7-1AA7AF4ABE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461" y="3366067"/>
            <a:ext cx="1928813" cy="3429000"/>
          </a:xfrm>
          <a:prstGeom prst="rect">
            <a:avLst/>
          </a:prstGeom>
        </p:spPr>
      </p:pic>
      <p:pic>
        <p:nvPicPr>
          <p:cNvPr id="13" name="Picture 12" descr="A group of people standing in front of a building">
            <a:extLst>
              <a:ext uri="{FF2B5EF4-FFF2-40B4-BE49-F238E27FC236}">
                <a16:creationId xmlns:a16="http://schemas.microsoft.com/office/drawing/2014/main" id="{901E4AF0-730F-4C61-A234-6A60513351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51" y="3751984"/>
            <a:ext cx="5495903" cy="304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487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45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4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输入你的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2*i*3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页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5*i*3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6*i*3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7*i*3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8*i*3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3444_4"/>
  <p:tag name="KSO_WM_TEMPLATE_SUBCATEGORY" val="29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44"/>
  <p:tag name="KSO_WM_SLIDE_LAYOUT" val="a_l"/>
  <p:tag name="KSO_WM_SLIDE_LAYOUT_CNT" val="1_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44_4*a*1"/>
  <p:tag name="KSO_WM_TEMPLATE_CATEGORY" val="custom"/>
  <p:tag name="KSO_WM_TEMPLATE_INDEX" val="20233444"/>
  <p:tag name="KSO_WM_UNIT_LAYERLEVEL" val="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452.6999938964844,&quot;top&quot;:57.67499694824219,&quot;width&quot;:419.20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0894_4*l_h_i*1_1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452.6999938964844,&quot;top&quot;:57.67499694824219,&quot;width&quot;:419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0894_4*l_h_f*1_1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452.6999938964844,&quot;top&quot;:57.67499694824219,&quot;width&quot;:419.20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0894_4*l_h_i*1_2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452.6999938964844,&quot;top&quot;:57.67499694824219,&quot;width&quot;:419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0894_4*l_h_f*1_2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452.6999938964844,&quot;top&quot;:57.67499694824219,&quot;width&quot;:419.20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0894_4*l_h_i*1_3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452.6999938964844,&quot;top&quot;:57.67499694824219,&quot;width&quot;:419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0894_4*l_h_f*1_3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452.6999938964844,&quot;top&quot;:57.67499694824219,&quot;width&quot;:419.20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0894_4*l_h_i*1_4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452.6999938964844,&quot;top&quot;:57.67499694824219,&quot;width&quot;:419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0894_4*l_h_f*1_4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34">
      <a:dk1>
        <a:srgbClr val="000000"/>
      </a:dk1>
      <a:lt1>
        <a:srgbClr val="FFFFFF"/>
      </a:lt1>
      <a:dk2>
        <a:srgbClr val="581D00"/>
      </a:dk2>
      <a:lt2>
        <a:srgbClr val="FFE3D4"/>
      </a:lt2>
      <a:accent1>
        <a:srgbClr val="FF7429"/>
      </a:accent1>
      <a:accent2>
        <a:srgbClr val="F84949"/>
      </a:accent2>
      <a:accent3>
        <a:srgbClr val="FFB108"/>
      </a:accent3>
      <a:accent4>
        <a:srgbClr val="DE3500"/>
      </a:accent4>
      <a:accent5>
        <a:srgbClr val="FFCC66"/>
      </a:accent5>
      <a:accent6>
        <a:srgbClr val="92D050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438" row="7">
    <wetp:webextensionref xmlns:r="http://schemas.openxmlformats.org/officeDocument/2006/relationships" r:id="rId2"/>
  </wetp:taskpane>
  <wetp:taskpane dockstate="right" visibility="0" width="438" row="5">
    <wetp:webextensionref xmlns:r="http://schemas.openxmlformats.org/officeDocument/2006/relationships" r:id="rId3"/>
  </wetp:taskpane>
  <wetp:taskpane dockstate="right" visibility="0" width="438" row="8">
    <wetp:webextensionref xmlns:r="http://schemas.openxmlformats.org/officeDocument/2006/relationships" r:id="rId4"/>
  </wetp:taskpane>
</wetp:taskpanes>
</file>

<file path=ppt/webextensions/webextension1.xml><?xml version="1.0" encoding="utf-8"?>
<we:webextension xmlns:we="http://schemas.microsoft.com/office/webextensions/webextension/2010/11" id="{725B3554-330C-4BA0-9ADB-598C09B2258F}">
  <we:reference id="wa200003964" version="1.0.0.0" store="en-US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51AC4F4-9C4C-4D03-B7E3-8A756AF56B74}">
  <we:reference id="wa200003052" version="6.0.0.0" store="en-US" storeType="OMEX"/>
  <we:alternateReferences>
    <we:reference id="WA200003052" version="6.0.0.0" store="WA200003052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1F8C237C-8DF8-4922-BA74-13CCD23897F4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111D75F5-0530-4FEF-8641-9FAEAF88AED5}">
  <we:reference id="wa200001396" version="5.1.1.0" store="en-US" storeType="OMEX"/>
  <we:alternateReferences>
    <we:reference id="WA200001396" version="5.1.1.0" store="WA20000139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1048</TotalTime>
  <Words>1349</Words>
  <Application>Microsoft Office PowerPoint</Application>
  <PresentationFormat>Widescreen</PresentationFormat>
  <Paragraphs>186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40" baseType="lpstr">
      <vt:lpstr>Agency FB</vt:lpstr>
      <vt:lpstr>Aharoni</vt:lpstr>
      <vt:lpstr>Algerian</vt:lpstr>
      <vt:lpstr>Amasis MT Pro Medium</vt:lpstr>
      <vt:lpstr>Aptos</vt:lpstr>
      <vt:lpstr>Aptos Display</vt:lpstr>
      <vt:lpstr>Arial</vt:lpstr>
      <vt:lpstr>Bahnschrift</vt:lpstr>
      <vt:lpstr>Berlin Sans FB Demi</vt:lpstr>
      <vt:lpstr>Calibri</vt:lpstr>
      <vt:lpstr>Georgia</vt:lpstr>
      <vt:lpstr>Georgia Pro Light</vt:lpstr>
      <vt:lpstr>Lato</vt:lpstr>
      <vt:lpstr>Manrope ExtraBold</vt:lpstr>
      <vt:lpstr>Montserrat</vt:lpstr>
      <vt:lpstr>ui-sans-serif</vt:lpstr>
      <vt:lpstr>Wingdings</vt:lpstr>
      <vt:lpstr>Office Theme</vt:lpstr>
      <vt:lpstr>1_Office Theme</vt:lpstr>
      <vt:lpstr>PowerPoint Presentation</vt:lpstr>
      <vt:lpstr>Introduction to BEARITT</vt:lpstr>
      <vt:lpstr>problems</vt:lpstr>
      <vt:lpstr>PowerPoint Presentation</vt:lpstr>
      <vt:lpstr>PowerPoint Presentation</vt:lpstr>
      <vt:lpstr>PowerPoint Presentation</vt:lpstr>
      <vt:lpstr>PowerPoint Presentation</vt:lpstr>
      <vt:lpstr>What Sets BEARITT Apart?</vt:lpstr>
      <vt:lpstr>Current Achievements</vt:lpstr>
      <vt:lpstr>PowerPoint Presentation</vt:lpstr>
      <vt:lpstr>PowerPoint Presentation</vt:lpstr>
      <vt:lpstr>PowerPoint Presentation</vt:lpstr>
      <vt:lpstr>Financial Overview</vt:lpstr>
      <vt:lpstr>Summary</vt:lpstr>
      <vt:lpstr>PowerPoint Presentation</vt:lpstr>
      <vt:lpstr>PowerPoint Presentation</vt:lpstr>
      <vt:lpstr>PowerPoint Presentation</vt:lpstr>
      <vt:lpstr>PowerPoint Presentation</vt:lpstr>
      <vt:lpstr>Driving Efficiency for Growth</vt:lpstr>
      <vt:lpstr>PowerPoint Presentation</vt:lpstr>
      <vt:lpstr>                       BOOTCAMPS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hashil nk</dc:creator>
  <cp:lastModifiedBy>mohammed hashil nk</cp:lastModifiedBy>
  <cp:revision>21</cp:revision>
  <dcterms:created xsi:type="dcterms:W3CDTF">2025-01-14T06:42:00Z</dcterms:created>
  <dcterms:modified xsi:type="dcterms:W3CDTF">2025-03-15T05:24:26Z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23C0DC9E677545F0B078B428795EE3A4_12</vt:lpwstr>
  </property>
  <property fmtid="{D5CDD505-2E9C-101B-9397-08002B2CF9AE}" pid="3" name="KSOProductBuildVer">
    <vt:lpwstr>1033-12.2.0.20323</vt:lpwstr>
  </property>
</Properties>
</file>